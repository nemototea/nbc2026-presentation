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【0:00–0:20 ／ 発話】</a:t>
            </a:r>
          </a:p>
          <a:p>
            <a:r>
              <a:t>「日本茶インストラクター協会北海道支部より参りました、根本拓と申します。」</a:t>
            </a:r>
          </a:p>
          <a:p>
            <a:r>
              <a:t>ここは名乗りだけ。立場や思想は語らない。</a:t>
            </a:r>
          </a:p>
          <a:p>
            <a:r>
              <a:t>次ページへのきっかけ：「まず初めに、論語にこんな言葉があります。」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【0:20–0:50 ／ 発話】</a:t>
            </a:r>
          </a:p>
          <a:p>
            <a:r>
              <a:t>台本の起点。ここで置いた「知る → 好む → 楽しむ」は、15ページの循環図（知る→試す→味わう→調整）で回収する。</a:t>
            </a:r>
          </a:p>
          <a:p>
            <a:r>
              <a:t>読み下しは画面に出してあるので、読み上げなくてよい。原文だけ引いて、あとは自分の言葉で「知ることの先に、楽しむがある」と繋げる。</a:t>
            </a:r>
          </a:p>
          <a:p>
            <a:r>
              <a:t>次ページへのきっかけ：「ただ美味しくお茶を飲むだけでも、日本茶との十分な付き合い方だと思います。」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【0:50–1:20 ／ 発話】</a:t>
            </a:r>
          </a:p>
          <a:p>
            <a:r>
              <a:t>一杯の背景に少し興味を持つと、産地・品種・栽培・製茶技術、歴史や文化、そして科学がある。入口の広さと、その先の奥深さの両方が面白いという話。</a:t>
            </a:r>
          </a:p>
          <a:p>
            <a:r>
              <a:t>下段の一行が、前ページの「楽」の回収。</a:t>
            </a:r>
          </a:p>
          <a:p>
            <a:r>
              <a:t>「難しくすること」と「知識や技術を大切にすること」は違う、という含みは残す。</a:t>
            </a:r>
          </a:p>
          <a:p>
            <a:r>
              <a:t>次ページへのきっかけ：「そのきっかけとなったものの一つが、『合組』でした。」→「今日淹れるのは、しもきた茶苑大山さまの『茶師十段之茶 拓朗』です。」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【1:20–1:50 ／ 発話】</a:t>
            </a:r>
          </a:p>
          <a:p>
            <a:r>
              <a:t>2019年頃、まだ煎茶の違いもよくわかっていなかった。産地ではない東京の下北沢で「茶師」という言葉に出会い、何のことだろうと調べた——という順序で話す。</a:t>
            </a:r>
          </a:p>
          <a:p>
            <a:r>
              <a:t>合組は品質や価格の調整ではなく、個性を見極めて一つに仕上げる技術として紹介する。</a:t>
            </a:r>
          </a:p>
          <a:p>
            <a:r>
              <a:t>次ページへのきっかけ：「伺ったところ、静岡県川根本町のお茶をベースに、鹿児島県産のお茶を組み合わせているそうです。」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【1:50–2:20 ／ 発話】</a:t>
            </a:r>
          </a:p>
          <a:p>
            <a:r>
              <a:t>合組の内容はしもきた茶苑大山さまに伺った一次情報。「伺ったところ」と前置きして話す。</a:t>
            </a:r>
          </a:p>
          <a:p>
            <a:r>
              <a:t>「設計された飲み物だ」という驚きが、この発表のタイトル「一杯の設計図」の由来。ここは強めに置く。</a:t>
            </a:r>
          </a:p>
          <a:p>
            <a:r>
              <a:t>このページでは、産地ごとの香味の役割（山の香気／穏やかな甘み）は出さない。それは呈茶後の11ページで、私の官能表現と分けて示す。</a:t>
            </a:r>
          </a:p>
          <a:p>
            <a:r>
              <a:t>注意：産地を分離して抽出する、とは絶対に言わない。</a:t>
            </a:r>
          </a:p>
          <a:p>
            <a:r>
              <a:t>次ページへのきっかけ：「茶師が考え尽くした設計があるのであれば、」</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【2:20–2:45 ／ 発話】</a:t>
            </a:r>
          </a:p>
          <a:p>
            <a:r>
              <a:t>台本C節。この発表の狙いを宣言するページ。</a:t>
            </a:r>
          </a:p>
          <a:p>
            <a:r>
              <a:t>「筋を通すなら普通に淹れる。それでも、あえて」という言い方で、茶師の設計への敬意を先に置いてから踏み出す。</a:t>
            </a:r>
          </a:p>
          <a:p>
            <a:r>
              <a:t>言い方の境界：「二種類が含まれていると分かる一杯」。「産地を淹れ分ける」「分けて抽出する」とは言わない（22ページのQ&amp;A 04と同じ境界）。</a:t>
            </a:r>
          </a:p>
          <a:p>
            <a:r>
              <a:t>次ページへのきっかけ：「まず、淹れ手がコントロールできる変数は4つあります。」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【2:45–3:15 ／ 発話】</a:t>
            </a:r>
          </a:p>
          <a:p>
            <a:r>
              <a:t>ページを開くと4つの図が左から順に動きます（湯が200mLまで注がれる→茶葉が7g積もる→温度計が50℃・90℃へ→文字盤が60秒・10秒を描く。約3.5秒で完了）。キー操作は不要。</a:t>
            </a:r>
          </a:p>
          <a:p/>
          <a:p>
            <a:r>
              <a:t>話す順序（台本どおり）：①湯量は自ずと決まる。1椀40mL程度 × 5碗で200mL。②茶葉量は湯量に対して相対的に決まる。適切な濃さとして7g。③温度と時間は、2種類の異なる温度の湯を使い、どの温度の湯に何秒浸すかを調節する。</a:t>
            </a:r>
          </a:p>
          <a:p/>
          <a:p>
            <a:r>
              <a:t>「ない袖は振れない」。茶葉そのものに成分と個性があるからこそ、抽出条件で異なる側面を表出させられる。</a:t>
            </a:r>
          </a:p>
          <a:p>
            <a:r>
              <a:t>次ページへのきっかけ：「それでは一煎目を淹れます。」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【3:15–3:45 ／ 所作（茶葉7g・50℃30mLの注湯）】</a:t>
            </a:r>
          </a:p>
          <a:p>
            <a:r>
              <a:t>ここは重要な発話をしない。このページを出したまま手を動かす。</a:t>
            </a:r>
          </a:p>
          <a:p/>
          <a:p>
            <a:r>
              <a:t>所作（台本）：湯を茶碗に入れ、急須に入れたあと湯冷しに注ぐ → 茶葉を茶入から茶則に取り出し、茶入に蓋 → 葉を茶則から急須へ → 茶則は茶入に傾けて置く → 急須を少し振って茶葉を均す → 湯冷しを手に持ち、少し揺らして手で温度を確かめ、ゆっくり急須に注ぐ → ここでタイマースタート。</a:t>
            </a:r>
          </a:p>
          <a:p/>
          <a:p>
            <a:r>
              <a:t>注ぎ終えたら次ページへ進み、60秒のあいだに成分の説明をする。</a:t>
            </a:r>
          </a:p>
          <a:p>
            <a:r>
              <a:t>ページを開くと自動で動きます（PHASE 1が表示→山吹色が碗に注がれる→PHASE 2が表示→緑が上に重なる。約4.2秒で完了）。キー操作は不要。</a:t>
            </a:r>
          </a:p>
          <a:p>
            <a:r>
              <a:t>碗の二層は「一杯の中に二つの表情」（11ページ）の伏線。二層に分けて描いているのは、2つの湯を区別するための図式的な色分けであって、茶湯の色を実測したものではない。聞かれたら「実際には急須の中で混ざります」と答える。</a:t>
            </a:r>
          </a:p>
          <a:p>
            <a:r>
              <a:t>次ページへのきっかけ：「お茶の主要な味わいを構成する成分について、既存の研究では、」</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【3:45–4:45 ／ 60秒浸出中の発話（このページで前半を使う）】</a:t>
            </a:r>
          </a:p>
          <a:p>
            <a:r>
              <a:t>→ キーで 70℃ → 90℃ と段階的に伸びます（計2回）。台本では「グラフを見せながら」と明記されている箇所。</a:t>
            </a:r>
          </a:p>
          <a:p/>
          <a:p>
            <a:r>
              <a:t>台本の言い回しと3段の対応：①「テアニンのような旨味・甘み成分は低い温度でも溶出しやすい」＝入った時点（50℃）②「温度を上げていくに従って、テアニンの溶出量も増えますが」＝1回目（70℃）③「特に高温になるとカテキンやカフェインといった苦味、渋みの成分が短時間でも溶出しやすくなるため、味わいのバランスが変化してまいります」＝2回目（90℃）。</a:t>
            </a:r>
          </a:p>
          <a:p/>
          <a:p>
            <a:r>
              <a:t>そのうえで「今回は、合組されている2種類のお茶が持つ良さを際立たせるため、成分が溶出する性質の差を利用した淹れ方としました」と言って3回目（次ページ＝追い湯）へ。</a:t>
            </a:r>
          </a:p>
          <a:p/>
          <a:p>
            <a:r>
              <a:t>言ってはいけない：「50℃なら旨味だけが出る」「低温ならカフェインは出ない」。このグラフを「一煎目の一段目→二段目」として説明しない（別々に淹れた1煎目の比較）。</a:t>
            </a:r>
          </a:p>
          <a:p/>
          <a:p>
            <a:r>
              <a:t>────────</a:t>
            </a:r>
          </a:p>
          <a:p/>
          <a:p>
            <a:r>
              <a:t>想定質問①「テアニンの90℃は？」</a:t>
            </a:r>
          </a:p>
          <a:p/>
          <a:p>
            <a:r>
              <a:t>→ 坂本らの表3（遊離アミノ酸）には50・60・70℃しかなく、90℃条件が測定されていない。だから示していない。</a:t>
            </a:r>
          </a:p>
          <a:p/>
          <a:p>
            <a:r>
              <a:t>想定質問②「Phase 2は約84℃なのに、なぜ90℃のグラフ？」</a:t>
            </a:r>
          </a:p>
          <a:p/>
          <a:p>
            <a:r>
              <a:t>→ 注ぐ湯そのものは90℃。急須の中で30mL・50℃と混ざって約84℃になる。グラフは「90℃の湯がどれだけ引き出す力を持つか」を見るためのもの。</a:t>
            </a:r>
          </a:p>
          <a:p/>
          <a:p>
            <a:r>
              <a:t>想定質問③「EGCgも4.6倍に増えていますよね？」</a:t>
            </a:r>
          </a:p>
          <a:p/>
          <a:p>
            <a:r>
              <a:t>→ その通り。だから二段目は温度ではなく時間で抑えている。このグラフは全て60秒だが、実際の追い湯は10秒。</a:t>
            </a:r>
          </a:p>
          <a:p/>
          <a:p>
            <a:r>
              <a:t>想定質問④「カフェインは？」</a:t>
            </a:r>
          </a:p>
          <a:p/>
          <a:p>
            <a:r>
              <a:t>→ グラフに入れてある（表2）。50℃21.6%／70℃34.6%／90℃62.7%。論文本文も「カフェインは湯温の上昇にともない溶出量が増加し、90℃で急に増加した。90℃1煎目のカフェインの溶出量は50℃1煎目のおよそ3倍であった」「遊離型カテキン類と近似した溶出性を示し、エステル型カテキン類より、はるかに溶出しやすかった」（p.47）と述べている。</a:t>
            </a:r>
          </a:p>
          <a:p/>
          <a:p>
            <a:r>
              <a:t>（追い問い）「60℃は？」表2の60℃は38.4%で、70℃の34.6%より高い（逆転している）。論文は同じ段落の冒頭で「一部分析値にばらつきが認められた」と断っている。このスライドは50／70／90℃の3点で、その範囲では単調に増加するため60℃は載せていない。（追い問い）「低温なら少ないのでは？」50℃でも21.6%は出る。論文も「低温でもある程度溶出した」（p.50）と書いている。</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【1段目】</a:t>
            </a:r>
          </a:p>
          <a:p>
            <a:r>
              <a:t>→ を押すと 70℃ のバーが伸びます。</a:t>
            </a:r>
          </a:p>
          <a:p/>
          <a:p>
            <a:r>
              <a:t>テアニンも増える。だが苦味・渋みの成分の増え方が上回る。</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【2段目】</a:t>
            </a:r>
          </a:p>
          <a:p>
            <a:r>
              <a:t>→ を押すと 90℃ のバーが伸びます。</a:t>
            </a:r>
          </a:p>
          <a:p/>
          <a:p>
            <a:r>
              <a:t>高温では、苦味も渋みも短時間で出る。味わいのバランスが変わる。</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【4:45–5:45 ／ 追い湯・抽出・廻し注ぎ・呈茶】</a:t>
            </a:r>
          </a:p>
          <a:p>
            <a:r>
              <a:t>台本の「今回は、合組されている2種類のお茶が持つ良さを際立たせるため、成分が溶出する性質の差を利用した淹れ方としました」でこのページへ。そのまま90℃の湯を急須に注ぎ始める。以降は原則として重要な発話はしない。</a:t>
            </a:r>
          </a:p>
          <a:p/>
          <a:p>
            <a:r>
              <a:t>所作（台本）：90℃を注ぐ → すぐに廻し注ぎ → 注ぎ終わったら茶碗の糸底を拭いて茶托に並べる → 配膳してもらう。</a:t>
            </a:r>
          </a:p>
          <a:p>
            <a:r>
              <a:t>混合温度は熱損失を無視した単純計算で約84℃。実際には急須・茶葉への熱移動でさらに数℃下がる。</a:t>
            </a:r>
          </a:p>
          <a:p>
            <a:r>
              <a:t>言い方：ガレート型を「抑え込む」ではなく「出過ぎを避けることを狙う」。</a:t>
            </a:r>
          </a:p>
          <a:p/>
          <a:p>
            <a:r>
              <a:t>前ページで見たとおり、90℃・60秒ならカフェインは62.7%、EGCgは31.5%まで出る。抑えているのは温度ではなく時間。</a:t>
            </a:r>
          </a:p>
          <a:p>
            <a:r>
              <a:t>PHASE 1の「カテキン類はまだ出にくい」について：前ページでカフェインは50℃でも21.6%（EGCの17.5%より多い）と出ている。突かれたら「低温で出にくいのはカテキン類、とくにガレート型であって、カフェインは低温でもある程度出る」と正直に答える（論文 p.50 の記述どおり）。</a:t>
            </a:r>
          </a:p>
          <a:p>
            <a:r>
              <a:t>次ページへのきっかけ：呈茶が終わり、審査員が飲み始めてから「この『拓朗』は、静岡県川根本町の『山の香気』をもつお茶をベースに、」</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【5:45–6:30 ／ 味わう時間＋発話】</a:t>
            </a:r>
          </a:p>
          <a:p>
            <a:r>
              <a:t>審査員が味わう時間を確保する。すぐ二煎目へ行かない。</a:t>
            </a:r>
          </a:p>
          <a:p/>
          <a:p>
            <a:r>
              <a:t>スライドは図だけにしてあるので、言葉はここで補う。台本どおり「これらが同居した一杯であることを強調するために、まず低温で浸出させてから、高温の湯を当てることで渋味と香りを立ち上げています」まで話す。</a:t>
            </a:r>
          </a:p>
          <a:p/>
          <a:p>
            <a:r>
              <a:t>要点は、図の二つと下の一行を混ぜないこと。図の二つ（若草のような香り・キレのある渋み／瓜のような瑞々しい甘みと香り）は私の官能表現、下の一行（山の香気／穏やかな甘み）は茶師に伺った設計。左右で対応させて語らない。</a:t>
            </a:r>
          </a:p>
          <a:p/>
          <a:p>
            <a:r>
              <a:t>言い方：「私は瓜のような瑞々しい香りとして感じています」。特定の産地由来・特定の香気成分由来とは言わない。香気分析はしていない。</a:t>
            </a:r>
          </a:p>
          <a:p/>
          <a:p>
            <a:r>
              <a:t>8ページの碗の二層（山吹＋緑）が視覚的な伏線。ただし二段抽出がこの二つの表情を生む、と断定はしない。</a:t>
            </a:r>
          </a:p>
          <a:p>
            <a:r>
              <a:t>次ページへのきっかけ：「二煎目ですが、高温の90℃のお湯を直接当てて、」</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【6:30–7:15 ／ 所作（抽出・注ぎ分け・呈茶）＋発話】</a:t>
            </a:r>
          </a:p>
          <a:p>
            <a:r>
              <a:t>台本が変わり、このページは「話しながら淹れる」ページになった。他の所作ページ（8・10）と違い、無言ではない。</a:t>
            </a:r>
          </a:p>
          <a:p/>
          <a:p>
            <a:r>
              <a:t>台本：「二煎目ですが、高温の90℃のお湯を直接当てて、時間をかけずに10秒程度で淹れます。」→ ここで淹れてしまう →「すでに吸水済みのお茶の葉に高温の湯を当てる二煎目の場合は、一煎目よりも成分が溶出しやすいという研究結果があります。今回は爽快でさっぱりとした二煎目を味わっていただきたいと思います。」</a:t>
            </a:r>
          </a:p>
          <a:p/>
          <a:p>
            <a:r>
              <a:t>科学説明は繰り返さず簡潔に。根拠の数値は21ページ（Q&amp;A 03）にある。</a:t>
            </a:r>
          </a:p>
          <a:p>
            <a:r>
              <a:t>言ってはいけない：「90℃・10秒が科学的最適値」「出し切る」。</a:t>
            </a:r>
          </a:p>
          <a:p>
            <a:r>
              <a:t>次ページへのきっかけ：「今回は爽快でさっぱりとした二煎目を」</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【7:15–7:45 ／ 味わう時間】</a:t>
            </a:r>
          </a:p>
          <a:p>
            <a:r>
              <a:t>台本の「爽快でさっぱりとした二煎目を味わっていただきたい」を受けるページ。ここは黙って、味わう時間を取る。</a:t>
            </a:r>
          </a:p>
          <a:p>
            <a:r>
              <a:t>次ページへのきっかけ：「一煎目と二煎目。茶葉は同じです。」（台本シードに本文がない箇所。自分の言葉で繋ぐ）</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【7:45–8:05 ／ 発話】</a:t>
            </a:r>
          </a:p>
          <a:p>
            <a:r>
              <a:t>台本シードに本文がない橋渡しのページ。品質と嗜好は同じものではない、という一点だけ置く。</a:t>
            </a:r>
          </a:p>
          <a:p>
            <a:r>
              <a:t>次ページへのきっかけ：「これは、正解の淹れ方ではありません。」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【8:05–8:35 ／ 発話】</a:t>
            </a:r>
          </a:p>
          <a:p>
            <a:r>
              <a:t>台本C節の見出し「知識を『正解』ではなく、自分で考える材料にする」を回収するページ。2ページの論語（知→好→楽）への折り返しでもある。</a:t>
            </a:r>
          </a:p>
          <a:p>
            <a:r>
              <a:t>今回の淹れ方が正解なのではないこと、知見を土台に自分なりの一杯を考えることも日本茶の楽しみであること、この2つを言う。</a:t>
            </a:r>
          </a:p>
          <a:p>
            <a:r>
              <a:t>「もう少し温度を上げてみようかな」と思った時点で、その人はもう自分で一杯を考え始めている。</a:t>
            </a:r>
          </a:p>
          <a:p>
            <a:r>
              <a:t>次ページへのきっかけ：「最後になりますが、」</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【8:35–9:15 ／ 発話】</a:t>
            </a:r>
          </a:p>
          <a:p>
            <a:r>
              <a:t>台本F節。「茶業者でもなく、茶道家でもない」という自己開示は、更新後の台本から削除されているため、スライドからも外した。立場を明かして語るのではなく、「一人の飲み手」としての実感をそのまま置く構成。</a:t>
            </a:r>
          </a:p>
          <a:p/>
          <a:p>
            <a:r>
              <a:t>日本茶の未来には、道具・淹茶法・製品・伝えること・受け継ぐことなど、さまざまなアプローチがある。それを尊重したうえで、自分の立場から見える未来を語る。対立として語らない。</a:t>
            </a:r>
          </a:p>
          <a:p>
            <a:r>
              <a:t>次ページへのきっかけ：「10年、20年経てば、」</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【9:15–10:00 ／ 締め＋余白】</a:t>
            </a:r>
          </a:p>
          <a:p>
            <a:r>
              <a:t>最後の一言は台本どおり「私は、それも日本茶を未来へつないでいくことの一つだと思っています。」この一行は画面に出していないので、キーフレーズを残したまま自分の言葉で締める。</a:t>
            </a:r>
          </a:p>
          <a:p>
            <a:r>
              <a:t>所作の遅延・自然な間はここで吸収する。予定どおりなら無理に埋めず自然に終了。</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【本編ここまで。以降は質問が出たときだけ。】</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01 ／ なぜ50℃か】</a:t>
            </a:r>
          </a:p>
          <a:p/>
          <a:p>
            <a:r>
              <a:t>言いたいこと：温度を下げるほど、旨味と重い苦渋味（ガレート型カテキン）の「出方の差」は開く。ただし、そのぶん浸出に時間がかかる。50℃・60秒は、差が残ったまま持ち時間に収まる点として選んでいる。</a:t>
            </a:r>
          </a:p>
          <a:p/>
          <a:p>
            <a:r>
              <a:t>数値（坂本ら2002、表2・表3 p.49）：50℃＝アスパラギン酸53.5／グルタミン酸52.4／セリン50.0／グルタミン47.0／テアニン40.5%、EGCg 6.9／ECg 7.3%、カフェイン21.6%。70℃＝テアニン49.3／EGC 33.2／EGCg 17.1／カフェイン34.6%。</a:t>
            </a:r>
          </a:p>
          <a:p/>
          <a:p>
            <a:r>
              <a:t>想定質問「60℃は？」→ 表2の60℃カフェインは38.4%で、70℃の34.6%を上回っている（逆転している）。論文は同じ段落の冒頭で「一部分析値にばらつきが認められた」と断っている。9ページと同じ理由で、このページも50℃と70℃の2点で示している。傾向としては60℃も差が縮む側。</a:t>
            </a:r>
          </a:p>
          <a:p/>
          <a:p>
            <a:r>
              <a:t>想定質問「40℃は？」→ 論文に40℃条件はない。「40℃以下」は測定値ではなく、低温ほど差は開くが浸出は遅くなる、という傾向からの設計判断。</a:t>
            </a:r>
          </a:p>
          <a:p/>
          <a:p>
            <a:r>
              <a:t>言ってはいけない：「50℃なら旨味だけが出る」。50℃でもカフェインは21.6%出ている。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3E8"/>
        </a:solidFill>
        <a:effectLst/>
      </p:bgPr>
    </p:bg>
    <p:spTree>
      <p:nvGrpSpPr>
        <p:cNvPr id="1" name=""/>
        <p:cNvGrpSpPr/>
        <p:nvPr/>
      </p:nvGrpSpPr>
      <p:grpSpPr/>
      <p:sp>
        <p:nvSpPr>
          <p:cNvPr id="2" name="Rectangle 1"/>
          <p:cNvSpPr/>
          <p:nvPr/>
        </p:nvSpPr>
        <p:spPr>
          <a:xfrm>
            <a:off x="292100" y="292100"/>
            <a:ext cx="11607800" cy="6184900"/>
          </a:xfrm>
          <a:prstGeom prst="rect">
            <a:avLst/>
          </a:prstGeom>
          <a:noFill/>
          <a:ln w="19050">
            <a:solidFill>
              <a:srgbClr val="D9C79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55600" y="355600"/>
            <a:ext cx="11480800" cy="6057900"/>
          </a:xfrm>
          <a:prstGeom prst="rect">
            <a:avLst/>
          </a:prstGeom>
          <a:noFill/>
          <a:ln w="19050">
            <a:solidFill>
              <a:srgbClr val="D9C79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60400" y="1536700"/>
            <a:ext cx="10871200" cy="304800"/>
          </a:xfrm>
          <a:prstGeom prst="rect">
            <a:avLst/>
          </a:prstGeom>
          <a:noFill/>
        </p:spPr>
        <p:txBody>
          <a:bodyPr wrap="square" lIns="0" rIns="0" tIns="0" bIns="0" anchor="ctr">
            <a:noAutofit/>
          </a:bodyPr>
          <a:lstStyle/>
          <a:p>
            <a:pPr algn="ctr">
              <a:lnSpc>
                <a:spcPct val="100000"/>
              </a:lnSpc>
            </a:pPr>
            <a:r>
              <a:rPr sz="1900" b="1" spc="836">
                <a:solidFill>
                  <a:srgbClr val="9A7430"/>
                </a:solidFill>
                <a:latin typeface="Yu Gothic"/>
                <a:ea typeface="Yu Gothic"/>
                <a:cs typeface="Yu Gothic"/>
              </a:rPr>
              <a:t>NIHONCHA BREWERS CHAMPIONSHIP 2026</a:t>
            </a:r>
          </a:p>
        </p:txBody>
      </p:sp>
      <p:sp>
        <p:nvSpPr>
          <p:cNvPr id="5" name="TextBox 4"/>
          <p:cNvSpPr txBox="1"/>
          <p:nvPr/>
        </p:nvSpPr>
        <p:spPr>
          <a:xfrm>
            <a:off x="660400" y="2057400"/>
            <a:ext cx="10871200" cy="1308100"/>
          </a:xfrm>
          <a:prstGeom prst="rect">
            <a:avLst/>
          </a:prstGeom>
          <a:noFill/>
        </p:spPr>
        <p:txBody>
          <a:bodyPr wrap="square" lIns="0" rIns="0" tIns="0" bIns="0" anchor="ctr">
            <a:noAutofit/>
          </a:bodyPr>
          <a:lstStyle/>
          <a:p>
            <a:pPr algn="ctr">
              <a:lnSpc>
                <a:spcPct val="112000"/>
              </a:lnSpc>
            </a:pPr>
            <a:r>
              <a:rPr sz="9200" b="1" spc="368">
                <a:solidFill>
                  <a:srgbClr val="17372A"/>
                </a:solidFill>
                <a:latin typeface="Yu Mincho"/>
                <a:ea typeface="Yu Mincho"/>
                <a:cs typeface="Yu Mincho"/>
              </a:rPr>
              <a:t>一杯の設計図</a:t>
            </a:r>
          </a:p>
        </p:txBody>
      </p:sp>
      <p:sp>
        <p:nvSpPr>
          <p:cNvPr id="6" name="TextBox 5"/>
          <p:cNvSpPr txBox="1"/>
          <p:nvPr/>
        </p:nvSpPr>
        <p:spPr>
          <a:xfrm>
            <a:off x="660400" y="3530600"/>
            <a:ext cx="10871200" cy="393700"/>
          </a:xfrm>
          <a:prstGeom prst="rect">
            <a:avLst/>
          </a:prstGeom>
          <a:noFill/>
        </p:spPr>
        <p:txBody>
          <a:bodyPr wrap="square" lIns="0" rIns="0" tIns="0" bIns="0" anchor="ctr">
            <a:noAutofit/>
          </a:bodyPr>
          <a:lstStyle/>
          <a:p>
            <a:pPr algn="ctr">
              <a:lnSpc>
                <a:spcPct val="100000"/>
              </a:lnSpc>
            </a:pPr>
            <a:r>
              <a:rPr sz="2600" b="1" spc="1456">
                <a:solidFill>
                  <a:srgbClr val="9A7430"/>
                </a:solidFill>
                <a:latin typeface="Yu Gothic"/>
                <a:ea typeface="Yu Gothic"/>
                <a:cs typeface="Yu Gothic"/>
              </a:rPr>
              <a:t>THE BLUEPRINT OF A CUP</a:t>
            </a:r>
          </a:p>
        </p:txBody>
      </p:sp>
      <p:sp>
        <p:nvSpPr>
          <p:cNvPr id="7" name="Rectangle 6"/>
          <p:cNvSpPr/>
          <p:nvPr/>
        </p:nvSpPr>
        <p:spPr>
          <a:xfrm>
            <a:off x="5207000" y="4279900"/>
            <a:ext cx="1778000" cy="31750"/>
          </a:xfrm>
          <a:prstGeom prst="rect">
            <a:avLst/>
          </a:prstGeom>
          <a:solidFill>
            <a:srgbClr val="173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60400" y="4667250"/>
            <a:ext cx="10871200" cy="508000"/>
          </a:xfrm>
          <a:prstGeom prst="rect">
            <a:avLst/>
          </a:prstGeom>
          <a:noFill/>
        </p:spPr>
        <p:txBody>
          <a:bodyPr wrap="square" lIns="0" rIns="0" tIns="0" bIns="0" anchor="ctr">
            <a:noAutofit/>
          </a:bodyPr>
          <a:lstStyle/>
          <a:p>
            <a:pPr algn="ctr">
              <a:lnSpc>
                <a:spcPct val="125000"/>
              </a:lnSpc>
            </a:pPr>
            <a:r>
              <a:rPr sz="3200" b="1">
                <a:solidFill>
                  <a:srgbClr val="17372A"/>
                </a:solidFill>
                <a:latin typeface="Yu Gothic"/>
                <a:ea typeface="Yu Gothic"/>
                <a:cs typeface="Yu Gothic"/>
              </a:rPr>
              <a:t>しもきた茶苑大山　茶師十段之茶「拓朗（午）」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3E8"/>
        </a:solidFill>
        <a:effectLst/>
      </p:bgPr>
    </p:bg>
    <p:spTree>
      <p:nvGrpSpPr>
        <p:cNvPr id="1" name=""/>
        <p:cNvGrpSpPr/>
        <p:nvPr/>
      </p:nvGrpSpPr>
      <p:grpSpPr/>
      <p:sp>
        <p:nvSpPr>
          <p:cNvPr id="2" name="Rectangle 1"/>
          <p:cNvSpPr/>
          <p:nvPr/>
        </p:nvSpPr>
        <p:spPr>
          <a:xfrm>
            <a:off x="292100" y="292100"/>
            <a:ext cx="11607800" cy="6184900"/>
          </a:xfrm>
          <a:prstGeom prst="rect">
            <a:avLst/>
          </a:prstGeom>
          <a:noFill/>
          <a:ln w="12700">
            <a:solidFill>
              <a:srgbClr val="CBB5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60400" y="1276350"/>
            <a:ext cx="10871200" cy="304800"/>
          </a:xfrm>
          <a:prstGeom prst="rect">
            <a:avLst/>
          </a:prstGeom>
          <a:noFill/>
        </p:spPr>
        <p:txBody>
          <a:bodyPr wrap="square" lIns="0" rIns="0" tIns="0" bIns="0" anchor="ctr">
            <a:noAutofit/>
          </a:bodyPr>
          <a:lstStyle/>
          <a:p>
            <a:pPr algn="ctr">
              <a:lnSpc>
                <a:spcPct val="100000"/>
              </a:lnSpc>
            </a:pPr>
            <a:r>
              <a:rPr sz="1900" b="1" spc="836">
                <a:solidFill>
                  <a:srgbClr val="9A7430"/>
                </a:solidFill>
                <a:latin typeface="Yu Gothic"/>
                <a:ea typeface="Yu Gothic"/>
                <a:cs typeface="Yu Gothic"/>
              </a:rPr>
              <a:t>論語 ／ 雍也篇</a:t>
            </a:r>
          </a:p>
        </p:txBody>
      </p:sp>
      <p:sp>
        <p:nvSpPr>
          <p:cNvPr id="4" name="TextBox 3"/>
          <p:cNvSpPr txBox="1"/>
          <p:nvPr/>
        </p:nvSpPr>
        <p:spPr>
          <a:xfrm>
            <a:off x="660400" y="1720850"/>
            <a:ext cx="10871200" cy="514350"/>
          </a:xfrm>
          <a:prstGeom prst="rect">
            <a:avLst/>
          </a:prstGeom>
          <a:noFill/>
        </p:spPr>
        <p:txBody>
          <a:bodyPr wrap="square" lIns="0" rIns="0" tIns="0" bIns="0" anchor="ctr">
            <a:noAutofit/>
          </a:bodyPr>
          <a:lstStyle/>
          <a:p>
            <a:pPr algn="ctr">
              <a:lnSpc>
                <a:spcPct val="100000"/>
              </a:lnSpc>
            </a:pPr>
            <a:r>
              <a:rPr sz="2700" b="1" spc="864">
                <a:solidFill>
                  <a:srgbClr val="4A6154"/>
                </a:solidFill>
                <a:latin typeface="Yu Mincho"/>
                <a:ea typeface="Yu Mincho"/>
                <a:cs typeface="Yu Mincho"/>
              </a:rPr>
              <a:t>子曰、知之者不如好之者、好之者不如楽之者</a:t>
            </a:r>
          </a:p>
        </p:txBody>
      </p:sp>
      <p:sp>
        <p:nvSpPr>
          <p:cNvPr id="5" name="TextBox 4"/>
          <p:cNvSpPr txBox="1"/>
          <p:nvPr/>
        </p:nvSpPr>
        <p:spPr>
          <a:xfrm>
            <a:off x="2997200" y="2527300"/>
            <a:ext cx="1270000" cy="1270000"/>
          </a:xfrm>
          <a:prstGeom prst="rect">
            <a:avLst/>
          </a:prstGeom>
          <a:noFill/>
        </p:spPr>
        <p:txBody>
          <a:bodyPr wrap="square" lIns="0" rIns="0" tIns="0" bIns="0" anchor="ctr">
            <a:noAutofit/>
          </a:bodyPr>
          <a:lstStyle/>
          <a:p>
            <a:pPr algn="ctr">
              <a:lnSpc>
                <a:spcPct val="100000"/>
              </a:lnSpc>
            </a:pPr>
            <a:r>
              <a:rPr sz="10000" b="1">
                <a:solidFill>
                  <a:srgbClr val="17372A"/>
                </a:solidFill>
                <a:latin typeface="Yu Mincho"/>
                <a:ea typeface="Yu Mincho"/>
                <a:cs typeface="Yu Mincho"/>
              </a:rPr>
              <a:t>知</a:t>
            </a:r>
          </a:p>
        </p:txBody>
      </p:sp>
      <p:sp>
        <p:nvSpPr>
          <p:cNvPr id="6" name="TextBox 5"/>
          <p:cNvSpPr txBox="1"/>
          <p:nvPr/>
        </p:nvSpPr>
        <p:spPr>
          <a:xfrm>
            <a:off x="2997200" y="3898900"/>
            <a:ext cx="1270000" cy="400050"/>
          </a:xfrm>
          <a:prstGeom prst="rect">
            <a:avLst/>
          </a:prstGeom>
          <a:noFill/>
        </p:spPr>
        <p:txBody>
          <a:bodyPr wrap="square" lIns="0" rIns="0" tIns="0" bIns="0" anchor="ctr">
            <a:noAutofit/>
          </a:bodyPr>
          <a:lstStyle/>
          <a:p>
            <a:pPr algn="ctr">
              <a:lnSpc>
                <a:spcPct val="100000"/>
              </a:lnSpc>
            </a:pPr>
            <a:r>
              <a:rPr sz="2100" b="1" spc="420">
                <a:solidFill>
                  <a:srgbClr val="4A6154"/>
                </a:solidFill>
                <a:latin typeface="Yu Gothic"/>
                <a:ea typeface="Yu Gothic"/>
                <a:cs typeface="Yu Gothic"/>
              </a:rPr>
              <a:t>知る</a:t>
            </a:r>
          </a:p>
        </p:txBody>
      </p:sp>
      <p:sp>
        <p:nvSpPr>
          <p:cNvPr id="7" name="TextBox 6"/>
          <p:cNvSpPr txBox="1"/>
          <p:nvPr/>
        </p:nvSpPr>
        <p:spPr>
          <a:xfrm>
            <a:off x="4267200" y="2743200"/>
            <a:ext cx="1193800" cy="762000"/>
          </a:xfrm>
          <a:prstGeom prst="rect">
            <a:avLst/>
          </a:prstGeom>
          <a:noFill/>
        </p:spPr>
        <p:txBody>
          <a:bodyPr wrap="square" lIns="0" rIns="0" tIns="0" bIns="0" anchor="ctr">
            <a:noAutofit/>
          </a:bodyPr>
          <a:lstStyle/>
          <a:p>
            <a:pPr algn="ctr">
              <a:lnSpc>
                <a:spcPct val="100000"/>
              </a:lnSpc>
            </a:pPr>
            <a:r>
              <a:rPr sz="4800" b="0">
                <a:solidFill>
                  <a:srgbClr val="9A7430"/>
                </a:solidFill>
                <a:latin typeface="Yu Gothic"/>
                <a:ea typeface="Yu Gothic"/>
                <a:cs typeface="Yu Gothic"/>
              </a:rPr>
              <a:t>＜</a:t>
            </a:r>
          </a:p>
        </p:txBody>
      </p:sp>
      <p:sp>
        <p:nvSpPr>
          <p:cNvPr id="8" name="TextBox 7"/>
          <p:cNvSpPr txBox="1"/>
          <p:nvPr/>
        </p:nvSpPr>
        <p:spPr>
          <a:xfrm>
            <a:off x="5461000" y="2527300"/>
            <a:ext cx="1270000" cy="1270000"/>
          </a:xfrm>
          <a:prstGeom prst="rect">
            <a:avLst/>
          </a:prstGeom>
          <a:noFill/>
        </p:spPr>
        <p:txBody>
          <a:bodyPr wrap="square" lIns="0" rIns="0" tIns="0" bIns="0" anchor="ctr">
            <a:noAutofit/>
          </a:bodyPr>
          <a:lstStyle/>
          <a:p>
            <a:pPr algn="ctr">
              <a:lnSpc>
                <a:spcPct val="100000"/>
              </a:lnSpc>
            </a:pPr>
            <a:r>
              <a:rPr sz="10000" b="1">
                <a:solidFill>
                  <a:srgbClr val="17372A"/>
                </a:solidFill>
                <a:latin typeface="Yu Mincho"/>
                <a:ea typeface="Yu Mincho"/>
                <a:cs typeface="Yu Mincho"/>
              </a:rPr>
              <a:t>好</a:t>
            </a:r>
          </a:p>
        </p:txBody>
      </p:sp>
      <p:sp>
        <p:nvSpPr>
          <p:cNvPr id="9" name="TextBox 8"/>
          <p:cNvSpPr txBox="1"/>
          <p:nvPr/>
        </p:nvSpPr>
        <p:spPr>
          <a:xfrm>
            <a:off x="5461000" y="3898900"/>
            <a:ext cx="1270000" cy="400050"/>
          </a:xfrm>
          <a:prstGeom prst="rect">
            <a:avLst/>
          </a:prstGeom>
          <a:noFill/>
        </p:spPr>
        <p:txBody>
          <a:bodyPr wrap="square" lIns="0" rIns="0" tIns="0" bIns="0" anchor="ctr">
            <a:noAutofit/>
          </a:bodyPr>
          <a:lstStyle/>
          <a:p>
            <a:pPr algn="ctr">
              <a:lnSpc>
                <a:spcPct val="100000"/>
              </a:lnSpc>
            </a:pPr>
            <a:r>
              <a:rPr sz="2100" b="1" spc="420">
                <a:solidFill>
                  <a:srgbClr val="4A6154"/>
                </a:solidFill>
                <a:latin typeface="Yu Gothic"/>
                <a:ea typeface="Yu Gothic"/>
                <a:cs typeface="Yu Gothic"/>
              </a:rPr>
              <a:t>好む</a:t>
            </a:r>
          </a:p>
        </p:txBody>
      </p:sp>
      <p:sp>
        <p:nvSpPr>
          <p:cNvPr id="10" name="TextBox 9"/>
          <p:cNvSpPr txBox="1"/>
          <p:nvPr/>
        </p:nvSpPr>
        <p:spPr>
          <a:xfrm>
            <a:off x="6731000" y="2743200"/>
            <a:ext cx="1193800" cy="762000"/>
          </a:xfrm>
          <a:prstGeom prst="rect">
            <a:avLst/>
          </a:prstGeom>
          <a:noFill/>
        </p:spPr>
        <p:txBody>
          <a:bodyPr wrap="square" lIns="0" rIns="0" tIns="0" bIns="0" anchor="ctr">
            <a:noAutofit/>
          </a:bodyPr>
          <a:lstStyle/>
          <a:p>
            <a:pPr algn="ctr">
              <a:lnSpc>
                <a:spcPct val="100000"/>
              </a:lnSpc>
            </a:pPr>
            <a:r>
              <a:rPr sz="4800" b="0">
                <a:solidFill>
                  <a:srgbClr val="9A7430"/>
                </a:solidFill>
                <a:latin typeface="Yu Gothic"/>
                <a:ea typeface="Yu Gothic"/>
                <a:cs typeface="Yu Gothic"/>
              </a:rPr>
              <a:t>＜</a:t>
            </a:r>
          </a:p>
        </p:txBody>
      </p:sp>
      <p:sp>
        <p:nvSpPr>
          <p:cNvPr id="11" name="TextBox 10"/>
          <p:cNvSpPr txBox="1"/>
          <p:nvPr/>
        </p:nvSpPr>
        <p:spPr>
          <a:xfrm>
            <a:off x="7924800" y="2527300"/>
            <a:ext cx="1270000" cy="1270000"/>
          </a:xfrm>
          <a:prstGeom prst="rect">
            <a:avLst/>
          </a:prstGeom>
          <a:noFill/>
        </p:spPr>
        <p:txBody>
          <a:bodyPr wrap="square" lIns="0" rIns="0" tIns="0" bIns="0" anchor="ctr">
            <a:noAutofit/>
          </a:bodyPr>
          <a:lstStyle/>
          <a:p>
            <a:pPr algn="ctr">
              <a:lnSpc>
                <a:spcPct val="100000"/>
              </a:lnSpc>
            </a:pPr>
            <a:r>
              <a:rPr sz="10000" b="1">
                <a:solidFill>
                  <a:srgbClr val="9A7430"/>
                </a:solidFill>
                <a:latin typeface="Yu Mincho"/>
                <a:ea typeface="Yu Mincho"/>
                <a:cs typeface="Yu Mincho"/>
              </a:rPr>
              <a:t>楽</a:t>
            </a:r>
          </a:p>
        </p:txBody>
      </p:sp>
      <p:sp>
        <p:nvSpPr>
          <p:cNvPr id="12" name="TextBox 11"/>
          <p:cNvSpPr txBox="1"/>
          <p:nvPr/>
        </p:nvSpPr>
        <p:spPr>
          <a:xfrm>
            <a:off x="7924800" y="3898900"/>
            <a:ext cx="1270000" cy="400050"/>
          </a:xfrm>
          <a:prstGeom prst="rect">
            <a:avLst/>
          </a:prstGeom>
          <a:noFill/>
        </p:spPr>
        <p:txBody>
          <a:bodyPr wrap="square" lIns="0" rIns="0" tIns="0" bIns="0" anchor="ctr">
            <a:noAutofit/>
          </a:bodyPr>
          <a:lstStyle/>
          <a:p>
            <a:pPr algn="ctr">
              <a:lnSpc>
                <a:spcPct val="100000"/>
              </a:lnSpc>
            </a:pPr>
            <a:r>
              <a:rPr sz="2100" b="1" spc="420">
                <a:solidFill>
                  <a:srgbClr val="4A6154"/>
                </a:solidFill>
                <a:latin typeface="Yu Gothic"/>
                <a:ea typeface="Yu Gothic"/>
                <a:cs typeface="Yu Gothic"/>
              </a:rPr>
              <a:t>楽しむ</a:t>
            </a:r>
          </a:p>
        </p:txBody>
      </p:sp>
      <p:sp>
        <p:nvSpPr>
          <p:cNvPr id="13" name="TextBox 12"/>
          <p:cNvSpPr txBox="1"/>
          <p:nvPr/>
        </p:nvSpPr>
        <p:spPr>
          <a:xfrm>
            <a:off x="660400" y="4552950"/>
            <a:ext cx="10871200" cy="882650"/>
          </a:xfrm>
          <a:prstGeom prst="rect">
            <a:avLst/>
          </a:prstGeom>
          <a:noFill/>
        </p:spPr>
        <p:txBody>
          <a:bodyPr wrap="square" lIns="0" rIns="0" tIns="0" bIns="0" anchor="ctr">
            <a:noAutofit/>
          </a:bodyPr>
          <a:lstStyle/>
          <a:p>
            <a:pPr algn="ctr">
              <a:lnSpc>
                <a:spcPct val="165000"/>
              </a:lnSpc>
            </a:pPr>
            <a:r>
              <a:rPr sz="2100" b="1">
                <a:solidFill>
                  <a:srgbClr val="4A6154"/>
                </a:solidFill>
                <a:latin typeface="Yu Gothic"/>
                <a:ea typeface="Yu Gothic"/>
                <a:cs typeface="Yu Gothic"/>
              </a:rPr>
              <a:t>これを知る者は、これを好む者に如かず。</a:t>
            </a:r>
          </a:p>
          <a:p>
            <a:pPr algn="ctr">
              <a:lnSpc>
                <a:spcPct val="165000"/>
              </a:lnSpc>
            </a:pPr>
            <a:r>
              <a:rPr sz="2100" b="1">
                <a:solidFill>
                  <a:srgbClr val="4A6154"/>
                </a:solidFill>
                <a:latin typeface="Yu Gothic"/>
                <a:ea typeface="Yu Gothic"/>
                <a:cs typeface="Yu Gothic"/>
              </a:rPr>
              <a:t>これを好む者は、これを楽しむ者に如かず。</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3E8"/>
        </a:solidFill>
        <a:effectLst/>
      </p:bgPr>
    </p:bg>
    <p:spTree>
      <p:nvGrpSpPr>
        <p:cNvPr id="1" name=""/>
        <p:cNvGrpSpPr/>
        <p:nvPr/>
      </p:nvGrpSpPr>
      <p:grpSpPr/>
      <p:sp>
        <p:nvSpPr>
          <p:cNvPr id="2" name="Rectangle 1"/>
          <p:cNvSpPr/>
          <p:nvPr/>
        </p:nvSpPr>
        <p:spPr>
          <a:xfrm>
            <a:off x="292100" y="292100"/>
            <a:ext cx="11607800" cy="6184900"/>
          </a:xfrm>
          <a:prstGeom prst="rect">
            <a:avLst/>
          </a:prstGeom>
          <a:noFill/>
          <a:ln w="12700">
            <a:solidFill>
              <a:srgbClr val="CBB5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60400" y="755650"/>
            <a:ext cx="10871200" cy="730250"/>
          </a:xfrm>
          <a:prstGeom prst="rect">
            <a:avLst/>
          </a:prstGeom>
          <a:noFill/>
        </p:spPr>
        <p:txBody>
          <a:bodyPr wrap="square" lIns="0" rIns="0" tIns="0" bIns="0" anchor="ctr">
            <a:noAutofit/>
          </a:bodyPr>
          <a:lstStyle/>
          <a:p>
            <a:pPr algn="ctr">
              <a:lnSpc>
                <a:spcPct val="120000"/>
              </a:lnSpc>
            </a:pPr>
            <a:r>
              <a:rPr sz="4800" b="1">
                <a:solidFill>
                  <a:srgbClr val="17372A"/>
                </a:solidFill>
                <a:latin typeface="Yu Gothic"/>
                <a:ea typeface="Yu Gothic"/>
                <a:cs typeface="Yu Gothic"/>
              </a:rPr>
              <a:t>日本茶は、</a:t>
            </a:r>
            <a:r>
              <a:rPr sz="4800" b="1">
                <a:solidFill>
                  <a:srgbClr val="17372A"/>
                </a:solidFill>
                <a:highlight>
                  <a:srgbClr val="D9C79B"/>
                </a:highlight>
                <a:latin typeface="Yu Gothic"/>
                <a:ea typeface="Yu Gothic"/>
                <a:cs typeface="Yu Gothic"/>
              </a:rPr>
              <a:t>入口が広い。</a:t>
            </a:r>
          </a:p>
        </p:txBody>
      </p:sp>
      <p:sp>
        <p:nvSpPr>
          <p:cNvPr id="4" name="TextBox 3"/>
          <p:cNvSpPr txBox="1"/>
          <p:nvPr/>
        </p:nvSpPr>
        <p:spPr>
          <a:xfrm>
            <a:off x="660400" y="1625600"/>
            <a:ext cx="10871200" cy="495300"/>
          </a:xfrm>
          <a:prstGeom prst="rect">
            <a:avLst/>
          </a:prstGeom>
          <a:noFill/>
        </p:spPr>
        <p:txBody>
          <a:bodyPr wrap="square" lIns="0" rIns="0" tIns="0" bIns="0" anchor="ctr">
            <a:noAutofit/>
          </a:bodyPr>
          <a:lstStyle/>
          <a:p>
            <a:pPr algn="ctr">
              <a:lnSpc>
                <a:spcPct val="150000"/>
              </a:lnSpc>
            </a:pPr>
            <a:r>
              <a:rPr sz="2600" b="1">
                <a:solidFill>
                  <a:srgbClr val="4A6154"/>
                </a:solidFill>
                <a:latin typeface="Yu Gothic"/>
                <a:ea typeface="Yu Gothic"/>
                <a:cs typeface="Yu Gothic"/>
              </a:rPr>
              <a:t>ただ美味しく飲むだけでも、十分な付き合い方。</a:t>
            </a:r>
          </a:p>
        </p:txBody>
      </p:sp>
      <p:sp>
        <p:nvSpPr>
          <p:cNvPr id="5" name="TextBox 4"/>
          <p:cNvSpPr txBox="1"/>
          <p:nvPr/>
        </p:nvSpPr>
        <p:spPr>
          <a:xfrm>
            <a:off x="660400" y="2311400"/>
            <a:ext cx="10871200" cy="533400"/>
          </a:xfrm>
          <a:prstGeom prst="rect">
            <a:avLst/>
          </a:prstGeom>
          <a:noFill/>
        </p:spPr>
        <p:txBody>
          <a:bodyPr wrap="square" lIns="0" rIns="0" tIns="0" bIns="0" anchor="ctr">
            <a:noAutofit/>
          </a:bodyPr>
          <a:lstStyle/>
          <a:p>
            <a:pPr algn="ctr">
              <a:lnSpc>
                <a:spcPct val="120000"/>
              </a:lnSpc>
            </a:pPr>
            <a:r>
              <a:rPr sz="3500" b="0">
                <a:solidFill>
                  <a:srgbClr val="9A7430"/>
                </a:solidFill>
                <a:latin typeface="Yu Gothic"/>
                <a:ea typeface="Yu Gothic"/>
                <a:cs typeface="Yu Gothic"/>
              </a:rPr>
              <a:t>▼</a:t>
            </a:r>
          </a:p>
        </p:txBody>
      </p:sp>
      <p:sp>
        <p:nvSpPr>
          <p:cNvPr id="6" name="TextBox 5"/>
          <p:cNvSpPr txBox="1"/>
          <p:nvPr/>
        </p:nvSpPr>
        <p:spPr>
          <a:xfrm>
            <a:off x="660400" y="3009900"/>
            <a:ext cx="10871200" cy="730250"/>
          </a:xfrm>
          <a:prstGeom prst="rect">
            <a:avLst/>
          </a:prstGeom>
          <a:noFill/>
        </p:spPr>
        <p:txBody>
          <a:bodyPr wrap="square" lIns="0" rIns="0" tIns="0" bIns="0" anchor="ctr">
            <a:noAutofit/>
          </a:bodyPr>
          <a:lstStyle/>
          <a:p>
            <a:pPr algn="ctr">
              <a:lnSpc>
                <a:spcPct val="120000"/>
              </a:lnSpc>
            </a:pPr>
            <a:r>
              <a:rPr sz="4800" b="1">
                <a:solidFill>
                  <a:srgbClr val="17372A"/>
                </a:solidFill>
                <a:latin typeface="Yu Gothic"/>
                <a:ea typeface="Yu Gothic"/>
                <a:cs typeface="Yu Gothic"/>
              </a:rPr>
              <a:t>その先は、</a:t>
            </a:r>
            <a:r>
              <a:rPr sz="4800" b="1">
                <a:solidFill>
                  <a:srgbClr val="17372A"/>
                </a:solidFill>
                <a:highlight>
                  <a:srgbClr val="D9C79B"/>
                </a:highlight>
                <a:latin typeface="Yu Gothic"/>
                <a:ea typeface="Yu Gothic"/>
                <a:cs typeface="Yu Gothic"/>
              </a:rPr>
              <a:t>限りない。</a:t>
            </a:r>
          </a:p>
        </p:txBody>
      </p:sp>
      <p:sp>
        <p:nvSpPr>
          <p:cNvPr id="7" name="Rounded Rectangle 6"/>
          <p:cNvSpPr/>
          <p:nvPr/>
        </p:nvSpPr>
        <p:spPr>
          <a:xfrm>
            <a:off x="1854200" y="3956050"/>
            <a:ext cx="1092200" cy="723900"/>
          </a:xfrm>
          <a:prstGeom prst="roundRect">
            <a:avLst>
              <a:gd name="adj" fmla="val 50000"/>
            </a:avLst>
          </a:prstGeom>
          <a:solidFill>
            <a:srgbClr val="FFFFFF"/>
          </a:solidFill>
          <a:ln w="25400">
            <a:solidFill>
              <a:srgbClr val="1737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854200" y="3956050"/>
            <a:ext cx="1092200" cy="723900"/>
          </a:xfrm>
          <a:prstGeom prst="rect">
            <a:avLst/>
          </a:prstGeom>
          <a:noFill/>
        </p:spPr>
        <p:txBody>
          <a:bodyPr wrap="square" lIns="0" rIns="0" tIns="0" bIns="0" anchor="ctr">
            <a:noAutofit/>
          </a:bodyPr>
          <a:lstStyle/>
          <a:p>
            <a:pPr algn="ctr">
              <a:lnSpc>
                <a:spcPct val="100000"/>
              </a:lnSpc>
            </a:pPr>
            <a:r>
              <a:rPr sz="2600" b="1">
                <a:solidFill>
                  <a:srgbClr val="17372A"/>
                </a:solidFill>
                <a:latin typeface="Yu Gothic"/>
                <a:ea typeface="Yu Gothic"/>
                <a:cs typeface="Yu Gothic"/>
              </a:rPr>
              <a:t>産地</a:t>
            </a:r>
          </a:p>
        </p:txBody>
      </p:sp>
      <p:sp>
        <p:nvSpPr>
          <p:cNvPr id="9" name="Rounded Rectangle 8"/>
          <p:cNvSpPr/>
          <p:nvPr/>
        </p:nvSpPr>
        <p:spPr>
          <a:xfrm>
            <a:off x="3086100" y="3956050"/>
            <a:ext cx="1092200" cy="723900"/>
          </a:xfrm>
          <a:prstGeom prst="roundRect">
            <a:avLst>
              <a:gd name="adj" fmla="val 50000"/>
            </a:avLst>
          </a:prstGeom>
          <a:solidFill>
            <a:srgbClr val="FFFFFF"/>
          </a:solidFill>
          <a:ln w="25400">
            <a:solidFill>
              <a:srgbClr val="1737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086100" y="3956050"/>
            <a:ext cx="1092200" cy="723900"/>
          </a:xfrm>
          <a:prstGeom prst="rect">
            <a:avLst/>
          </a:prstGeom>
          <a:noFill/>
        </p:spPr>
        <p:txBody>
          <a:bodyPr wrap="square" lIns="0" rIns="0" tIns="0" bIns="0" anchor="ctr">
            <a:noAutofit/>
          </a:bodyPr>
          <a:lstStyle/>
          <a:p>
            <a:pPr algn="ctr">
              <a:lnSpc>
                <a:spcPct val="100000"/>
              </a:lnSpc>
            </a:pPr>
            <a:r>
              <a:rPr sz="2600" b="1">
                <a:solidFill>
                  <a:srgbClr val="17372A"/>
                </a:solidFill>
                <a:latin typeface="Yu Gothic"/>
                <a:ea typeface="Yu Gothic"/>
                <a:cs typeface="Yu Gothic"/>
              </a:rPr>
              <a:t>品種</a:t>
            </a:r>
          </a:p>
        </p:txBody>
      </p:sp>
      <p:sp>
        <p:nvSpPr>
          <p:cNvPr id="11" name="Rounded Rectangle 10"/>
          <p:cNvSpPr/>
          <p:nvPr/>
        </p:nvSpPr>
        <p:spPr>
          <a:xfrm>
            <a:off x="4318000" y="3956050"/>
            <a:ext cx="1092200" cy="723900"/>
          </a:xfrm>
          <a:prstGeom prst="roundRect">
            <a:avLst>
              <a:gd name="adj" fmla="val 50000"/>
            </a:avLst>
          </a:prstGeom>
          <a:solidFill>
            <a:srgbClr val="FFFFFF"/>
          </a:solidFill>
          <a:ln w="25400">
            <a:solidFill>
              <a:srgbClr val="1737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318000" y="3956050"/>
            <a:ext cx="1092200" cy="723900"/>
          </a:xfrm>
          <a:prstGeom prst="rect">
            <a:avLst/>
          </a:prstGeom>
          <a:noFill/>
        </p:spPr>
        <p:txBody>
          <a:bodyPr wrap="square" lIns="0" rIns="0" tIns="0" bIns="0" anchor="ctr">
            <a:noAutofit/>
          </a:bodyPr>
          <a:lstStyle/>
          <a:p>
            <a:pPr algn="ctr">
              <a:lnSpc>
                <a:spcPct val="100000"/>
              </a:lnSpc>
            </a:pPr>
            <a:r>
              <a:rPr sz="2600" b="1">
                <a:solidFill>
                  <a:srgbClr val="17372A"/>
                </a:solidFill>
                <a:latin typeface="Yu Gothic"/>
                <a:ea typeface="Yu Gothic"/>
                <a:cs typeface="Yu Gothic"/>
              </a:rPr>
              <a:t>栽培</a:t>
            </a:r>
          </a:p>
        </p:txBody>
      </p:sp>
      <p:sp>
        <p:nvSpPr>
          <p:cNvPr id="13" name="Rounded Rectangle 12"/>
          <p:cNvSpPr/>
          <p:nvPr/>
        </p:nvSpPr>
        <p:spPr>
          <a:xfrm>
            <a:off x="5549900" y="3956050"/>
            <a:ext cx="1092200" cy="723900"/>
          </a:xfrm>
          <a:prstGeom prst="roundRect">
            <a:avLst>
              <a:gd name="adj" fmla="val 50000"/>
            </a:avLst>
          </a:prstGeom>
          <a:solidFill>
            <a:srgbClr val="FFFFFF"/>
          </a:solidFill>
          <a:ln w="25400">
            <a:solidFill>
              <a:srgbClr val="1737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549900" y="3956050"/>
            <a:ext cx="1092200" cy="723900"/>
          </a:xfrm>
          <a:prstGeom prst="rect">
            <a:avLst/>
          </a:prstGeom>
          <a:noFill/>
        </p:spPr>
        <p:txBody>
          <a:bodyPr wrap="square" lIns="0" rIns="0" tIns="0" bIns="0" anchor="ctr">
            <a:noAutofit/>
          </a:bodyPr>
          <a:lstStyle/>
          <a:p>
            <a:pPr algn="ctr">
              <a:lnSpc>
                <a:spcPct val="100000"/>
              </a:lnSpc>
            </a:pPr>
            <a:r>
              <a:rPr sz="2600" b="1">
                <a:solidFill>
                  <a:srgbClr val="17372A"/>
                </a:solidFill>
                <a:latin typeface="Yu Gothic"/>
                <a:ea typeface="Yu Gothic"/>
                <a:cs typeface="Yu Gothic"/>
              </a:rPr>
              <a:t>製茶</a:t>
            </a:r>
          </a:p>
        </p:txBody>
      </p:sp>
      <p:sp>
        <p:nvSpPr>
          <p:cNvPr id="15" name="Rounded Rectangle 14"/>
          <p:cNvSpPr/>
          <p:nvPr/>
        </p:nvSpPr>
        <p:spPr>
          <a:xfrm>
            <a:off x="6781800" y="3956050"/>
            <a:ext cx="1092200" cy="723900"/>
          </a:xfrm>
          <a:prstGeom prst="roundRect">
            <a:avLst>
              <a:gd name="adj" fmla="val 50000"/>
            </a:avLst>
          </a:prstGeom>
          <a:solidFill>
            <a:srgbClr val="FFFFFF"/>
          </a:solidFill>
          <a:ln w="25400">
            <a:solidFill>
              <a:srgbClr val="1737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781800" y="3956050"/>
            <a:ext cx="1092200" cy="723900"/>
          </a:xfrm>
          <a:prstGeom prst="rect">
            <a:avLst/>
          </a:prstGeom>
          <a:noFill/>
        </p:spPr>
        <p:txBody>
          <a:bodyPr wrap="square" lIns="0" rIns="0" tIns="0" bIns="0" anchor="ctr">
            <a:noAutofit/>
          </a:bodyPr>
          <a:lstStyle/>
          <a:p>
            <a:pPr algn="ctr">
              <a:lnSpc>
                <a:spcPct val="100000"/>
              </a:lnSpc>
            </a:pPr>
            <a:r>
              <a:rPr sz="2600" b="1">
                <a:solidFill>
                  <a:srgbClr val="17372A"/>
                </a:solidFill>
                <a:latin typeface="Yu Gothic"/>
                <a:ea typeface="Yu Gothic"/>
                <a:cs typeface="Yu Gothic"/>
              </a:rPr>
              <a:t>歴史</a:t>
            </a:r>
          </a:p>
        </p:txBody>
      </p:sp>
      <p:sp>
        <p:nvSpPr>
          <p:cNvPr id="17" name="Rounded Rectangle 16"/>
          <p:cNvSpPr/>
          <p:nvPr/>
        </p:nvSpPr>
        <p:spPr>
          <a:xfrm>
            <a:off x="8013700" y="3956050"/>
            <a:ext cx="1092200" cy="723900"/>
          </a:xfrm>
          <a:prstGeom prst="roundRect">
            <a:avLst>
              <a:gd name="adj" fmla="val 50000"/>
            </a:avLst>
          </a:prstGeom>
          <a:solidFill>
            <a:srgbClr val="FFFFFF"/>
          </a:solidFill>
          <a:ln w="25400">
            <a:solidFill>
              <a:srgbClr val="1737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13700" y="3956050"/>
            <a:ext cx="1092200" cy="723900"/>
          </a:xfrm>
          <a:prstGeom prst="rect">
            <a:avLst/>
          </a:prstGeom>
          <a:noFill/>
        </p:spPr>
        <p:txBody>
          <a:bodyPr wrap="square" lIns="0" rIns="0" tIns="0" bIns="0" anchor="ctr">
            <a:noAutofit/>
          </a:bodyPr>
          <a:lstStyle/>
          <a:p>
            <a:pPr algn="ctr">
              <a:lnSpc>
                <a:spcPct val="100000"/>
              </a:lnSpc>
            </a:pPr>
            <a:r>
              <a:rPr sz="2600" b="1">
                <a:solidFill>
                  <a:srgbClr val="17372A"/>
                </a:solidFill>
                <a:latin typeface="Yu Gothic"/>
                <a:ea typeface="Yu Gothic"/>
                <a:cs typeface="Yu Gothic"/>
              </a:rPr>
              <a:t>文化</a:t>
            </a:r>
          </a:p>
        </p:txBody>
      </p:sp>
      <p:sp>
        <p:nvSpPr>
          <p:cNvPr id="19" name="Rounded Rectangle 18"/>
          <p:cNvSpPr/>
          <p:nvPr/>
        </p:nvSpPr>
        <p:spPr>
          <a:xfrm>
            <a:off x="9245600" y="3956050"/>
            <a:ext cx="1092200" cy="723900"/>
          </a:xfrm>
          <a:prstGeom prst="roundRect">
            <a:avLst>
              <a:gd name="adj" fmla="val 50000"/>
            </a:avLst>
          </a:prstGeom>
          <a:solidFill>
            <a:srgbClr val="FFFFFF"/>
          </a:solidFill>
          <a:ln w="25400">
            <a:solidFill>
              <a:srgbClr val="1737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245600" y="3956050"/>
            <a:ext cx="1092200" cy="723900"/>
          </a:xfrm>
          <a:prstGeom prst="rect">
            <a:avLst/>
          </a:prstGeom>
          <a:noFill/>
        </p:spPr>
        <p:txBody>
          <a:bodyPr wrap="square" lIns="0" rIns="0" tIns="0" bIns="0" anchor="ctr">
            <a:noAutofit/>
          </a:bodyPr>
          <a:lstStyle/>
          <a:p>
            <a:pPr algn="ctr">
              <a:lnSpc>
                <a:spcPct val="100000"/>
              </a:lnSpc>
            </a:pPr>
            <a:r>
              <a:rPr sz="2600" b="1">
                <a:solidFill>
                  <a:srgbClr val="17372A"/>
                </a:solidFill>
                <a:latin typeface="Yu Gothic"/>
                <a:ea typeface="Yu Gothic"/>
                <a:cs typeface="Yu Gothic"/>
              </a:rPr>
              <a:t>科学</a:t>
            </a:r>
          </a:p>
        </p:txBody>
      </p:sp>
      <p:sp>
        <p:nvSpPr>
          <p:cNvPr id="21" name="TextBox 20"/>
          <p:cNvSpPr txBox="1"/>
          <p:nvPr/>
        </p:nvSpPr>
        <p:spPr>
          <a:xfrm>
            <a:off x="660400" y="4933950"/>
            <a:ext cx="10871200" cy="1028700"/>
          </a:xfrm>
          <a:prstGeom prst="rect">
            <a:avLst/>
          </a:prstGeom>
          <a:noFill/>
        </p:spPr>
        <p:txBody>
          <a:bodyPr wrap="square" lIns="0" rIns="0" tIns="0" bIns="0" anchor="ctr">
            <a:noAutofit/>
          </a:bodyPr>
          <a:lstStyle/>
          <a:p>
            <a:pPr algn="ctr">
              <a:lnSpc>
                <a:spcPct val="145000"/>
              </a:lnSpc>
            </a:pPr>
            <a:r>
              <a:rPr sz="2800" b="1">
                <a:solidFill>
                  <a:srgbClr val="17372A"/>
                </a:solidFill>
                <a:latin typeface="Yu Gothic"/>
                <a:ea typeface="Yu Gothic"/>
                <a:cs typeface="Yu Gothic"/>
              </a:rPr>
              <a:t>知ったことを手掛かりに、考え、試しながら味わう。</a:t>
            </a:r>
          </a:p>
          <a:p>
            <a:pPr algn="ctr">
              <a:lnSpc>
                <a:spcPct val="145000"/>
              </a:lnSpc>
            </a:pPr>
            <a:r>
              <a:rPr sz="2800" b="1">
                <a:solidFill>
                  <a:srgbClr val="17372A"/>
                </a:solidFill>
                <a:latin typeface="Yu Gothic"/>
                <a:ea typeface="Yu Gothic"/>
                <a:cs typeface="Yu Gothic"/>
              </a:rPr>
              <a:t>それも、日本茶を</a:t>
            </a:r>
            <a:r>
              <a:rPr sz="2800" b="1">
                <a:solidFill>
                  <a:srgbClr val="17372A"/>
                </a:solidFill>
                <a:highlight>
                  <a:srgbClr val="D9C79B"/>
                </a:highlight>
                <a:latin typeface="Yu Gothic"/>
                <a:ea typeface="Yu Gothic"/>
                <a:cs typeface="Yu Gothic"/>
              </a:rPr>
              <a:t>楽しむ</a:t>
            </a:r>
            <a:r>
              <a:rPr sz="2800" b="1">
                <a:solidFill>
                  <a:srgbClr val="17372A"/>
                </a:solidFill>
                <a:latin typeface="Yu Gothic"/>
                <a:ea typeface="Yu Gothic"/>
                <a:cs typeface="Yu Gothic"/>
              </a:rPr>
              <a:t>ということ。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3E8"/>
        </a:solidFill>
        <a:effectLst/>
      </p:bgPr>
    </p:bg>
    <p:spTree>
      <p:nvGrpSpPr>
        <p:cNvPr id="1" name=""/>
        <p:cNvGrpSpPr/>
        <p:nvPr/>
      </p:nvGrpSpPr>
      <p:grpSpPr/>
      <p:sp>
        <p:nvSpPr>
          <p:cNvPr id="2" name="Rectangle 1"/>
          <p:cNvSpPr/>
          <p:nvPr/>
        </p:nvSpPr>
        <p:spPr>
          <a:xfrm>
            <a:off x="292100" y="292100"/>
            <a:ext cx="11607800" cy="6184900"/>
          </a:xfrm>
          <a:prstGeom prst="rect">
            <a:avLst/>
          </a:prstGeom>
          <a:noFill/>
          <a:ln w="12700">
            <a:solidFill>
              <a:srgbClr val="CBB5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60400" y="469900"/>
            <a:ext cx="10871200" cy="304800"/>
          </a:xfrm>
          <a:prstGeom prst="rect">
            <a:avLst/>
          </a:prstGeom>
          <a:noFill/>
        </p:spPr>
        <p:txBody>
          <a:bodyPr wrap="square" lIns="0" rIns="0" tIns="0" bIns="0" anchor="ctr">
            <a:noAutofit/>
          </a:bodyPr>
          <a:lstStyle/>
          <a:p>
            <a:pPr algn="l">
              <a:lnSpc>
                <a:spcPct val="100000"/>
              </a:lnSpc>
            </a:pPr>
            <a:r>
              <a:rPr sz="1900" b="1" spc="836">
                <a:solidFill>
                  <a:srgbClr val="9A7430"/>
                </a:solidFill>
                <a:latin typeface="Yu Gothic"/>
                <a:ea typeface="Yu Gothic"/>
                <a:cs typeface="Yu Gothic"/>
              </a:rPr>
              <a:t>2019 ／ 東京・下北沢</a:t>
            </a:r>
          </a:p>
        </p:txBody>
      </p:sp>
      <p:sp>
        <p:nvSpPr>
          <p:cNvPr id="4" name="TextBox 3"/>
          <p:cNvSpPr txBox="1"/>
          <p:nvPr/>
        </p:nvSpPr>
        <p:spPr>
          <a:xfrm>
            <a:off x="660400" y="914400"/>
            <a:ext cx="10871200" cy="670560"/>
          </a:xfrm>
          <a:prstGeom prst="rect">
            <a:avLst/>
          </a:prstGeom>
          <a:noFill/>
        </p:spPr>
        <p:txBody>
          <a:bodyPr wrap="square" lIns="0" rIns="0" tIns="0" bIns="0" anchor="ctr">
            <a:noAutofit/>
          </a:bodyPr>
          <a:lstStyle/>
          <a:p>
            <a:pPr algn="l">
              <a:lnSpc>
                <a:spcPct val="120000"/>
              </a:lnSpc>
            </a:pPr>
            <a:r>
              <a:rPr sz="4400" b="1">
                <a:solidFill>
                  <a:srgbClr val="17372A"/>
                </a:solidFill>
                <a:latin typeface="Yu Gothic"/>
                <a:ea typeface="Yu Gothic"/>
                <a:cs typeface="Yu Gothic"/>
              </a:rPr>
              <a:t>「茶師」って、なんだろう。</a:t>
            </a:r>
          </a:p>
        </p:txBody>
      </p:sp>
      <p:sp>
        <p:nvSpPr>
          <p:cNvPr id="5" name="Rectangle 4"/>
          <p:cNvSpPr/>
          <p:nvPr/>
        </p:nvSpPr>
        <p:spPr>
          <a:xfrm>
            <a:off x="660400" y="1724660"/>
            <a:ext cx="1270000" cy="25400"/>
          </a:xfrm>
          <a:prstGeom prst="rect">
            <a:avLst/>
          </a:prstGeom>
          <a:solidFill>
            <a:srgbClr val="9A7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930400" y="1724660"/>
            <a:ext cx="9601200" cy="25400"/>
          </a:xfrm>
          <a:prstGeom prst="rect">
            <a:avLst/>
          </a:prstGeom>
          <a:solidFill>
            <a:srgbClr val="8A9A90">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5067300"/>
            <a:ext cx="10871200" cy="1181100"/>
          </a:xfrm>
          <a:prstGeom prst="rect">
            <a:avLst/>
          </a:prstGeom>
          <a:noFill/>
        </p:spPr>
        <p:txBody>
          <a:bodyPr wrap="square" lIns="0" rIns="0" tIns="0" bIns="0" anchor="ctr">
            <a:noAutofit/>
          </a:bodyPr>
          <a:lstStyle/>
          <a:p>
            <a:pPr algn="ctr">
              <a:lnSpc>
                <a:spcPct val="145000"/>
              </a:lnSpc>
            </a:pPr>
            <a:r>
              <a:rPr sz="3200" b="1">
                <a:solidFill>
                  <a:srgbClr val="17372A"/>
                </a:solidFill>
                <a:latin typeface="Yu Gothic"/>
                <a:ea typeface="Yu Gothic"/>
                <a:cs typeface="Yu Gothic"/>
              </a:rPr>
              <a:t>産地ではない街に、</a:t>
            </a:r>
          </a:p>
          <a:p>
            <a:pPr algn="ctr">
              <a:lnSpc>
                <a:spcPct val="145000"/>
              </a:lnSpc>
            </a:pPr>
            <a:r>
              <a:rPr sz="3200" b="1">
                <a:solidFill>
                  <a:srgbClr val="17372A"/>
                </a:solidFill>
                <a:highlight>
                  <a:srgbClr val="D9C79B"/>
                </a:highlight>
                <a:latin typeface="Yu Gothic"/>
                <a:ea typeface="Yu Gothic"/>
                <a:cs typeface="Yu Gothic"/>
              </a:rPr>
              <a:t>お茶を仕上げる技術</a:t>
            </a:r>
            <a:r>
              <a:rPr sz="3200" b="1">
                <a:solidFill>
                  <a:srgbClr val="17372A"/>
                </a:solidFill>
                <a:latin typeface="Yu Gothic"/>
                <a:ea typeface="Yu Gothic"/>
                <a:cs typeface="Yu Gothic"/>
              </a:rPr>
              <a:t>があった。</a:t>
            </a:r>
          </a:p>
        </p:txBody>
      </p:sp>
      <p:sp>
        <p:nvSpPr>
          <p:cNvPr id="8" name="TextBox 7"/>
          <p:cNvSpPr txBox="1"/>
          <p:nvPr/>
        </p:nvSpPr>
        <p:spPr>
          <a:xfrm>
            <a:off x="660400" y="2692400"/>
            <a:ext cx="2374900" cy="419100"/>
          </a:xfrm>
          <a:prstGeom prst="rect">
            <a:avLst/>
          </a:prstGeom>
          <a:noFill/>
        </p:spPr>
        <p:txBody>
          <a:bodyPr wrap="square" lIns="0" rIns="0" tIns="0" bIns="0" anchor="ctr">
            <a:noAutofit/>
          </a:bodyPr>
          <a:lstStyle/>
          <a:p>
            <a:pPr algn="ctr">
              <a:lnSpc>
                <a:spcPct val="100000"/>
              </a:lnSpc>
            </a:pPr>
            <a:r>
              <a:rPr sz="2200" b="1" spc="440">
                <a:solidFill>
                  <a:srgbClr val="9A7430"/>
                </a:solidFill>
                <a:latin typeface="Yu Gothic"/>
                <a:ea typeface="Yu Gothic"/>
                <a:cs typeface="Yu Gothic"/>
              </a:rPr>
              <a:t>01</a:t>
            </a:r>
          </a:p>
        </p:txBody>
      </p:sp>
      <p:sp>
        <p:nvSpPr>
          <p:cNvPr id="9" name="TextBox 8"/>
          <p:cNvSpPr txBox="1"/>
          <p:nvPr/>
        </p:nvSpPr>
        <p:spPr>
          <a:xfrm>
            <a:off x="660400" y="3225800"/>
            <a:ext cx="2374900" cy="1016000"/>
          </a:xfrm>
          <a:prstGeom prst="rect">
            <a:avLst/>
          </a:prstGeom>
          <a:noFill/>
        </p:spPr>
        <p:txBody>
          <a:bodyPr wrap="square" lIns="0" rIns="0" tIns="0" bIns="0" anchor="ctr">
            <a:noAutofit/>
          </a:bodyPr>
          <a:lstStyle/>
          <a:p>
            <a:pPr algn="ctr">
              <a:lnSpc>
                <a:spcPct val="125000"/>
              </a:lnSpc>
            </a:pPr>
            <a:r>
              <a:rPr sz="3200" b="1">
                <a:solidFill>
                  <a:srgbClr val="17372A"/>
                </a:solidFill>
                <a:latin typeface="Yu Gothic"/>
                <a:ea typeface="Yu Gothic"/>
                <a:cs typeface="Yu Gothic"/>
              </a:rPr>
              <a:t>荒茶を</a:t>
            </a:r>
          </a:p>
          <a:p>
            <a:pPr algn="ctr">
              <a:lnSpc>
                <a:spcPct val="125000"/>
              </a:lnSpc>
            </a:pPr>
            <a:r>
              <a:rPr sz="3200" b="1">
                <a:solidFill>
                  <a:srgbClr val="17372A"/>
                </a:solidFill>
                <a:latin typeface="Yu Gothic"/>
                <a:ea typeface="Yu Gothic"/>
                <a:cs typeface="Yu Gothic"/>
              </a:rPr>
              <a:t>仕入れる</a:t>
            </a:r>
          </a:p>
        </p:txBody>
      </p:sp>
      <p:sp>
        <p:nvSpPr>
          <p:cNvPr id="10" name="TextBox 9"/>
          <p:cNvSpPr txBox="1"/>
          <p:nvPr/>
        </p:nvSpPr>
        <p:spPr>
          <a:xfrm>
            <a:off x="3492500" y="2692400"/>
            <a:ext cx="2374900" cy="419100"/>
          </a:xfrm>
          <a:prstGeom prst="rect">
            <a:avLst/>
          </a:prstGeom>
          <a:noFill/>
        </p:spPr>
        <p:txBody>
          <a:bodyPr wrap="square" lIns="0" rIns="0" tIns="0" bIns="0" anchor="ctr">
            <a:noAutofit/>
          </a:bodyPr>
          <a:lstStyle/>
          <a:p>
            <a:pPr algn="ctr">
              <a:lnSpc>
                <a:spcPct val="100000"/>
              </a:lnSpc>
            </a:pPr>
            <a:r>
              <a:rPr sz="2200" b="1" spc="440">
                <a:solidFill>
                  <a:srgbClr val="9A7430"/>
                </a:solidFill>
                <a:latin typeface="Yu Gothic"/>
                <a:ea typeface="Yu Gothic"/>
                <a:cs typeface="Yu Gothic"/>
              </a:rPr>
              <a:t>02</a:t>
            </a:r>
          </a:p>
        </p:txBody>
      </p:sp>
      <p:sp>
        <p:nvSpPr>
          <p:cNvPr id="11" name="TextBox 10"/>
          <p:cNvSpPr txBox="1"/>
          <p:nvPr/>
        </p:nvSpPr>
        <p:spPr>
          <a:xfrm>
            <a:off x="3492500" y="3225800"/>
            <a:ext cx="2374900" cy="1016000"/>
          </a:xfrm>
          <a:prstGeom prst="rect">
            <a:avLst/>
          </a:prstGeom>
          <a:noFill/>
        </p:spPr>
        <p:txBody>
          <a:bodyPr wrap="square" lIns="0" rIns="0" tIns="0" bIns="0" anchor="ctr">
            <a:noAutofit/>
          </a:bodyPr>
          <a:lstStyle/>
          <a:p>
            <a:pPr algn="ctr">
              <a:lnSpc>
                <a:spcPct val="125000"/>
              </a:lnSpc>
            </a:pPr>
            <a:r>
              <a:rPr sz="3200" b="1">
                <a:solidFill>
                  <a:srgbClr val="17372A"/>
                </a:solidFill>
                <a:latin typeface="Yu Gothic"/>
                <a:ea typeface="Yu Gothic"/>
                <a:cs typeface="Yu Gothic"/>
              </a:rPr>
              <a:t>個性を</a:t>
            </a:r>
          </a:p>
          <a:p>
            <a:pPr algn="ctr">
              <a:lnSpc>
                <a:spcPct val="125000"/>
              </a:lnSpc>
            </a:pPr>
            <a:r>
              <a:rPr sz="3200" b="1">
                <a:solidFill>
                  <a:srgbClr val="17372A"/>
                </a:solidFill>
                <a:latin typeface="Yu Gothic"/>
                <a:ea typeface="Yu Gothic"/>
                <a:cs typeface="Yu Gothic"/>
              </a:rPr>
              <a:t>見極める</a:t>
            </a:r>
          </a:p>
        </p:txBody>
      </p:sp>
      <p:sp>
        <p:nvSpPr>
          <p:cNvPr id="12" name="TextBox 11"/>
          <p:cNvSpPr txBox="1"/>
          <p:nvPr/>
        </p:nvSpPr>
        <p:spPr>
          <a:xfrm>
            <a:off x="6324600" y="2692400"/>
            <a:ext cx="2374900" cy="419100"/>
          </a:xfrm>
          <a:prstGeom prst="rect">
            <a:avLst/>
          </a:prstGeom>
          <a:noFill/>
        </p:spPr>
        <p:txBody>
          <a:bodyPr wrap="square" lIns="0" rIns="0" tIns="0" bIns="0" anchor="ctr">
            <a:noAutofit/>
          </a:bodyPr>
          <a:lstStyle/>
          <a:p>
            <a:pPr algn="ctr">
              <a:lnSpc>
                <a:spcPct val="100000"/>
              </a:lnSpc>
            </a:pPr>
            <a:r>
              <a:rPr sz="2200" b="1" spc="440">
                <a:solidFill>
                  <a:srgbClr val="9A7430"/>
                </a:solidFill>
                <a:latin typeface="Yu Gothic"/>
                <a:ea typeface="Yu Gothic"/>
                <a:cs typeface="Yu Gothic"/>
              </a:rPr>
              <a:t>03</a:t>
            </a:r>
          </a:p>
        </p:txBody>
      </p:sp>
      <p:sp>
        <p:nvSpPr>
          <p:cNvPr id="13" name="TextBox 12"/>
          <p:cNvSpPr txBox="1"/>
          <p:nvPr/>
        </p:nvSpPr>
        <p:spPr>
          <a:xfrm>
            <a:off x="6324600" y="3225800"/>
            <a:ext cx="2374900" cy="1016000"/>
          </a:xfrm>
          <a:prstGeom prst="rect">
            <a:avLst/>
          </a:prstGeom>
          <a:noFill/>
        </p:spPr>
        <p:txBody>
          <a:bodyPr wrap="square" lIns="0" rIns="0" tIns="0" bIns="0" anchor="ctr">
            <a:noAutofit/>
          </a:bodyPr>
          <a:lstStyle/>
          <a:p>
            <a:pPr algn="ctr">
              <a:lnSpc>
                <a:spcPct val="125000"/>
              </a:lnSpc>
            </a:pPr>
            <a:r>
              <a:rPr sz="3200" b="1">
                <a:solidFill>
                  <a:srgbClr val="9A7430"/>
                </a:solidFill>
                <a:latin typeface="Yu Gothic"/>
                <a:ea typeface="Yu Gothic"/>
                <a:cs typeface="Yu Gothic"/>
              </a:rPr>
              <a:t>火入れと</a:t>
            </a:r>
          </a:p>
          <a:p>
            <a:pPr algn="ctr">
              <a:lnSpc>
                <a:spcPct val="125000"/>
              </a:lnSpc>
            </a:pPr>
            <a:r>
              <a:rPr sz="3200" b="1">
                <a:solidFill>
                  <a:srgbClr val="9A7430"/>
                </a:solidFill>
                <a:latin typeface="Yu Gothic"/>
                <a:ea typeface="Yu Gothic"/>
                <a:cs typeface="Yu Gothic"/>
              </a:rPr>
              <a:t>合組</a:t>
            </a:r>
          </a:p>
        </p:txBody>
      </p:sp>
      <p:sp>
        <p:nvSpPr>
          <p:cNvPr id="14" name="TextBox 13"/>
          <p:cNvSpPr txBox="1"/>
          <p:nvPr/>
        </p:nvSpPr>
        <p:spPr>
          <a:xfrm>
            <a:off x="9156700" y="2692400"/>
            <a:ext cx="2374900" cy="419100"/>
          </a:xfrm>
          <a:prstGeom prst="rect">
            <a:avLst/>
          </a:prstGeom>
          <a:noFill/>
        </p:spPr>
        <p:txBody>
          <a:bodyPr wrap="square" lIns="0" rIns="0" tIns="0" bIns="0" anchor="ctr">
            <a:noAutofit/>
          </a:bodyPr>
          <a:lstStyle/>
          <a:p>
            <a:pPr algn="ctr">
              <a:lnSpc>
                <a:spcPct val="100000"/>
              </a:lnSpc>
            </a:pPr>
            <a:r>
              <a:rPr sz="2200" b="1" spc="440">
                <a:solidFill>
                  <a:srgbClr val="9A7430"/>
                </a:solidFill>
                <a:latin typeface="Yu Gothic"/>
                <a:ea typeface="Yu Gothic"/>
                <a:cs typeface="Yu Gothic"/>
              </a:rPr>
              <a:t>04</a:t>
            </a:r>
          </a:p>
        </p:txBody>
      </p:sp>
      <p:sp>
        <p:nvSpPr>
          <p:cNvPr id="15" name="TextBox 14"/>
          <p:cNvSpPr txBox="1"/>
          <p:nvPr/>
        </p:nvSpPr>
        <p:spPr>
          <a:xfrm>
            <a:off x="9156700" y="3225800"/>
            <a:ext cx="2374900" cy="1016000"/>
          </a:xfrm>
          <a:prstGeom prst="rect">
            <a:avLst/>
          </a:prstGeom>
          <a:noFill/>
        </p:spPr>
        <p:txBody>
          <a:bodyPr wrap="square" lIns="0" rIns="0" tIns="0" bIns="0" anchor="ctr">
            <a:noAutofit/>
          </a:bodyPr>
          <a:lstStyle/>
          <a:p>
            <a:pPr algn="ctr">
              <a:lnSpc>
                <a:spcPct val="125000"/>
              </a:lnSpc>
            </a:pPr>
            <a:r>
              <a:rPr sz="3200" b="1">
                <a:solidFill>
                  <a:srgbClr val="17372A"/>
                </a:solidFill>
                <a:latin typeface="Yu Gothic"/>
                <a:ea typeface="Yu Gothic"/>
                <a:cs typeface="Yu Gothic"/>
              </a:rPr>
              <a:t>一つの茶に</a:t>
            </a:r>
          </a:p>
          <a:p>
            <a:pPr algn="ctr">
              <a:lnSpc>
                <a:spcPct val="125000"/>
              </a:lnSpc>
            </a:pPr>
            <a:r>
              <a:rPr sz="3200" b="1">
                <a:solidFill>
                  <a:srgbClr val="17372A"/>
                </a:solidFill>
                <a:latin typeface="Yu Gothic"/>
                <a:ea typeface="Yu Gothic"/>
                <a:cs typeface="Yu Gothic"/>
              </a:rPr>
              <a:t>仕上げる</a:t>
            </a:r>
          </a:p>
        </p:txBody>
      </p:sp>
      <p:sp>
        <p:nvSpPr>
          <p:cNvPr id="16" name="TextBox 15"/>
          <p:cNvSpPr txBox="1"/>
          <p:nvPr/>
        </p:nvSpPr>
        <p:spPr>
          <a:xfrm>
            <a:off x="3035300" y="3213100"/>
            <a:ext cx="457200" cy="508000"/>
          </a:xfrm>
          <a:prstGeom prst="rect">
            <a:avLst/>
          </a:prstGeom>
          <a:noFill/>
        </p:spPr>
        <p:txBody>
          <a:bodyPr wrap="square" lIns="0" rIns="0" tIns="0" bIns="0" anchor="ctr">
            <a:noAutofit/>
          </a:bodyPr>
          <a:lstStyle/>
          <a:p>
            <a:pPr algn="ctr">
              <a:lnSpc>
                <a:spcPct val="100000"/>
              </a:lnSpc>
            </a:pPr>
            <a:r>
              <a:rPr sz="3600" b="0">
                <a:solidFill>
                  <a:srgbClr val="9A7430"/>
                </a:solidFill>
                <a:latin typeface="Yu Gothic"/>
                <a:ea typeface="Yu Gothic"/>
                <a:cs typeface="Yu Gothic"/>
              </a:rPr>
              <a:t>→</a:t>
            </a:r>
          </a:p>
        </p:txBody>
      </p:sp>
      <p:sp>
        <p:nvSpPr>
          <p:cNvPr id="17" name="TextBox 16"/>
          <p:cNvSpPr txBox="1"/>
          <p:nvPr/>
        </p:nvSpPr>
        <p:spPr>
          <a:xfrm>
            <a:off x="5867400" y="3213100"/>
            <a:ext cx="457200" cy="508000"/>
          </a:xfrm>
          <a:prstGeom prst="rect">
            <a:avLst/>
          </a:prstGeom>
          <a:noFill/>
        </p:spPr>
        <p:txBody>
          <a:bodyPr wrap="square" lIns="0" rIns="0" tIns="0" bIns="0" anchor="ctr">
            <a:noAutofit/>
          </a:bodyPr>
          <a:lstStyle/>
          <a:p>
            <a:pPr algn="ctr">
              <a:lnSpc>
                <a:spcPct val="100000"/>
              </a:lnSpc>
            </a:pPr>
            <a:r>
              <a:rPr sz="3600" b="0">
                <a:solidFill>
                  <a:srgbClr val="9A7430"/>
                </a:solidFill>
                <a:latin typeface="Yu Gothic"/>
                <a:ea typeface="Yu Gothic"/>
                <a:cs typeface="Yu Gothic"/>
              </a:rPr>
              <a:t>→</a:t>
            </a:r>
          </a:p>
        </p:txBody>
      </p:sp>
      <p:sp>
        <p:nvSpPr>
          <p:cNvPr id="18" name="TextBox 17"/>
          <p:cNvSpPr txBox="1"/>
          <p:nvPr/>
        </p:nvSpPr>
        <p:spPr>
          <a:xfrm>
            <a:off x="8699500" y="3213100"/>
            <a:ext cx="457200" cy="508000"/>
          </a:xfrm>
          <a:prstGeom prst="rect">
            <a:avLst/>
          </a:prstGeom>
          <a:noFill/>
        </p:spPr>
        <p:txBody>
          <a:bodyPr wrap="square" lIns="0" rIns="0" tIns="0" bIns="0" anchor="ctr">
            <a:noAutofit/>
          </a:bodyPr>
          <a:lstStyle/>
          <a:p>
            <a:pPr algn="ctr">
              <a:lnSpc>
                <a:spcPct val="100000"/>
              </a:lnSpc>
            </a:pPr>
            <a:r>
              <a:rPr sz="3600" b="0">
                <a:solidFill>
                  <a:srgbClr val="9A7430"/>
                </a:solidFill>
                <a:latin typeface="Yu Gothic"/>
                <a:ea typeface="Yu Gothic"/>
                <a:cs typeface="Yu Gothic"/>
              </a:rP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3E8"/>
        </a:solidFill>
        <a:effectLst/>
      </p:bgPr>
    </p:bg>
    <p:spTree>
      <p:nvGrpSpPr>
        <p:cNvPr id="1" name=""/>
        <p:cNvGrpSpPr/>
        <p:nvPr/>
      </p:nvGrpSpPr>
      <p:grpSpPr/>
      <p:sp>
        <p:nvSpPr>
          <p:cNvPr id="2" name="Rectangle 1"/>
          <p:cNvSpPr/>
          <p:nvPr/>
        </p:nvSpPr>
        <p:spPr>
          <a:xfrm>
            <a:off x="292100" y="292100"/>
            <a:ext cx="11607800" cy="6184900"/>
          </a:xfrm>
          <a:prstGeom prst="rect">
            <a:avLst/>
          </a:prstGeom>
          <a:noFill/>
          <a:ln w="12700">
            <a:solidFill>
              <a:srgbClr val="CBB5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60400" y="469900"/>
            <a:ext cx="10871200" cy="304800"/>
          </a:xfrm>
          <a:prstGeom prst="rect">
            <a:avLst/>
          </a:prstGeom>
          <a:noFill/>
        </p:spPr>
        <p:txBody>
          <a:bodyPr wrap="square" lIns="0" rIns="0" tIns="0" bIns="0" anchor="ctr">
            <a:noAutofit/>
          </a:bodyPr>
          <a:lstStyle/>
          <a:p>
            <a:pPr algn="l">
              <a:lnSpc>
                <a:spcPct val="100000"/>
              </a:lnSpc>
            </a:pPr>
            <a:r>
              <a:rPr sz="1900" b="1" spc="836">
                <a:solidFill>
                  <a:srgbClr val="9A7430"/>
                </a:solidFill>
                <a:latin typeface="Yu Gothic"/>
                <a:ea typeface="Yu Gothic"/>
                <a:cs typeface="Yu Gothic"/>
              </a:rPr>
              <a:t>THE DESIGN</a:t>
            </a:r>
          </a:p>
        </p:txBody>
      </p:sp>
      <p:sp>
        <p:nvSpPr>
          <p:cNvPr id="4" name="TextBox 3"/>
          <p:cNvSpPr txBox="1"/>
          <p:nvPr/>
        </p:nvSpPr>
        <p:spPr>
          <a:xfrm>
            <a:off x="660400" y="914400"/>
            <a:ext cx="10871200" cy="670560"/>
          </a:xfrm>
          <a:prstGeom prst="rect">
            <a:avLst/>
          </a:prstGeom>
          <a:noFill/>
        </p:spPr>
        <p:txBody>
          <a:bodyPr wrap="square" lIns="0" rIns="0" tIns="0" bIns="0" anchor="ctr">
            <a:noAutofit/>
          </a:bodyPr>
          <a:lstStyle/>
          <a:p>
            <a:pPr algn="l">
              <a:lnSpc>
                <a:spcPct val="120000"/>
              </a:lnSpc>
            </a:pPr>
            <a:r>
              <a:rPr sz="4400" b="1">
                <a:solidFill>
                  <a:srgbClr val="17372A"/>
                </a:solidFill>
                <a:latin typeface="Yu Gothic"/>
                <a:ea typeface="Yu Gothic"/>
                <a:cs typeface="Yu Gothic"/>
              </a:rPr>
              <a:t>茶師が、一つにまとめた茶</a:t>
            </a:r>
          </a:p>
        </p:txBody>
      </p:sp>
      <p:sp>
        <p:nvSpPr>
          <p:cNvPr id="5" name="Rectangle 4"/>
          <p:cNvSpPr/>
          <p:nvPr/>
        </p:nvSpPr>
        <p:spPr>
          <a:xfrm>
            <a:off x="660400" y="1724660"/>
            <a:ext cx="1270000" cy="25400"/>
          </a:xfrm>
          <a:prstGeom prst="rect">
            <a:avLst/>
          </a:prstGeom>
          <a:solidFill>
            <a:srgbClr val="9A7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930400" y="1724660"/>
            <a:ext cx="9601200" cy="25400"/>
          </a:xfrm>
          <a:prstGeom prst="rect">
            <a:avLst/>
          </a:prstGeom>
          <a:solidFill>
            <a:srgbClr val="8A9A90">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5067300"/>
            <a:ext cx="10871200" cy="1181100"/>
          </a:xfrm>
          <a:prstGeom prst="rect">
            <a:avLst/>
          </a:prstGeom>
          <a:noFill/>
        </p:spPr>
        <p:txBody>
          <a:bodyPr wrap="square" lIns="0" rIns="0" tIns="0" bIns="0" anchor="ctr">
            <a:noAutofit/>
          </a:bodyPr>
          <a:lstStyle/>
          <a:p>
            <a:pPr algn="ctr">
              <a:lnSpc>
                <a:spcPct val="145000"/>
              </a:lnSpc>
            </a:pPr>
            <a:r>
              <a:rPr sz="3200" b="1">
                <a:solidFill>
                  <a:srgbClr val="17372A"/>
                </a:solidFill>
                <a:latin typeface="Yu Gothic"/>
                <a:ea typeface="Yu Gothic"/>
                <a:cs typeface="Yu Gothic"/>
              </a:rPr>
              <a:t>熱湯で淹れても、低温で淹れても、美味しい。</a:t>
            </a:r>
          </a:p>
          <a:p>
            <a:pPr algn="ctr">
              <a:lnSpc>
                <a:spcPct val="145000"/>
              </a:lnSpc>
            </a:pPr>
            <a:r>
              <a:rPr sz="3200" b="1">
                <a:solidFill>
                  <a:srgbClr val="17372A"/>
                </a:solidFill>
                <a:highlight>
                  <a:srgbClr val="D9C79B"/>
                </a:highlight>
                <a:latin typeface="Yu Gothic"/>
                <a:ea typeface="Yu Gothic"/>
                <a:cs typeface="Yu Gothic"/>
              </a:rPr>
              <a:t>「これは、設計された飲み物だ。」</a:t>
            </a:r>
          </a:p>
        </p:txBody>
      </p:sp>
      <p:sp>
        <p:nvSpPr>
          <p:cNvPr id="8" name="Oval 7"/>
          <p:cNvSpPr/>
          <p:nvPr/>
        </p:nvSpPr>
        <p:spPr>
          <a:xfrm>
            <a:off x="4914900" y="2349500"/>
            <a:ext cx="2362200" cy="2362200"/>
          </a:xfrm>
          <a:prstGeom prst="ellipse">
            <a:avLst/>
          </a:prstGeom>
          <a:solidFill>
            <a:srgbClr val="9A743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016500" y="2451100"/>
            <a:ext cx="2159000" cy="2159000"/>
          </a:xfrm>
          <a:prstGeom prst="ellipse">
            <a:avLst/>
          </a:prstGeom>
          <a:solidFill>
            <a:srgbClr val="9A7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016500" y="2768600"/>
            <a:ext cx="2159000" cy="977900"/>
          </a:xfrm>
          <a:prstGeom prst="rect">
            <a:avLst/>
          </a:prstGeom>
          <a:noFill/>
        </p:spPr>
        <p:txBody>
          <a:bodyPr wrap="square" lIns="0" rIns="0" tIns="0" bIns="0" anchor="ctr">
            <a:noAutofit/>
          </a:bodyPr>
          <a:lstStyle/>
          <a:p>
            <a:pPr algn="ctr">
              <a:lnSpc>
                <a:spcPct val="120000"/>
              </a:lnSpc>
            </a:pPr>
            <a:r>
              <a:rPr sz="3200" b="1">
                <a:solidFill>
                  <a:srgbClr val="F7F3E8"/>
                </a:solidFill>
                <a:latin typeface="Yu Gothic"/>
                <a:ea typeface="Yu Gothic"/>
                <a:cs typeface="Yu Gothic"/>
              </a:rPr>
              <a:t>拓朗</a:t>
            </a:r>
          </a:p>
          <a:p>
            <a:pPr algn="ctr">
              <a:lnSpc>
                <a:spcPct val="120000"/>
              </a:lnSpc>
            </a:pPr>
            <a:r>
              <a:rPr sz="3200" b="1">
                <a:solidFill>
                  <a:srgbClr val="F7F3E8"/>
                </a:solidFill>
                <a:latin typeface="Yu Gothic"/>
                <a:ea typeface="Yu Gothic"/>
                <a:cs typeface="Yu Gothic"/>
              </a:rPr>
              <a:t>（午）</a:t>
            </a:r>
          </a:p>
        </p:txBody>
      </p:sp>
      <p:sp>
        <p:nvSpPr>
          <p:cNvPr id="11" name="TextBox 10"/>
          <p:cNvSpPr txBox="1"/>
          <p:nvPr/>
        </p:nvSpPr>
        <p:spPr>
          <a:xfrm>
            <a:off x="5016500" y="3784600"/>
            <a:ext cx="2159000" cy="285750"/>
          </a:xfrm>
          <a:prstGeom prst="rect">
            <a:avLst/>
          </a:prstGeom>
          <a:noFill/>
        </p:spPr>
        <p:txBody>
          <a:bodyPr wrap="square" lIns="0" rIns="0" tIns="0" bIns="0" anchor="ctr">
            <a:noAutofit/>
          </a:bodyPr>
          <a:lstStyle/>
          <a:p>
            <a:pPr algn="ctr">
              <a:lnSpc>
                <a:spcPct val="100000"/>
              </a:lnSpc>
            </a:pPr>
            <a:r>
              <a:rPr sz="1500" b="1" spc="420">
                <a:solidFill>
                  <a:srgbClr val="F7F3E8"/>
                </a:solidFill>
                <a:latin typeface="Yu Gothic"/>
                <a:ea typeface="Yu Gothic"/>
                <a:cs typeface="Yu Gothic"/>
              </a:rPr>
              <a:t>GOGUMI</a:t>
            </a:r>
          </a:p>
        </p:txBody>
      </p:sp>
      <p:sp>
        <p:nvSpPr>
          <p:cNvPr id="12" name="TextBox 11"/>
          <p:cNvSpPr txBox="1"/>
          <p:nvPr/>
        </p:nvSpPr>
        <p:spPr>
          <a:xfrm>
            <a:off x="4127500" y="3263900"/>
            <a:ext cx="889000" cy="558800"/>
          </a:xfrm>
          <a:prstGeom prst="rect">
            <a:avLst/>
          </a:prstGeom>
          <a:noFill/>
        </p:spPr>
        <p:txBody>
          <a:bodyPr wrap="square" lIns="0" rIns="0" tIns="0" bIns="0" anchor="ctr">
            <a:noAutofit/>
          </a:bodyPr>
          <a:lstStyle/>
          <a:p>
            <a:pPr algn="ctr">
              <a:lnSpc>
                <a:spcPct val="100000"/>
              </a:lnSpc>
            </a:pPr>
            <a:r>
              <a:rPr sz="4400" b="0">
                <a:solidFill>
                  <a:srgbClr val="9A7430"/>
                </a:solidFill>
                <a:latin typeface="Yu Gothic"/>
                <a:ea typeface="Yu Gothic"/>
                <a:cs typeface="Yu Gothic"/>
              </a:rPr>
              <a:t>→</a:t>
            </a:r>
          </a:p>
        </p:txBody>
      </p:sp>
      <p:sp>
        <p:nvSpPr>
          <p:cNvPr id="13" name="TextBox 12"/>
          <p:cNvSpPr txBox="1"/>
          <p:nvPr/>
        </p:nvSpPr>
        <p:spPr>
          <a:xfrm>
            <a:off x="7175500" y="3263900"/>
            <a:ext cx="889000" cy="558800"/>
          </a:xfrm>
          <a:prstGeom prst="rect">
            <a:avLst/>
          </a:prstGeom>
          <a:noFill/>
        </p:spPr>
        <p:txBody>
          <a:bodyPr wrap="square" lIns="0" rIns="0" tIns="0" bIns="0" anchor="ctr">
            <a:noAutofit/>
          </a:bodyPr>
          <a:lstStyle/>
          <a:p>
            <a:pPr algn="ctr">
              <a:lnSpc>
                <a:spcPct val="100000"/>
              </a:lnSpc>
            </a:pPr>
            <a:r>
              <a:rPr sz="4400" b="0">
                <a:solidFill>
                  <a:srgbClr val="9A7430"/>
                </a:solidFill>
                <a:latin typeface="Yu Gothic"/>
                <a:ea typeface="Yu Gothic"/>
                <a:cs typeface="Yu Gothic"/>
              </a:rPr>
              <a:t>←</a:t>
            </a:r>
          </a:p>
        </p:txBody>
      </p:sp>
      <p:sp>
        <p:nvSpPr>
          <p:cNvPr id="14" name="TextBox 13"/>
          <p:cNvSpPr txBox="1"/>
          <p:nvPr/>
        </p:nvSpPr>
        <p:spPr>
          <a:xfrm>
            <a:off x="660400" y="2819400"/>
            <a:ext cx="3467100" cy="342900"/>
          </a:xfrm>
          <a:prstGeom prst="rect">
            <a:avLst/>
          </a:prstGeom>
          <a:noFill/>
        </p:spPr>
        <p:txBody>
          <a:bodyPr wrap="square" lIns="0" rIns="0" tIns="0" bIns="0" anchor="ctr">
            <a:noAutofit/>
          </a:bodyPr>
          <a:lstStyle/>
          <a:p>
            <a:pPr algn="ctr">
              <a:lnSpc>
                <a:spcPct val="100000"/>
              </a:lnSpc>
            </a:pPr>
            <a:r>
              <a:rPr sz="1800" b="1" spc="648">
                <a:solidFill>
                  <a:srgbClr val="9A7430"/>
                </a:solidFill>
                <a:latin typeface="Yu Gothic"/>
                <a:ea typeface="Yu Gothic"/>
                <a:cs typeface="Yu Gothic"/>
              </a:rPr>
              <a:t>BASE</a:t>
            </a:r>
          </a:p>
        </p:txBody>
      </p:sp>
      <p:sp>
        <p:nvSpPr>
          <p:cNvPr id="15" name="TextBox 14"/>
          <p:cNvSpPr txBox="1"/>
          <p:nvPr/>
        </p:nvSpPr>
        <p:spPr>
          <a:xfrm>
            <a:off x="660400" y="3276600"/>
            <a:ext cx="3467100" cy="457200"/>
          </a:xfrm>
          <a:prstGeom prst="rect">
            <a:avLst/>
          </a:prstGeom>
          <a:noFill/>
        </p:spPr>
        <p:txBody>
          <a:bodyPr wrap="square" lIns="0" rIns="0" tIns="0" bIns="0" anchor="ctr">
            <a:noAutofit/>
          </a:bodyPr>
          <a:lstStyle/>
          <a:p>
            <a:pPr algn="ctr">
              <a:lnSpc>
                <a:spcPct val="120000"/>
              </a:lnSpc>
            </a:pPr>
            <a:r>
              <a:rPr sz="3000" b="1">
                <a:solidFill>
                  <a:srgbClr val="17372A"/>
                </a:solidFill>
                <a:latin typeface="Yu Gothic"/>
                <a:ea typeface="Yu Gothic"/>
                <a:cs typeface="Yu Gothic"/>
              </a:rPr>
              <a:t>静岡県・川根本町</a:t>
            </a:r>
          </a:p>
        </p:txBody>
      </p:sp>
      <p:sp>
        <p:nvSpPr>
          <p:cNvPr id="16" name="TextBox 15"/>
          <p:cNvSpPr txBox="1"/>
          <p:nvPr/>
        </p:nvSpPr>
        <p:spPr>
          <a:xfrm>
            <a:off x="660400" y="3860800"/>
            <a:ext cx="3467100" cy="381000"/>
          </a:xfrm>
          <a:prstGeom prst="rect">
            <a:avLst/>
          </a:prstGeom>
          <a:noFill/>
        </p:spPr>
        <p:txBody>
          <a:bodyPr wrap="square" lIns="0" rIns="0" tIns="0" bIns="0" anchor="ctr">
            <a:noAutofit/>
          </a:bodyPr>
          <a:lstStyle/>
          <a:p>
            <a:pPr algn="ctr">
              <a:lnSpc>
                <a:spcPct val="120000"/>
              </a:lnSpc>
            </a:pPr>
            <a:r>
              <a:rPr sz="2000" b="1">
                <a:solidFill>
                  <a:srgbClr val="4A6154"/>
                </a:solidFill>
                <a:latin typeface="Yu Gothic"/>
                <a:ea typeface="Yu Gothic"/>
                <a:cs typeface="Yu Gothic"/>
              </a:rPr>
              <a:t>ベースにしている茶</a:t>
            </a:r>
          </a:p>
        </p:txBody>
      </p:sp>
      <p:sp>
        <p:nvSpPr>
          <p:cNvPr id="17" name="TextBox 16"/>
          <p:cNvSpPr txBox="1"/>
          <p:nvPr/>
        </p:nvSpPr>
        <p:spPr>
          <a:xfrm>
            <a:off x="8064500" y="2819400"/>
            <a:ext cx="3467100" cy="342900"/>
          </a:xfrm>
          <a:prstGeom prst="rect">
            <a:avLst/>
          </a:prstGeom>
          <a:noFill/>
        </p:spPr>
        <p:txBody>
          <a:bodyPr wrap="square" lIns="0" rIns="0" tIns="0" bIns="0" anchor="ctr">
            <a:noAutofit/>
          </a:bodyPr>
          <a:lstStyle/>
          <a:p>
            <a:pPr algn="ctr">
              <a:lnSpc>
                <a:spcPct val="100000"/>
              </a:lnSpc>
            </a:pPr>
            <a:r>
              <a:rPr sz="1800" b="1" spc="648">
                <a:solidFill>
                  <a:srgbClr val="9A7430"/>
                </a:solidFill>
                <a:latin typeface="Yu Gothic"/>
                <a:ea typeface="Yu Gothic"/>
                <a:cs typeface="Yu Gothic"/>
              </a:rPr>
              <a:t>BLEND</a:t>
            </a:r>
          </a:p>
        </p:txBody>
      </p:sp>
      <p:sp>
        <p:nvSpPr>
          <p:cNvPr id="18" name="TextBox 17"/>
          <p:cNvSpPr txBox="1"/>
          <p:nvPr/>
        </p:nvSpPr>
        <p:spPr>
          <a:xfrm>
            <a:off x="8064500" y="3276600"/>
            <a:ext cx="3467100" cy="457200"/>
          </a:xfrm>
          <a:prstGeom prst="rect">
            <a:avLst/>
          </a:prstGeom>
          <a:noFill/>
        </p:spPr>
        <p:txBody>
          <a:bodyPr wrap="square" lIns="0" rIns="0" tIns="0" bIns="0" anchor="ctr">
            <a:noAutofit/>
          </a:bodyPr>
          <a:lstStyle/>
          <a:p>
            <a:pPr algn="ctr">
              <a:lnSpc>
                <a:spcPct val="120000"/>
              </a:lnSpc>
            </a:pPr>
            <a:r>
              <a:rPr sz="3000" b="1">
                <a:solidFill>
                  <a:srgbClr val="17372A"/>
                </a:solidFill>
                <a:latin typeface="Yu Gothic"/>
                <a:ea typeface="Yu Gothic"/>
                <a:cs typeface="Yu Gothic"/>
              </a:rPr>
              <a:t>鹿児島県産</a:t>
            </a:r>
          </a:p>
        </p:txBody>
      </p:sp>
      <p:sp>
        <p:nvSpPr>
          <p:cNvPr id="19" name="TextBox 18"/>
          <p:cNvSpPr txBox="1"/>
          <p:nvPr/>
        </p:nvSpPr>
        <p:spPr>
          <a:xfrm>
            <a:off x="8064500" y="3860800"/>
            <a:ext cx="3467100" cy="381000"/>
          </a:xfrm>
          <a:prstGeom prst="rect">
            <a:avLst/>
          </a:prstGeom>
          <a:noFill/>
        </p:spPr>
        <p:txBody>
          <a:bodyPr wrap="square" lIns="0" rIns="0" tIns="0" bIns="0" anchor="ctr">
            <a:noAutofit/>
          </a:bodyPr>
          <a:lstStyle/>
          <a:p>
            <a:pPr algn="ctr">
              <a:lnSpc>
                <a:spcPct val="120000"/>
              </a:lnSpc>
            </a:pPr>
            <a:r>
              <a:rPr sz="2000" b="1">
                <a:solidFill>
                  <a:srgbClr val="4A6154"/>
                </a:solidFill>
                <a:latin typeface="Yu Gothic"/>
                <a:ea typeface="Yu Gothic"/>
                <a:cs typeface="Yu Gothic"/>
              </a:rPr>
              <a:t>組み合わせている茶</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3E8"/>
        </a:solidFill>
        <a:effectLst/>
      </p:bgPr>
    </p:bg>
    <p:spTree>
      <p:nvGrpSpPr>
        <p:cNvPr id="1" name=""/>
        <p:cNvGrpSpPr/>
        <p:nvPr/>
      </p:nvGrpSpPr>
      <p:grpSpPr/>
      <p:sp>
        <p:nvSpPr>
          <p:cNvPr id="2" name="Rectangle 1"/>
          <p:cNvSpPr/>
          <p:nvPr/>
        </p:nvSpPr>
        <p:spPr>
          <a:xfrm>
            <a:off x="292100" y="292100"/>
            <a:ext cx="11607800" cy="6184900"/>
          </a:xfrm>
          <a:prstGeom prst="rect">
            <a:avLst/>
          </a:prstGeom>
          <a:noFill/>
          <a:ln w="12700">
            <a:solidFill>
              <a:srgbClr val="CBB5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60400" y="863600"/>
            <a:ext cx="10871200" cy="304800"/>
          </a:xfrm>
          <a:prstGeom prst="rect">
            <a:avLst/>
          </a:prstGeom>
          <a:noFill/>
        </p:spPr>
        <p:txBody>
          <a:bodyPr wrap="square" lIns="0" rIns="0" tIns="0" bIns="0" anchor="ctr">
            <a:noAutofit/>
          </a:bodyPr>
          <a:lstStyle/>
          <a:p>
            <a:pPr algn="ctr">
              <a:lnSpc>
                <a:spcPct val="100000"/>
              </a:lnSpc>
            </a:pPr>
            <a:r>
              <a:rPr sz="1900" b="1" spc="836">
                <a:solidFill>
                  <a:srgbClr val="9A7430"/>
                </a:solidFill>
                <a:latin typeface="Yu Gothic"/>
                <a:ea typeface="Yu Gothic"/>
                <a:cs typeface="Yu Gothic"/>
              </a:rPr>
              <a:t>TODAY'S THEME</a:t>
            </a:r>
          </a:p>
        </p:txBody>
      </p:sp>
      <p:sp>
        <p:nvSpPr>
          <p:cNvPr id="4" name="TextBox 3"/>
          <p:cNvSpPr txBox="1"/>
          <p:nvPr/>
        </p:nvSpPr>
        <p:spPr>
          <a:xfrm>
            <a:off x="660400" y="1308100"/>
            <a:ext cx="10871200" cy="990600"/>
          </a:xfrm>
          <a:prstGeom prst="rect">
            <a:avLst/>
          </a:prstGeom>
          <a:noFill/>
        </p:spPr>
        <p:txBody>
          <a:bodyPr wrap="square" lIns="0" rIns="0" tIns="0" bIns="0" anchor="ctr">
            <a:noAutofit/>
          </a:bodyPr>
          <a:lstStyle/>
          <a:p>
            <a:pPr algn="ctr">
              <a:lnSpc>
                <a:spcPct val="150000"/>
              </a:lnSpc>
            </a:pPr>
            <a:r>
              <a:rPr sz="2600" b="1">
                <a:solidFill>
                  <a:srgbClr val="4A6154"/>
                </a:solidFill>
                <a:latin typeface="Yu Gothic"/>
                <a:ea typeface="Yu Gothic"/>
                <a:cs typeface="Yu Gothic"/>
              </a:rPr>
              <a:t>茶師が考え尽くした設計があるのなら、</a:t>
            </a:r>
          </a:p>
          <a:p>
            <a:pPr algn="ctr">
              <a:lnSpc>
                <a:spcPct val="150000"/>
              </a:lnSpc>
            </a:pPr>
            <a:r>
              <a:rPr sz="2600" b="1">
                <a:solidFill>
                  <a:srgbClr val="4A6154"/>
                </a:solidFill>
                <a:latin typeface="Yu Gothic"/>
                <a:ea typeface="Yu Gothic"/>
                <a:cs typeface="Yu Gothic"/>
              </a:rPr>
              <a:t>奇をてらわず、普通に淹れるのが筋。</a:t>
            </a:r>
          </a:p>
        </p:txBody>
      </p:sp>
      <p:sp>
        <p:nvSpPr>
          <p:cNvPr id="5" name="TextBox 4"/>
          <p:cNvSpPr txBox="1"/>
          <p:nvPr/>
        </p:nvSpPr>
        <p:spPr>
          <a:xfrm>
            <a:off x="660400" y="2463800"/>
            <a:ext cx="10871200" cy="590550"/>
          </a:xfrm>
          <a:prstGeom prst="rect">
            <a:avLst/>
          </a:prstGeom>
          <a:noFill/>
        </p:spPr>
        <p:txBody>
          <a:bodyPr wrap="square" lIns="0" rIns="0" tIns="0" bIns="0" anchor="ctr">
            <a:noAutofit/>
          </a:bodyPr>
          <a:lstStyle/>
          <a:p>
            <a:pPr algn="ctr">
              <a:lnSpc>
                <a:spcPct val="120000"/>
              </a:lnSpc>
            </a:pPr>
            <a:r>
              <a:rPr sz="3100" b="1">
                <a:solidFill>
                  <a:srgbClr val="9A7430"/>
                </a:solidFill>
                <a:latin typeface="Yu Gothic"/>
                <a:ea typeface="Yu Gothic"/>
                <a:cs typeface="Yu Gothic"/>
              </a:rPr>
              <a:t>それでも、あえて。</a:t>
            </a:r>
          </a:p>
        </p:txBody>
      </p:sp>
      <p:sp>
        <p:nvSpPr>
          <p:cNvPr id="6" name="TextBox 5"/>
          <p:cNvSpPr txBox="1"/>
          <p:nvPr/>
        </p:nvSpPr>
        <p:spPr>
          <a:xfrm>
            <a:off x="660400" y="3206750"/>
            <a:ext cx="10871200" cy="1371600"/>
          </a:xfrm>
          <a:prstGeom prst="rect">
            <a:avLst/>
          </a:prstGeom>
          <a:noFill/>
        </p:spPr>
        <p:txBody>
          <a:bodyPr wrap="square" lIns="0" rIns="0" tIns="0" bIns="0" anchor="ctr">
            <a:noAutofit/>
          </a:bodyPr>
          <a:lstStyle/>
          <a:p>
            <a:pPr algn="ctr">
              <a:lnSpc>
                <a:spcPct val="135000"/>
              </a:lnSpc>
            </a:pPr>
            <a:r>
              <a:rPr sz="4000" b="1">
                <a:solidFill>
                  <a:srgbClr val="17372A"/>
                </a:solidFill>
                <a:latin typeface="Yu Gothic"/>
                <a:ea typeface="Yu Gothic"/>
                <a:cs typeface="Yu Gothic"/>
              </a:rPr>
              <a:t>二種類のお茶が</a:t>
            </a:r>
            <a:r>
              <a:rPr sz="4000" b="1">
                <a:solidFill>
                  <a:srgbClr val="17372A"/>
                </a:solidFill>
                <a:highlight>
                  <a:srgbClr val="D9C79B"/>
                </a:highlight>
                <a:latin typeface="Yu Gothic"/>
                <a:ea typeface="Yu Gothic"/>
                <a:cs typeface="Yu Gothic"/>
              </a:rPr>
              <a:t>含まれていると分かる</a:t>
            </a:r>
            <a:r>
              <a:rPr sz="4000" b="1">
                <a:solidFill>
                  <a:srgbClr val="17372A"/>
                </a:solidFill>
                <a:latin typeface="Yu Gothic"/>
                <a:ea typeface="Yu Gothic"/>
                <a:cs typeface="Yu Gothic"/>
              </a:rPr>
              <a:t>、</a:t>
            </a:r>
          </a:p>
          <a:p>
            <a:pPr algn="ctr">
              <a:lnSpc>
                <a:spcPct val="135000"/>
              </a:lnSpc>
            </a:pPr>
            <a:r>
              <a:rPr sz="4000" b="1">
                <a:solidFill>
                  <a:srgbClr val="17372A"/>
                </a:solidFill>
                <a:latin typeface="Yu Gothic"/>
                <a:ea typeface="Yu Gothic"/>
                <a:cs typeface="Yu Gothic"/>
              </a:rPr>
              <a:t>そんな一杯を作ってみる。</a:t>
            </a:r>
          </a:p>
        </p:txBody>
      </p:sp>
      <p:sp>
        <p:nvSpPr>
          <p:cNvPr id="7" name="TextBox 6"/>
          <p:cNvSpPr txBox="1"/>
          <p:nvPr/>
        </p:nvSpPr>
        <p:spPr>
          <a:xfrm>
            <a:off x="660400" y="4857750"/>
            <a:ext cx="10871200" cy="996950"/>
          </a:xfrm>
          <a:prstGeom prst="rect">
            <a:avLst/>
          </a:prstGeom>
          <a:noFill/>
        </p:spPr>
        <p:txBody>
          <a:bodyPr wrap="square" lIns="0" rIns="0" tIns="0" bIns="0" anchor="ctr">
            <a:noAutofit/>
          </a:bodyPr>
          <a:lstStyle/>
          <a:p>
            <a:pPr algn="ctr">
              <a:lnSpc>
                <a:spcPct val="145000"/>
              </a:lnSpc>
            </a:pPr>
            <a:r>
              <a:rPr sz="2700" b="1">
                <a:solidFill>
                  <a:srgbClr val="17372A"/>
                </a:solidFill>
                <a:latin typeface="Yu Gothic"/>
                <a:ea typeface="Yu Gothic"/>
                <a:cs typeface="Yu Gothic"/>
              </a:rPr>
              <a:t>淹れ手が狙いを持って、お茶を淹れる。</a:t>
            </a:r>
          </a:p>
          <a:p>
            <a:pPr algn="ctr">
              <a:lnSpc>
                <a:spcPct val="145000"/>
              </a:lnSpc>
            </a:pPr>
            <a:r>
              <a:rPr sz="2700" b="1">
                <a:solidFill>
                  <a:srgbClr val="17372A"/>
                </a:solidFill>
                <a:latin typeface="Yu Gothic"/>
                <a:ea typeface="Yu Gothic"/>
                <a:cs typeface="Yu Gothic"/>
              </a:rPr>
              <a:t>その</a:t>
            </a:r>
            <a:r>
              <a:rPr sz="2700" b="1">
                <a:solidFill>
                  <a:srgbClr val="17372A"/>
                </a:solidFill>
                <a:highlight>
                  <a:srgbClr val="D9C79B"/>
                </a:highlight>
                <a:latin typeface="Yu Gothic"/>
                <a:ea typeface="Yu Gothic"/>
                <a:cs typeface="Yu Gothic"/>
              </a:rPr>
              <a:t>プロセス自体</a:t>
            </a:r>
            <a:r>
              <a:rPr sz="2700" b="1">
                <a:solidFill>
                  <a:srgbClr val="17372A"/>
                </a:solidFill>
                <a:latin typeface="Yu Gothic"/>
                <a:ea typeface="Yu Gothic"/>
                <a:cs typeface="Yu Gothic"/>
              </a:rPr>
              <a:t>も、一緒に楽しんでいただけたら。</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3E8"/>
        </a:solidFill>
        <a:effectLst/>
      </p:bgPr>
    </p:bg>
    <p:spTree>
      <p:nvGrpSpPr>
        <p:cNvPr id="1" name=""/>
        <p:cNvGrpSpPr/>
        <p:nvPr/>
      </p:nvGrpSpPr>
      <p:grpSpPr/>
      <p:sp>
        <p:nvSpPr>
          <p:cNvPr id="2" name="Rectangle 1"/>
          <p:cNvSpPr/>
          <p:nvPr/>
        </p:nvSpPr>
        <p:spPr>
          <a:xfrm>
            <a:off x="292100" y="292100"/>
            <a:ext cx="11607800" cy="6184900"/>
          </a:xfrm>
          <a:prstGeom prst="rect">
            <a:avLst/>
          </a:prstGeom>
          <a:noFill/>
          <a:ln w="12700">
            <a:solidFill>
              <a:srgbClr val="CBB5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60400" y="469900"/>
            <a:ext cx="10871200" cy="304800"/>
          </a:xfrm>
          <a:prstGeom prst="rect">
            <a:avLst/>
          </a:prstGeom>
          <a:noFill/>
        </p:spPr>
        <p:txBody>
          <a:bodyPr wrap="square" lIns="0" rIns="0" tIns="0" bIns="0" anchor="ctr">
            <a:noAutofit/>
          </a:bodyPr>
          <a:lstStyle/>
          <a:p>
            <a:pPr algn="l">
              <a:lnSpc>
                <a:spcPct val="100000"/>
              </a:lnSpc>
            </a:pPr>
            <a:r>
              <a:rPr sz="1900" b="1" spc="836">
                <a:solidFill>
                  <a:srgbClr val="9A7430"/>
                </a:solidFill>
                <a:latin typeface="Yu Gothic"/>
                <a:ea typeface="Yu Gothic"/>
                <a:cs typeface="Yu Gothic"/>
              </a:rPr>
              <a:t>THE VARIABLES</a:t>
            </a:r>
          </a:p>
        </p:txBody>
      </p:sp>
      <p:sp>
        <p:nvSpPr>
          <p:cNvPr id="4" name="TextBox 3"/>
          <p:cNvSpPr txBox="1"/>
          <p:nvPr/>
        </p:nvSpPr>
        <p:spPr>
          <a:xfrm>
            <a:off x="660400" y="914400"/>
            <a:ext cx="10871200" cy="670560"/>
          </a:xfrm>
          <a:prstGeom prst="rect">
            <a:avLst/>
          </a:prstGeom>
          <a:noFill/>
        </p:spPr>
        <p:txBody>
          <a:bodyPr wrap="square" lIns="0" rIns="0" tIns="0" bIns="0" anchor="ctr">
            <a:noAutofit/>
          </a:bodyPr>
          <a:lstStyle/>
          <a:p>
            <a:pPr algn="l">
              <a:lnSpc>
                <a:spcPct val="120000"/>
              </a:lnSpc>
            </a:pPr>
            <a:r>
              <a:rPr sz="4400" b="1">
                <a:solidFill>
                  <a:srgbClr val="17372A"/>
                </a:solidFill>
                <a:latin typeface="Yu Gothic"/>
                <a:ea typeface="Yu Gothic"/>
                <a:cs typeface="Yu Gothic"/>
              </a:rPr>
              <a:t>淹れ手が動かせるのは、この4つ</a:t>
            </a:r>
          </a:p>
        </p:txBody>
      </p:sp>
      <p:sp>
        <p:nvSpPr>
          <p:cNvPr id="5" name="Rectangle 4"/>
          <p:cNvSpPr/>
          <p:nvPr/>
        </p:nvSpPr>
        <p:spPr>
          <a:xfrm>
            <a:off x="660400" y="1724660"/>
            <a:ext cx="1270000" cy="25400"/>
          </a:xfrm>
          <a:prstGeom prst="rect">
            <a:avLst/>
          </a:prstGeom>
          <a:solidFill>
            <a:srgbClr val="9A7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930400" y="1724660"/>
            <a:ext cx="9601200" cy="25400"/>
          </a:xfrm>
          <a:prstGeom prst="rect">
            <a:avLst/>
          </a:prstGeom>
          <a:solidFill>
            <a:srgbClr val="8A9A90">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5657850"/>
            <a:ext cx="10871200" cy="590550"/>
          </a:xfrm>
          <a:prstGeom prst="rect">
            <a:avLst/>
          </a:prstGeom>
          <a:noFill/>
        </p:spPr>
        <p:txBody>
          <a:bodyPr wrap="square" lIns="0" rIns="0" tIns="0" bIns="0" anchor="ctr">
            <a:noAutofit/>
          </a:bodyPr>
          <a:lstStyle/>
          <a:p>
            <a:pPr algn="ctr">
              <a:lnSpc>
                <a:spcPct val="145000"/>
              </a:lnSpc>
            </a:pPr>
            <a:r>
              <a:rPr sz="3200" b="1">
                <a:solidFill>
                  <a:srgbClr val="17372A"/>
                </a:solidFill>
                <a:latin typeface="Yu Gothic"/>
                <a:ea typeface="Yu Gothic"/>
                <a:cs typeface="Yu Gothic"/>
              </a:rPr>
              <a:t>茶葉にない味は作れない。</a:t>
            </a:r>
            <a:r>
              <a:rPr sz="3200" b="1">
                <a:solidFill>
                  <a:srgbClr val="17372A"/>
                </a:solidFill>
                <a:highlight>
                  <a:srgbClr val="D9C79B"/>
                </a:highlight>
                <a:latin typeface="Yu Gothic"/>
                <a:ea typeface="Yu Gothic"/>
                <a:cs typeface="Yu Gothic"/>
              </a:rPr>
              <a:t>表れ方を変えられる。</a:t>
            </a:r>
          </a:p>
        </p:txBody>
      </p:sp>
      <p:sp>
        <p:nvSpPr>
          <p:cNvPr id="8" name="Rounded Rectangle 7"/>
          <p:cNvSpPr/>
          <p:nvPr/>
        </p:nvSpPr>
        <p:spPr>
          <a:xfrm>
            <a:off x="660400" y="2101850"/>
            <a:ext cx="2571750" cy="3448050"/>
          </a:xfrm>
          <a:prstGeom prst="roundRect">
            <a:avLst>
              <a:gd name="adj" fmla="val 2469"/>
            </a:avLst>
          </a:prstGeom>
          <a:solidFill>
            <a:srgbClr val="FFFFFF"/>
          </a:solidFill>
          <a:ln w="25400">
            <a:solidFill>
              <a:srgbClr val="8A9A9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60400" y="2254250"/>
            <a:ext cx="2571750" cy="361950"/>
          </a:xfrm>
          <a:prstGeom prst="rect">
            <a:avLst/>
          </a:prstGeom>
          <a:noFill/>
        </p:spPr>
        <p:txBody>
          <a:bodyPr wrap="square" lIns="0" rIns="0" tIns="0" bIns="0" anchor="ctr">
            <a:noAutofit/>
          </a:bodyPr>
          <a:lstStyle/>
          <a:p>
            <a:pPr algn="ctr">
              <a:lnSpc>
                <a:spcPct val="100000"/>
              </a:lnSpc>
            </a:pPr>
            <a:r>
              <a:rPr sz="1900" b="1" spc="227">
                <a:solidFill>
                  <a:srgbClr val="4A6154"/>
                </a:solidFill>
                <a:latin typeface="Yu Gothic"/>
                <a:ea typeface="Yu Gothic"/>
                <a:cs typeface="Yu Gothic"/>
              </a:rPr>
              <a:t>湯量</a:t>
            </a:r>
          </a:p>
        </p:txBody>
      </p:sp>
      <p:sp>
        <p:nvSpPr>
          <p:cNvPr id="10" name="Rounded Rectangle 9"/>
          <p:cNvSpPr/>
          <p:nvPr/>
        </p:nvSpPr>
        <p:spPr>
          <a:xfrm>
            <a:off x="1625600" y="2768600"/>
            <a:ext cx="635000" cy="1397000"/>
          </a:xfrm>
          <a:prstGeom prst="roundRect">
            <a:avLst>
              <a:gd name="adj" fmla="val 14000"/>
            </a:avLst>
          </a:prstGeom>
          <a:noFill/>
          <a:ln w="31750">
            <a:solidFill>
              <a:srgbClr val="1737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651000" y="3308350"/>
            <a:ext cx="584200" cy="831850"/>
          </a:xfrm>
          <a:prstGeom prst="rect">
            <a:avLst/>
          </a:prstGeom>
          <a:solidFill>
            <a:srgbClr val="8A9A90">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1651000" y="3289300"/>
            <a:ext cx="584200" cy="38100"/>
          </a:xfrm>
          <a:prstGeom prst="rect">
            <a:avLst/>
          </a:prstGeom>
          <a:solidFill>
            <a:srgbClr val="9A7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070100" y="3625850"/>
            <a:ext cx="165100" cy="25400"/>
          </a:xfrm>
          <a:prstGeom prst="rect">
            <a:avLst/>
          </a:prstGeom>
          <a:solidFill>
            <a:srgbClr val="8A9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2070100" y="3848100"/>
            <a:ext cx="165100" cy="25400"/>
          </a:xfrm>
          <a:prstGeom prst="rect">
            <a:avLst/>
          </a:prstGeom>
          <a:solidFill>
            <a:srgbClr val="8A9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070100" y="4070350"/>
            <a:ext cx="165100" cy="25400"/>
          </a:xfrm>
          <a:prstGeom prst="rect">
            <a:avLst/>
          </a:prstGeom>
          <a:solidFill>
            <a:srgbClr val="8A9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60400" y="4318000"/>
            <a:ext cx="2571750" cy="469900"/>
          </a:xfrm>
          <a:prstGeom prst="rect">
            <a:avLst/>
          </a:prstGeom>
          <a:noFill/>
        </p:spPr>
        <p:txBody>
          <a:bodyPr wrap="none" lIns="0" rIns="0" tIns="0" bIns="0" anchor="ctr">
            <a:noAutofit/>
          </a:bodyPr>
          <a:lstStyle/>
          <a:p>
            <a:pPr algn="ctr">
              <a:lnSpc>
                <a:spcPct val="105000"/>
              </a:lnSpc>
            </a:pPr>
            <a:r>
              <a:rPr sz="3500" b="1">
                <a:solidFill>
                  <a:srgbClr val="17372A"/>
                </a:solidFill>
                <a:latin typeface="Yu Gothic"/>
                <a:ea typeface="Yu Gothic"/>
                <a:cs typeface="Yu Gothic"/>
              </a:rPr>
              <a:t>200</a:t>
            </a:r>
            <a:r>
              <a:rPr sz="1575" b="1">
                <a:solidFill>
                  <a:srgbClr val="17372A"/>
                </a:solidFill>
                <a:latin typeface="Yu Gothic"/>
                <a:ea typeface="Yu Gothic"/>
                <a:cs typeface="Yu Gothic"/>
              </a:rPr>
              <a:t>mL</a:t>
            </a:r>
          </a:p>
        </p:txBody>
      </p:sp>
      <p:sp>
        <p:nvSpPr>
          <p:cNvPr id="17" name="TextBox 16"/>
          <p:cNvSpPr txBox="1"/>
          <p:nvPr/>
        </p:nvSpPr>
        <p:spPr>
          <a:xfrm>
            <a:off x="660400" y="4838700"/>
            <a:ext cx="2571750" cy="266700"/>
          </a:xfrm>
          <a:prstGeom prst="rect">
            <a:avLst/>
          </a:prstGeom>
          <a:noFill/>
        </p:spPr>
        <p:txBody>
          <a:bodyPr wrap="square" lIns="0" rIns="0" tIns="0" bIns="0" anchor="ctr">
            <a:noAutofit/>
          </a:bodyPr>
          <a:lstStyle/>
          <a:p>
            <a:pPr algn="ctr">
              <a:lnSpc>
                <a:spcPct val="130000"/>
              </a:lnSpc>
            </a:pPr>
            <a:r>
              <a:rPr sz="1600" b="1">
                <a:solidFill>
                  <a:srgbClr val="4A6154"/>
                </a:solidFill>
                <a:latin typeface="Yu Gothic"/>
                <a:ea typeface="Yu Gothic"/>
                <a:cs typeface="Yu Gothic"/>
              </a:rPr>
              <a:t>1椀40mL × 5碗</a:t>
            </a:r>
          </a:p>
        </p:txBody>
      </p:sp>
      <p:sp>
        <p:nvSpPr>
          <p:cNvPr id="18" name="TextBox 17"/>
          <p:cNvSpPr txBox="1"/>
          <p:nvPr/>
        </p:nvSpPr>
        <p:spPr>
          <a:xfrm>
            <a:off x="660400" y="5156200"/>
            <a:ext cx="2571750" cy="241300"/>
          </a:xfrm>
          <a:prstGeom prst="rect">
            <a:avLst/>
          </a:prstGeom>
          <a:noFill/>
        </p:spPr>
        <p:txBody>
          <a:bodyPr wrap="square" lIns="0" rIns="0" tIns="0" bIns="0" anchor="ctr">
            <a:noAutofit/>
          </a:bodyPr>
          <a:lstStyle/>
          <a:p>
            <a:pPr algn="ctr">
              <a:lnSpc>
                <a:spcPct val="100000"/>
              </a:lnSpc>
            </a:pPr>
            <a:r>
              <a:rPr sz="1500" b="1" spc="179">
                <a:solidFill>
                  <a:srgbClr val="8A9A90"/>
                </a:solidFill>
                <a:latin typeface="Yu Gothic"/>
                <a:ea typeface="Yu Gothic"/>
                <a:cs typeface="Yu Gothic"/>
              </a:rPr>
              <a:t>今回は固定</a:t>
            </a:r>
          </a:p>
        </p:txBody>
      </p:sp>
      <p:sp>
        <p:nvSpPr>
          <p:cNvPr id="19" name="Rounded Rectangle 18"/>
          <p:cNvSpPr/>
          <p:nvPr/>
        </p:nvSpPr>
        <p:spPr>
          <a:xfrm>
            <a:off x="3422650" y="2101850"/>
            <a:ext cx="2571750" cy="3448050"/>
          </a:xfrm>
          <a:prstGeom prst="roundRect">
            <a:avLst>
              <a:gd name="adj" fmla="val 2469"/>
            </a:avLst>
          </a:prstGeom>
          <a:solidFill>
            <a:srgbClr val="FFFFFF"/>
          </a:solidFill>
          <a:ln w="25400">
            <a:solidFill>
              <a:srgbClr val="8A9A9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422650" y="2254250"/>
            <a:ext cx="2571750" cy="361950"/>
          </a:xfrm>
          <a:prstGeom prst="rect">
            <a:avLst/>
          </a:prstGeom>
          <a:noFill/>
        </p:spPr>
        <p:txBody>
          <a:bodyPr wrap="square" lIns="0" rIns="0" tIns="0" bIns="0" anchor="ctr">
            <a:noAutofit/>
          </a:bodyPr>
          <a:lstStyle/>
          <a:p>
            <a:pPr algn="ctr">
              <a:lnSpc>
                <a:spcPct val="100000"/>
              </a:lnSpc>
            </a:pPr>
            <a:r>
              <a:rPr sz="1900" b="1" spc="227">
                <a:solidFill>
                  <a:srgbClr val="4A6154"/>
                </a:solidFill>
                <a:latin typeface="Yu Gothic"/>
                <a:ea typeface="Yu Gothic"/>
                <a:cs typeface="Yu Gothic"/>
              </a:rPr>
              <a:t>茶葉量</a:t>
            </a:r>
          </a:p>
        </p:txBody>
      </p:sp>
      <p:sp>
        <p:nvSpPr>
          <p:cNvPr id="21" name="Pie 20"/>
          <p:cNvSpPr/>
          <p:nvPr/>
        </p:nvSpPr>
        <p:spPr>
          <a:xfrm>
            <a:off x="4229100" y="3117850"/>
            <a:ext cx="952500" cy="952500"/>
          </a:xfrm>
          <a:prstGeom prst="pie">
            <a:avLst>
              <a:gd name="adj1" fmla="val 0"/>
              <a:gd name="adj2" fmla="val 10800000"/>
            </a:avLst>
          </a:prstGeom>
          <a:solidFill>
            <a:srgbClr val="20402F"/>
          </a:solidFill>
          <a:ln w="31750">
            <a:solidFill>
              <a:srgbClr val="1737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21150" y="3575050"/>
            <a:ext cx="1168400" cy="31750"/>
          </a:xfrm>
          <a:prstGeom prst="rect">
            <a:avLst/>
          </a:prstGeom>
          <a:solidFill>
            <a:srgbClr val="173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422650" y="4318000"/>
            <a:ext cx="2571750" cy="469900"/>
          </a:xfrm>
          <a:prstGeom prst="rect">
            <a:avLst/>
          </a:prstGeom>
          <a:noFill/>
        </p:spPr>
        <p:txBody>
          <a:bodyPr wrap="none" lIns="0" rIns="0" tIns="0" bIns="0" anchor="ctr">
            <a:noAutofit/>
          </a:bodyPr>
          <a:lstStyle/>
          <a:p>
            <a:pPr algn="ctr">
              <a:lnSpc>
                <a:spcPct val="105000"/>
              </a:lnSpc>
            </a:pPr>
            <a:r>
              <a:rPr sz="3500" b="1">
                <a:solidFill>
                  <a:srgbClr val="17372A"/>
                </a:solidFill>
                <a:latin typeface="Yu Gothic"/>
                <a:ea typeface="Yu Gothic"/>
                <a:cs typeface="Yu Gothic"/>
              </a:rPr>
              <a:t>7</a:t>
            </a:r>
            <a:r>
              <a:rPr sz="1575" b="1">
                <a:solidFill>
                  <a:srgbClr val="17372A"/>
                </a:solidFill>
                <a:latin typeface="Yu Gothic"/>
                <a:ea typeface="Yu Gothic"/>
                <a:cs typeface="Yu Gothic"/>
              </a:rPr>
              <a:t>g</a:t>
            </a:r>
          </a:p>
        </p:txBody>
      </p:sp>
      <p:sp>
        <p:nvSpPr>
          <p:cNvPr id="24" name="TextBox 23"/>
          <p:cNvSpPr txBox="1"/>
          <p:nvPr/>
        </p:nvSpPr>
        <p:spPr>
          <a:xfrm>
            <a:off x="3422650" y="4838700"/>
            <a:ext cx="2571750" cy="266700"/>
          </a:xfrm>
          <a:prstGeom prst="rect">
            <a:avLst/>
          </a:prstGeom>
          <a:noFill/>
        </p:spPr>
        <p:txBody>
          <a:bodyPr wrap="square" lIns="0" rIns="0" tIns="0" bIns="0" anchor="ctr">
            <a:noAutofit/>
          </a:bodyPr>
          <a:lstStyle/>
          <a:p>
            <a:pPr algn="ctr">
              <a:lnSpc>
                <a:spcPct val="130000"/>
              </a:lnSpc>
            </a:pPr>
            <a:r>
              <a:rPr sz="1600" b="1">
                <a:solidFill>
                  <a:srgbClr val="4A6154"/>
                </a:solidFill>
                <a:latin typeface="Yu Gothic"/>
                <a:ea typeface="Yu Gothic"/>
                <a:cs typeface="Yu Gothic"/>
              </a:rPr>
              <a:t>湯量に対して決まる</a:t>
            </a:r>
          </a:p>
        </p:txBody>
      </p:sp>
      <p:sp>
        <p:nvSpPr>
          <p:cNvPr id="25" name="TextBox 24"/>
          <p:cNvSpPr txBox="1"/>
          <p:nvPr/>
        </p:nvSpPr>
        <p:spPr>
          <a:xfrm>
            <a:off x="3422650" y="5156200"/>
            <a:ext cx="2571750" cy="241300"/>
          </a:xfrm>
          <a:prstGeom prst="rect">
            <a:avLst/>
          </a:prstGeom>
          <a:noFill/>
        </p:spPr>
        <p:txBody>
          <a:bodyPr wrap="square" lIns="0" rIns="0" tIns="0" bIns="0" anchor="ctr">
            <a:noAutofit/>
          </a:bodyPr>
          <a:lstStyle/>
          <a:p>
            <a:pPr algn="ctr">
              <a:lnSpc>
                <a:spcPct val="100000"/>
              </a:lnSpc>
            </a:pPr>
            <a:r>
              <a:rPr sz="1500" b="1" spc="179">
                <a:solidFill>
                  <a:srgbClr val="8A9A90"/>
                </a:solidFill>
                <a:latin typeface="Yu Gothic"/>
                <a:ea typeface="Yu Gothic"/>
                <a:cs typeface="Yu Gothic"/>
              </a:rPr>
              <a:t>今回は固定</a:t>
            </a:r>
          </a:p>
        </p:txBody>
      </p:sp>
      <p:sp>
        <p:nvSpPr>
          <p:cNvPr id="26" name="Rounded Rectangle 25"/>
          <p:cNvSpPr/>
          <p:nvPr/>
        </p:nvSpPr>
        <p:spPr>
          <a:xfrm>
            <a:off x="6184900" y="2101850"/>
            <a:ext cx="2571750" cy="3448050"/>
          </a:xfrm>
          <a:prstGeom prst="roundRect">
            <a:avLst>
              <a:gd name="adj" fmla="val 2469"/>
            </a:avLst>
          </a:prstGeom>
          <a:solidFill>
            <a:srgbClr val="FFFFFF"/>
          </a:solidFill>
          <a:ln w="38100">
            <a:solidFill>
              <a:srgbClr val="9A743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184900" y="2254250"/>
            <a:ext cx="2571750" cy="361950"/>
          </a:xfrm>
          <a:prstGeom prst="rect">
            <a:avLst/>
          </a:prstGeom>
          <a:noFill/>
        </p:spPr>
        <p:txBody>
          <a:bodyPr wrap="square" lIns="0" rIns="0" tIns="0" bIns="0" anchor="ctr">
            <a:noAutofit/>
          </a:bodyPr>
          <a:lstStyle/>
          <a:p>
            <a:pPr algn="ctr">
              <a:lnSpc>
                <a:spcPct val="100000"/>
              </a:lnSpc>
            </a:pPr>
            <a:r>
              <a:rPr sz="1900" b="1" spc="227">
                <a:solidFill>
                  <a:srgbClr val="9A7430"/>
                </a:solidFill>
                <a:latin typeface="Yu Gothic"/>
                <a:ea typeface="Yu Gothic"/>
                <a:cs typeface="Yu Gothic"/>
              </a:rPr>
              <a:t>温度</a:t>
            </a:r>
          </a:p>
        </p:txBody>
      </p:sp>
      <p:sp>
        <p:nvSpPr>
          <p:cNvPr id="28" name="Rounded Rectangle 27"/>
          <p:cNvSpPr/>
          <p:nvPr/>
        </p:nvSpPr>
        <p:spPr>
          <a:xfrm>
            <a:off x="7366000" y="2768600"/>
            <a:ext cx="203200" cy="1111250"/>
          </a:xfrm>
          <a:prstGeom prst="roundRect">
            <a:avLst>
              <a:gd name="adj" fmla="val 50000"/>
            </a:avLst>
          </a:prstGeom>
          <a:solidFill>
            <a:srgbClr val="FFFFFF"/>
          </a:solidFill>
          <a:ln w="31750">
            <a:solidFill>
              <a:srgbClr val="1737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7404100" y="3371850"/>
            <a:ext cx="127000" cy="495300"/>
          </a:xfrm>
          <a:prstGeom prst="rect">
            <a:avLst/>
          </a:prstGeom>
          <a:solidFill>
            <a:srgbClr val="1F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7404100" y="2940050"/>
            <a:ext cx="127000" cy="431800"/>
          </a:xfrm>
          <a:prstGeom prst="rect">
            <a:avLst/>
          </a:prstGeom>
          <a:solidFill>
            <a:srgbClr val="B44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7277100" y="3708400"/>
            <a:ext cx="381000" cy="381000"/>
          </a:xfrm>
          <a:prstGeom prst="ellipse">
            <a:avLst/>
          </a:prstGeom>
          <a:solidFill>
            <a:srgbClr val="1F6E96"/>
          </a:solidFill>
          <a:ln w="31750">
            <a:solidFill>
              <a:srgbClr val="1737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7607300" y="3359150"/>
            <a:ext cx="165100" cy="31750"/>
          </a:xfrm>
          <a:prstGeom prst="rect">
            <a:avLst/>
          </a:prstGeom>
          <a:solidFill>
            <a:srgbClr val="1F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607300" y="2927350"/>
            <a:ext cx="165100" cy="31750"/>
          </a:xfrm>
          <a:prstGeom prst="rect">
            <a:avLst/>
          </a:prstGeom>
          <a:solidFill>
            <a:srgbClr val="B44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184900" y="4318000"/>
            <a:ext cx="2571750" cy="469900"/>
          </a:xfrm>
          <a:prstGeom prst="rect">
            <a:avLst/>
          </a:prstGeom>
          <a:noFill/>
        </p:spPr>
        <p:txBody>
          <a:bodyPr wrap="none" lIns="0" rIns="0" tIns="0" bIns="0" anchor="ctr">
            <a:noAutofit/>
          </a:bodyPr>
          <a:lstStyle/>
          <a:p>
            <a:pPr algn="ctr">
              <a:lnSpc>
                <a:spcPct val="105000"/>
              </a:lnSpc>
            </a:pPr>
            <a:r>
              <a:rPr sz="3500" b="1">
                <a:solidFill>
                  <a:srgbClr val="17372A"/>
                </a:solidFill>
                <a:latin typeface="Yu Gothic"/>
                <a:ea typeface="Yu Gothic"/>
                <a:cs typeface="Yu Gothic"/>
              </a:rPr>
              <a:t>50 / 90</a:t>
            </a:r>
            <a:r>
              <a:rPr sz="1575" b="1">
                <a:solidFill>
                  <a:srgbClr val="17372A"/>
                </a:solidFill>
                <a:latin typeface="Yu Gothic"/>
                <a:ea typeface="Yu Gothic"/>
                <a:cs typeface="Yu Gothic"/>
              </a:rPr>
              <a:t>℃</a:t>
            </a:r>
          </a:p>
        </p:txBody>
      </p:sp>
      <p:sp>
        <p:nvSpPr>
          <p:cNvPr id="35" name="TextBox 34"/>
          <p:cNvSpPr txBox="1"/>
          <p:nvPr/>
        </p:nvSpPr>
        <p:spPr>
          <a:xfrm>
            <a:off x="6184900" y="4838700"/>
            <a:ext cx="2571750" cy="266700"/>
          </a:xfrm>
          <a:prstGeom prst="rect">
            <a:avLst/>
          </a:prstGeom>
          <a:noFill/>
        </p:spPr>
        <p:txBody>
          <a:bodyPr wrap="square" lIns="0" rIns="0" tIns="0" bIns="0" anchor="ctr">
            <a:noAutofit/>
          </a:bodyPr>
          <a:lstStyle/>
          <a:p>
            <a:pPr algn="ctr">
              <a:lnSpc>
                <a:spcPct val="130000"/>
              </a:lnSpc>
            </a:pPr>
            <a:r>
              <a:rPr sz="1600" b="1">
                <a:solidFill>
                  <a:srgbClr val="4A6154"/>
                </a:solidFill>
                <a:latin typeface="Yu Gothic"/>
                <a:ea typeface="Yu Gothic"/>
                <a:cs typeface="Yu Gothic"/>
              </a:rPr>
              <a:t>2種類の湯を使い分ける</a:t>
            </a:r>
          </a:p>
        </p:txBody>
      </p:sp>
      <p:sp>
        <p:nvSpPr>
          <p:cNvPr id="36" name="TextBox 35"/>
          <p:cNvSpPr txBox="1"/>
          <p:nvPr/>
        </p:nvSpPr>
        <p:spPr>
          <a:xfrm>
            <a:off x="6184900" y="5156200"/>
            <a:ext cx="2571750" cy="241300"/>
          </a:xfrm>
          <a:prstGeom prst="rect">
            <a:avLst/>
          </a:prstGeom>
          <a:noFill/>
        </p:spPr>
        <p:txBody>
          <a:bodyPr wrap="square" lIns="0" rIns="0" tIns="0" bIns="0" anchor="ctr">
            <a:noAutofit/>
          </a:bodyPr>
          <a:lstStyle/>
          <a:p>
            <a:pPr algn="ctr">
              <a:lnSpc>
                <a:spcPct val="100000"/>
              </a:lnSpc>
            </a:pPr>
            <a:r>
              <a:rPr sz="1500" b="1" spc="179">
                <a:solidFill>
                  <a:srgbClr val="9A7430"/>
                </a:solidFill>
                <a:latin typeface="Yu Gothic"/>
                <a:ea typeface="Yu Gothic"/>
                <a:cs typeface="Yu Gothic"/>
              </a:rPr>
              <a:t>今回動かす</a:t>
            </a:r>
          </a:p>
        </p:txBody>
      </p:sp>
      <p:sp>
        <p:nvSpPr>
          <p:cNvPr id="37" name="Rounded Rectangle 36"/>
          <p:cNvSpPr/>
          <p:nvPr/>
        </p:nvSpPr>
        <p:spPr>
          <a:xfrm>
            <a:off x="8947150" y="2101850"/>
            <a:ext cx="2571750" cy="3448050"/>
          </a:xfrm>
          <a:prstGeom prst="roundRect">
            <a:avLst>
              <a:gd name="adj" fmla="val 2469"/>
            </a:avLst>
          </a:prstGeom>
          <a:solidFill>
            <a:srgbClr val="FFFFFF"/>
          </a:solidFill>
          <a:ln w="38100">
            <a:solidFill>
              <a:srgbClr val="9A743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947150" y="2254250"/>
            <a:ext cx="2571750" cy="361950"/>
          </a:xfrm>
          <a:prstGeom prst="rect">
            <a:avLst/>
          </a:prstGeom>
          <a:noFill/>
        </p:spPr>
        <p:txBody>
          <a:bodyPr wrap="square" lIns="0" rIns="0" tIns="0" bIns="0" anchor="ctr">
            <a:noAutofit/>
          </a:bodyPr>
          <a:lstStyle/>
          <a:p>
            <a:pPr algn="ctr">
              <a:lnSpc>
                <a:spcPct val="100000"/>
              </a:lnSpc>
            </a:pPr>
            <a:r>
              <a:rPr sz="1900" b="1" spc="227">
                <a:solidFill>
                  <a:srgbClr val="9A7430"/>
                </a:solidFill>
                <a:latin typeface="Yu Gothic"/>
                <a:ea typeface="Yu Gothic"/>
                <a:cs typeface="Yu Gothic"/>
              </a:rPr>
              <a:t>時間</a:t>
            </a:r>
          </a:p>
        </p:txBody>
      </p:sp>
      <p:sp>
        <p:nvSpPr>
          <p:cNvPr id="39" name="Donut 38"/>
          <p:cNvSpPr/>
          <p:nvPr/>
        </p:nvSpPr>
        <p:spPr>
          <a:xfrm>
            <a:off x="9753600" y="2895600"/>
            <a:ext cx="952500" cy="952500"/>
          </a:xfrm>
          <a:prstGeom prst="donut">
            <a:avLst>
              <a:gd name="adj" fmla="val 15000"/>
            </a:avLst>
          </a:prstGeom>
          <a:solidFill>
            <a:srgbClr val="1F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Donut 39"/>
          <p:cNvSpPr/>
          <p:nvPr/>
        </p:nvSpPr>
        <p:spPr>
          <a:xfrm>
            <a:off x="9925050" y="3067050"/>
            <a:ext cx="609600" cy="609600"/>
          </a:xfrm>
          <a:prstGeom prst="donut">
            <a:avLst>
              <a:gd name="adj" fmla="val 17500"/>
            </a:avLst>
          </a:prstGeom>
          <a:solidFill>
            <a:srgbClr val="8A9A90">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Pie 40"/>
          <p:cNvSpPr/>
          <p:nvPr/>
        </p:nvSpPr>
        <p:spPr>
          <a:xfrm>
            <a:off x="9925050" y="3067050"/>
            <a:ext cx="609600" cy="609600"/>
          </a:xfrm>
          <a:prstGeom prst="pie">
            <a:avLst>
              <a:gd name="adj1" fmla="val 16200000"/>
              <a:gd name="adj2" fmla="val 19800000"/>
            </a:avLst>
          </a:prstGeom>
          <a:solidFill>
            <a:srgbClr val="B44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10033000" y="3175000"/>
            <a:ext cx="393700" cy="3937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947150" y="4318000"/>
            <a:ext cx="2571750" cy="469900"/>
          </a:xfrm>
          <a:prstGeom prst="rect">
            <a:avLst/>
          </a:prstGeom>
          <a:noFill/>
        </p:spPr>
        <p:txBody>
          <a:bodyPr wrap="none" lIns="0" rIns="0" tIns="0" bIns="0" anchor="ctr">
            <a:noAutofit/>
          </a:bodyPr>
          <a:lstStyle/>
          <a:p>
            <a:pPr algn="ctr">
              <a:lnSpc>
                <a:spcPct val="105000"/>
              </a:lnSpc>
            </a:pPr>
            <a:r>
              <a:rPr sz="3500" b="1">
                <a:solidFill>
                  <a:srgbClr val="17372A"/>
                </a:solidFill>
                <a:latin typeface="Yu Gothic"/>
                <a:ea typeface="Yu Gothic"/>
                <a:cs typeface="Yu Gothic"/>
              </a:rPr>
              <a:t>60 / 10</a:t>
            </a:r>
            <a:r>
              <a:rPr sz="1575" b="1">
                <a:solidFill>
                  <a:srgbClr val="17372A"/>
                </a:solidFill>
                <a:latin typeface="Yu Gothic"/>
                <a:ea typeface="Yu Gothic"/>
                <a:cs typeface="Yu Gothic"/>
              </a:rPr>
              <a:t>秒</a:t>
            </a:r>
          </a:p>
        </p:txBody>
      </p:sp>
      <p:sp>
        <p:nvSpPr>
          <p:cNvPr id="44" name="TextBox 43"/>
          <p:cNvSpPr txBox="1"/>
          <p:nvPr/>
        </p:nvSpPr>
        <p:spPr>
          <a:xfrm>
            <a:off x="8947150" y="4838700"/>
            <a:ext cx="2571750" cy="266700"/>
          </a:xfrm>
          <a:prstGeom prst="rect">
            <a:avLst/>
          </a:prstGeom>
          <a:noFill/>
        </p:spPr>
        <p:txBody>
          <a:bodyPr wrap="square" lIns="0" rIns="0" tIns="0" bIns="0" anchor="ctr">
            <a:noAutofit/>
          </a:bodyPr>
          <a:lstStyle/>
          <a:p>
            <a:pPr algn="ctr">
              <a:lnSpc>
                <a:spcPct val="130000"/>
              </a:lnSpc>
            </a:pPr>
            <a:r>
              <a:rPr sz="1600" b="1">
                <a:solidFill>
                  <a:srgbClr val="4A6154"/>
                </a:solidFill>
                <a:latin typeface="Yu Gothic"/>
                <a:ea typeface="Yu Gothic"/>
                <a:cs typeface="Yu Gothic"/>
              </a:rPr>
              <a:t>どの湯に、何秒浸すか</a:t>
            </a:r>
          </a:p>
        </p:txBody>
      </p:sp>
      <p:sp>
        <p:nvSpPr>
          <p:cNvPr id="45" name="TextBox 44"/>
          <p:cNvSpPr txBox="1"/>
          <p:nvPr/>
        </p:nvSpPr>
        <p:spPr>
          <a:xfrm>
            <a:off x="8947150" y="5156200"/>
            <a:ext cx="2571750" cy="241300"/>
          </a:xfrm>
          <a:prstGeom prst="rect">
            <a:avLst/>
          </a:prstGeom>
          <a:noFill/>
        </p:spPr>
        <p:txBody>
          <a:bodyPr wrap="square" lIns="0" rIns="0" tIns="0" bIns="0" anchor="ctr">
            <a:noAutofit/>
          </a:bodyPr>
          <a:lstStyle/>
          <a:p>
            <a:pPr algn="ctr">
              <a:lnSpc>
                <a:spcPct val="100000"/>
              </a:lnSpc>
            </a:pPr>
            <a:r>
              <a:rPr sz="1500" b="1" spc="179">
                <a:solidFill>
                  <a:srgbClr val="9A7430"/>
                </a:solidFill>
                <a:latin typeface="Yu Gothic"/>
                <a:ea typeface="Yu Gothic"/>
                <a:cs typeface="Yu Gothic"/>
              </a:rPr>
              <a:t>今回動かす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3E8"/>
        </a:solidFill>
        <a:effectLst/>
      </p:bgPr>
    </p:bg>
    <p:spTree>
      <p:nvGrpSpPr>
        <p:cNvPr id="1" name=""/>
        <p:cNvGrpSpPr/>
        <p:nvPr/>
      </p:nvGrpSpPr>
      <p:grpSpPr/>
      <p:sp>
        <p:nvSpPr>
          <p:cNvPr id="2" name="Rectangle 1"/>
          <p:cNvSpPr/>
          <p:nvPr/>
        </p:nvSpPr>
        <p:spPr>
          <a:xfrm>
            <a:off x="292100" y="292100"/>
            <a:ext cx="11607800" cy="6184900"/>
          </a:xfrm>
          <a:prstGeom prst="rect">
            <a:avLst/>
          </a:prstGeom>
          <a:noFill/>
          <a:ln w="12700">
            <a:solidFill>
              <a:srgbClr val="CBB5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60400" y="469900"/>
            <a:ext cx="10871200" cy="304800"/>
          </a:xfrm>
          <a:prstGeom prst="rect">
            <a:avLst/>
          </a:prstGeom>
          <a:noFill/>
        </p:spPr>
        <p:txBody>
          <a:bodyPr wrap="square" lIns="0" rIns="0" tIns="0" bIns="0" anchor="ctr">
            <a:noAutofit/>
          </a:bodyPr>
          <a:lstStyle/>
          <a:p>
            <a:pPr algn="l">
              <a:lnSpc>
                <a:spcPct val="100000"/>
              </a:lnSpc>
            </a:pPr>
            <a:r>
              <a:rPr sz="1900" b="1" spc="836">
                <a:solidFill>
                  <a:srgbClr val="9A7430"/>
                </a:solidFill>
                <a:latin typeface="Yu Gothic"/>
                <a:ea typeface="Yu Gothic"/>
                <a:cs typeface="Yu Gothic"/>
              </a:rPr>
              <a:t>THE FIRST BREW</a:t>
            </a:r>
          </a:p>
        </p:txBody>
      </p:sp>
      <p:sp>
        <p:nvSpPr>
          <p:cNvPr id="4" name="TextBox 3"/>
          <p:cNvSpPr txBox="1"/>
          <p:nvPr/>
        </p:nvSpPr>
        <p:spPr>
          <a:xfrm>
            <a:off x="660400" y="914400"/>
            <a:ext cx="10871200" cy="670560"/>
          </a:xfrm>
          <a:prstGeom prst="rect">
            <a:avLst/>
          </a:prstGeom>
          <a:noFill/>
        </p:spPr>
        <p:txBody>
          <a:bodyPr wrap="square" lIns="0" rIns="0" tIns="0" bIns="0" anchor="ctr">
            <a:noAutofit/>
          </a:bodyPr>
          <a:lstStyle/>
          <a:p>
            <a:pPr algn="l">
              <a:lnSpc>
                <a:spcPct val="120000"/>
              </a:lnSpc>
            </a:pPr>
            <a:r>
              <a:rPr sz="4400" b="1">
                <a:solidFill>
                  <a:srgbClr val="17372A"/>
                </a:solidFill>
                <a:latin typeface="Yu Gothic"/>
                <a:ea typeface="Yu Gothic"/>
                <a:cs typeface="Yu Gothic"/>
              </a:rPr>
              <a:t>一煎目</a:t>
            </a:r>
          </a:p>
        </p:txBody>
      </p:sp>
      <p:sp>
        <p:nvSpPr>
          <p:cNvPr id="5" name="Rectangle 4"/>
          <p:cNvSpPr/>
          <p:nvPr/>
        </p:nvSpPr>
        <p:spPr>
          <a:xfrm>
            <a:off x="660400" y="1724660"/>
            <a:ext cx="1270000" cy="25400"/>
          </a:xfrm>
          <a:prstGeom prst="rect">
            <a:avLst/>
          </a:prstGeom>
          <a:solidFill>
            <a:srgbClr val="9A7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930400" y="1724660"/>
            <a:ext cx="9601200" cy="25400"/>
          </a:xfrm>
          <a:prstGeom prst="rect">
            <a:avLst/>
          </a:prstGeom>
          <a:solidFill>
            <a:srgbClr val="8A9A90">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1943100"/>
            <a:ext cx="10871200" cy="571500"/>
          </a:xfrm>
          <a:prstGeom prst="rect">
            <a:avLst/>
          </a:prstGeom>
          <a:noFill/>
        </p:spPr>
        <p:txBody>
          <a:bodyPr wrap="square" lIns="0" rIns="0" tIns="0" bIns="0" anchor="ctr">
            <a:noAutofit/>
          </a:bodyPr>
          <a:lstStyle/>
          <a:p>
            <a:pPr algn="ctr">
              <a:lnSpc>
                <a:spcPct val="110000"/>
              </a:lnSpc>
            </a:pPr>
            <a:r>
              <a:rPr sz="2200" b="1">
                <a:solidFill>
                  <a:srgbClr val="4A6154"/>
                </a:solidFill>
                <a:latin typeface="Yu Gothic"/>
                <a:ea typeface="Yu Gothic"/>
                <a:cs typeface="Yu Gothic"/>
              </a:rPr>
              <a:t>総湯量</a:t>
            </a:r>
            <a:r>
              <a:rPr sz="4000" b="1">
                <a:solidFill>
                  <a:srgbClr val="17372A"/>
                </a:solidFill>
                <a:latin typeface="Yu Gothic"/>
                <a:ea typeface="Yu Gothic"/>
                <a:cs typeface="Yu Gothic"/>
              </a:rPr>
              <a:t>　</a:t>
            </a:r>
            <a:r>
              <a:rPr sz="4000" b="1">
                <a:solidFill>
                  <a:srgbClr val="9A7430"/>
                </a:solidFill>
                <a:latin typeface="Yu Gothic"/>
                <a:ea typeface="Yu Gothic"/>
                <a:cs typeface="Yu Gothic"/>
              </a:rPr>
              <a:t>200mL</a:t>
            </a:r>
            <a:r>
              <a:rPr sz="4000" b="1">
                <a:solidFill>
                  <a:srgbClr val="17372A"/>
                </a:solidFill>
                <a:latin typeface="Yu Gothic"/>
                <a:ea typeface="Yu Gothic"/>
                <a:cs typeface="Yu Gothic"/>
              </a:rPr>
              <a:t>　</a:t>
            </a:r>
            <a:r>
              <a:rPr sz="2200" b="1">
                <a:solidFill>
                  <a:srgbClr val="4A6154"/>
                </a:solidFill>
                <a:latin typeface="Yu Gothic"/>
                <a:ea typeface="Yu Gothic"/>
                <a:cs typeface="Yu Gothic"/>
              </a:rPr>
              <a:t>／</a:t>
            </a:r>
            <a:r>
              <a:rPr sz="4000" b="1">
                <a:solidFill>
                  <a:srgbClr val="17372A"/>
                </a:solidFill>
                <a:latin typeface="Yu Gothic"/>
                <a:ea typeface="Yu Gothic"/>
                <a:cs typeface="Yu Gothic"/>
              </a:rPr>
              <a:t>　</a:t>
            </a:r>
            <a:r>
              <a:rPr sz="2200" b="1">
                <a:solidFill>
                  <a:srgbClr val="4A6154"/>
                </a:solidFill>
                <a:latin typeface="Yu Gothic"/>
                <a:ea typeface="Yu Gothic"/>
                <a:cs typeface="Yu Gothic"/>
              </a:rPr>
              <a:t>茶葉</a:t>
            </a:r>
            <a:r>
              <a:rPr sz="4000" b="1">
                <a:solidFill>
                  <a:srgbClr val="17372A"/>
                </a:solidFill>
                <a:latin typeface="Yu Gothic"/>
                <a:ea typeface="Yu Gothic"/>
                <a:cs typeface="Yu Gothic"/>
              </a:rPr>
              <a:t>　</a:t>
            </a:r>
            <a:r>
              <a:rPr sz="4000" b="1">
                <a:solidFill>
                  <a:srgbClr val="9A7430"/>
                </a:solidFill>
                <a:latin typeface="Yu Gothic"/>
                <a:ea typeface="Yu Gothic"/>
                <a:cs typeface="Yu Gothic"/>
              </a:rPr>
              <a:t>7g</a:t>
            </a:r>
          </a:p>
        </p:txBody>
      </p:sp>
      <p:sp>
        <p:nvSpPr>
          <p:cNvPr id="8" name="Rectangle 7"/>
          <p:cNvSpPr/>
          <p:nvPr/>
        </p:nvSpPr>
        <p:spPr>
          <a:xfrm>
            <a:off x="660400" y="2933700"/>
            <a:ext cx="3975100" cy="3079750"/>
          </a:xfrm>
          <a:prstGeom prst="rect">
            <a:avLst/>
          </a:prstGeom>
          <a:solidFill>
            <a:srgbClr val="CFE3EE"/>
          </a:solidFill>
          <a:ln w="38100">
            <a:solidFill>
              <a:srgbClr val="1F6E9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60400" y="3124200"/>
            <a:ext cx="3975100" cy="381000"/>
          </a:xfrm>
          <a:prstGeom prst="rect">
            <a:avLst/>
          </a:prstGeom>
          <a:noFill/>
        </p:spPr>
        <p:txBody>
          <a:bodyPr wrap="square" lIns="0" rIns="0" tIns="0" bIns="0" anchor="ctr">
            <a:noAutofit/>
          </a:bodyPr>
          <a:lstStyle/>
          <a:p>
            <a:pPr algn="ctr">
              <a:lnSpc>
                <a:spcPct val="100000"/>
              </a:lnSpc>
            </a:pPr>
            <a:r>
              <a:rPr sz="2000" b="1" spc="400">
                <a:solidFill>
                  <a:srgbClr val="1F6E96"/>
                </a:solidFill>
                <a:latin typeface="Yu Gothic"/>
                <a:ea typeface="Yu Gothic"/>
                <a:cs typeface="Yu Gothic"/>
              </a:rPr>
              <a:t>PHASE 1 ／ 低温</a:t>
            </a:r>
          </a:p>
        </p:txBody>
      </p:sp>
      <p:sp>
        <p:nvSpPr>
          <p:cNvPr id="10" name="TextBox 9"/>
          <p:cNvSpPr txBox="1"/>
          <p:nvPr/>
        </p:nvSpPr>
        <p:spPr>
          <a:xfrm>
            <a:off x="660400" y="3594100"/>
            <a:ext cx="3975100" cy="838200"/>
          </a:xfrm>
          <a:prstGeom prst="rect">
            <a:avLst/>
          </a:prstGeom>
          <a:noFill/>
        </p:spPr>
        <p:txBody>
          <a:bodyPr wrap="none" lIns="0" rIns="0" tIns="0" bIns="0" anchor="ctr">
            <a:noAutofit/>
          </a:bodyPr>
          <a:lstStyle/>
          <a:p>
            <a:pPr algn="ctr">
              <a:lnSpc>
                <a:spcPct val="100000"/>
              </a:lnSpc>
            </a:pPr>
            <a:r>
              <a:rPr sz="6600" b="1">
                <a:solidFill>
                  <a:srgbClr val="17372A"/>
                </a:solidFill>
                <a:latin typeface="Yu Gothic"/>
                <a:ea typeface="Yu Gothic"/>
                <a:cs typeface="Yu Gothic"/>
              </a:rPr>
              <a:t>50</a:t>
            </a:r>
            <a:r>
              <a:rPr sz="2970" b="1">
                <a:solidFill>
                  <a:srgbClr val="17372A"/>
                </a:solidFill>
                <a:latin typeface="Yu Gothic"/>
                <a:ea typeface="Yu Gothic"/>
                <a:cs typeface="Yu Gothic"/>
              </a:rPr>
              <a:t>℃</a:t>
            </a:r>
          </a:p>
        </p:txBody>
      </p:sp>
      <p:sp>
        <p:nvSpPr>
          <p:cNvPr id="11" name="TextBox 10"/>
          <p:cNvSpPr txBox="1"/>
          <p:nvPr/>
        </p:nvSpPr>
        <p:spPr>
          <a:xfrm>
            <a:off x="660400" y="4533900"/>
            <a:ext cx="3975100" cy="533400"/>
          </a:xfrm>
          <a:prstGeom prst="rect">
            <a:avLst/>
          </a:prstGeom>
          <a:noFill/>
        </p:spPr>
        <p:txBody>
          <a:bodyPr wrap="none" lIns="0" rIns="0" tIns="0" bIns="0" anchor="ctr">
            <a:noAutofit/>
          </a:bodyPr>
          <a:lstStyle/>
          <a:p>
            <a:pPr algn="ctr">
              <a:lnSpc>
                <a:spcPct val="100000"/>
              </a:lnSpc>
            </a:pPr>
            <a:r>
              <a:rPr sz="4200" b="1">
                <a:solidFill>
                  <a:srgbClr val="17372A"/>
                </a:solidFill>
                <a:latin typeface="Yu Gothic"/>
                <a:ea typeface="Yu Gothic"/>
                <a:cs typeface="Yu Gothic"/>
              </a:rPr>
              <a:t>30</a:t>
            </a:r>
            <a:r>
              <a:rPr sz="1890" b="1">
                <a:solidFill>
                  <a:srgbClr val="17372A"/>
                </a:solidFill>
                <a:latin typeface="Yu Gothic"/>
                <a:ea typeface="Yu Gothic"/>
                <a:cs typeface="Yu Gothic"/>
              </a:rPr>
              <a:t>mL</a:t>
            </a:r>
            <a:r>
              <a:rPr sz="4200" b="1">
                <a:solidFill>
                  <a:srgbClr val="17372A"/>
                </a:solidFill>
                <a:latin typeface="Yu Gothic"/>
                <a:ea typeface="Yu Gothic"/>
                <a:cs typeface="Yu Gothic"/>
              </a:rPr>
              <a:t>　　60</a:t>
            </a:r>
            <a:r>
              <a:rPr sz="1890" b="1">
                <a:solidFill>
                  <a:srgbClr val="17372A"/>
                </a:solidFill>
                <a:latin typeface="Yu Gothic"/>
                <a:ea typeface="Yu Gothic"/>
                <a:cs typeface="Yu Gothic"/>
              </a:rPr>
              <a:t>秒</a:t>
            </a:r>
          </a:p>
        </p:txBody>
      </p:sp>
      <p:sp>
        <p:nvSpPr>
          <p:cNvPr id="12" name="TextBox 11"/>
          <p:cNvSpPr txBox="1"/>
          <p:nvPr/>
        </p:nvSpPr>
        <p:spPr>
          <a:xfrm>
            <a:off x="660400" y="5181600"/>
            <a:ext cx="3975100" cy="641350"/>
          </a:xfrm>
          <a:prstGeom prst="rect">
            <a:avLst/>
          </a:prstGeom>
          <a:noFill/>
        </p:spPr>
        <p:txBody>
          <a:bodyPr wrap="square" lIns="0" rIns="0" tIns="0" bIns="0" anchor="ctr">
            <a:noAutofit/>
          </a:bodyPr>
          <a:lstStyle/>
          <a:p>
            <a:pPr algn="ctr">
              <a:lnSpc>
                <a:spcPct val="140000"/>
              </a:lnSpc>
            </a:pPr>
            <a:r>
              <a:rPr sz="1800" b="1">
                <a:solidFill>
                  <a:srgbClr val="4A6154"/>
                </a:solidFill>
                <a:latin typeface="Yu Gothic"/>
                <a:ea typeface="Yu Gothic"/>
                <a:cs typeface="Yu Gothic"/>
              </a:rPr>
              <a:t>少量の湯で茶葉を</a:t>
            </a:r>
          </a:p>
          <a:p>
            <a:pPr algn="ctr">
              <a:lnSpc>
                <a:spcPct val="140000"/>
              </a:lnSpc>
            </a:pPr>
            <a:r>
              <a:rPr sz="1800" b="1">
                <a:solidFill>
                  <a:srgbClr val="4A6154"/>
                </a:solidFill>
                <a:latin typeface="Yu Gothic"/>
                <a:ea typeface="Yu Gothic"/>
                <a:cs typeface="Yu Gothic"/>
              </a:rPr>
              <a:t>ひたひたに濡らし、時間をかける</a:t>
            </a:r>
          </a:p>
        </p:txBody>
      </p:sp>
      <p:sp>
        <p:nvSpPr>
          <p:cNvPr id="13" name="Rectangle 12"/>
          <p:cNvSpPr/>
          <p:nvPr/>
        </p:nvSpPr>
        <p:spPr>
          <a:xfrm>
            <a:off x="7556500" y="2933700"/>
            <a:ext cx="3975100" cy="3079750"/>
          </a:xfrm>
          <a:prstGeom prst="rect">
            <a:avLst/>
          </a:prstGeom>
          <a:solidFill>
            <a:srgbClr val="F2D6CC"/>
          </a:solidFill>
          <a:ln w="38100">
            <a:solidFill>
              <a:srgbClr val="B444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556500" y="3124200"/>
            <a:ext cx="3975100" cy="381000"/>
          </a:xfrm>
          <a:prstGeom prst="rect">
            <a:avLst/>
          </a:prstGeom>
          <a:noFill/>
        </p:spPr>
        <p:txBody>
          <a:bodyPr wrap="square" lIns="0" rIns="0" tIns="0" bIns="0" anchor="ctr">
            <a:noAutofit/>
          </a:bodyPr>
          <a:lstStyle/>
          <a:p>
            <a:pPr algn="ctr">
              <a:lnSpc>
                <a:spcPct val="100000"/>
              </a:lnSpc>
            </a:pPr>
            <a:r>
              <a:rPr sz="2000" b="1" spc="400">
                <a:solidFill>
                  <a:srgbClr val="B4442A"/>
                </a:solidFill>
                <a:latin typeface="Yu Gothic"/>
                <a:ea typeface="Yu Gothic"/>
                <a:cs typeface="Yu Gothic"/>
              </a:rPr>
              <a:t>PHASE 2 ／ 追い湯</a:t>
            </a:r>
          </a:p>
        </p:txBody>
      </p:sp>
      <p:sp>
        <p:nvSpPr>
          <p:cNvPr id="15" name="TextBox 14"/>
          <p:cNvSpPr txBox="1"/>
          <p:nvPr/>
        </p:nvSpPr>
        <p:spPr>
          <a:xfrm>
            <a:off x="7556500" y="3594100"/>
            <a:ext cx="3975100" cy="838200"/>
          </a:xfrm>
          <a:prstGeom prst="rect">
            <a:avLst/>
          </a:prstGeom>
          <a:noFill/>
        </p:spPr>
        <p:txBody>
          <a:bodyPr wrap="none" lIns="0" rIns="0" tIns="0" bIns="0" anchor="ctr">
            <a:noAutofit/>
          </a:bodyPr>
          <a:lstStyle/>
          <a:p>
            <a:pPr algn="ctr">
              <a:lnSpc>
                <a:spcPct val="100000"/>
              </a:lnSpc>
            </a:pPr>
            <a:r>
              <a:rPr sz="6600" b="1">
                <a:solidFill>
                  <a:srgbClr val="17372A"/>
                </a:solidFill>
                <a:latin typeface="Yu Gothic"/>
                <a:ea typeface="Yu Gothic"/>
                <a:cs typeface="Yu Gothic"/>
              </a:rPr>
              <a:t>90</a:t>
            </a:r>
            <a:r>
              <a:rPr sz="2970" b="1">
                <a:solidFill>
                  <a:srgbClr val="17372A"/>
                </a:solidFill>
                <a:latin typeface="Yu Gothic"/>
                <a:ea typeface="Yu Gothic"/>
                <a:cs typeface="Yu Gothic"/>
              </a:rPr>
              <a:t>℃</a:t>
            </a:r>
          </a:p>
        </p:txBody>
      </p:sp>
      <p:sp>
        <p:nvSpPr>
          <p:cNvPr id="16" name="TextBox 15"/>
          <p:cNvSpPr txBox="1"/>
          <p:nvPr/>
        </p:nvSpPr>
        <p:spPr>
          <a:xfrm>
            <a:off x="7556500" y="4533900"/>
            <a:ext cx="3975100" cy="533400"/>
          </a:xfrm>
          <a:prstGeom prst="rect">
            <a:avLst/>
          </a:prstGeom>
          <a:noFill/>
        </p:spPr>
        <p:txBody>
          <a:bodyPr wrap="none" lIns="0" rIns="0" tIns="0" bIns="0" anchor="ctr">
            <a:noAutofit/>
          </a:bodyPr>
          <a:lstStyle/>
          <a:p>
            <a:pPr algn="ctr">
              <a:lnSpc>
                <a:spcPct val="100000"/>
              </a:lnSpc>
            </a:pPr>
            <a:r>
              <a:rPr sz="4200" b="1">
                <a:solidFill>
                  <a:srgbClr val="17372A"/>
                </a:solidFill>
                <a:latin typeface="Yu Gothic"/>
                <a:ea typeface="Yu Gothic"/>
                <a:cs typeface="Yu Gothic"/>
              </a:rPr>
              <a:t>+170</a:t>
            </a:r>
            <a:r>
              <a:rPr sz="1890" b="1">
                <a:solidFill>
                  <a:srgbClr val="17372A"/>
                </a:solidFill>
                <a:latin typeface="Yu Gothic"/>
                <a:ea typeface="Yu Gothic"/>
                <a:cs typeface="Yu Gothic"/>
              </a:rPr>
              <a:t>mL</a:t>
            </a:r>
            <a:r>
              <a:rPr sz="4200" b="1">
                <a:solidFill>
                  <a:srgbClr val="17372A"/>
                </a:solidFill>
                <a:latin typeface="Yu Gothic"/>
                <a:ea typeface="Yu Gothic"/>
                <a:cs typeface="Yu Gothic"/>
              </a:rPr>
              <a:t>　　10</a:t>
            </a:r>
            <a:r>
              <a:rPr sz="1890" b="1">
                <a:solidFill>
                  <a:srgbClr val="17372A"/>
                </a:solidFill>
                <a:latin typeface="Yu Gothic"/>
                <a:ea typeface="Yu Gothic"/>
                <a:cs typeface="Yu Gothic"/>
              </a:rPr>
              <a:t>秒</a:t>
            </a:r>
          </a:p>
        </p:txBody>
      </p:sp>
      <p:sp>
        <p:nvSpPr>
          <p:cNvPr id="17" name="TextBox 16"/>
          <p:cNvSpPr txBox="1"/>
          <p:nvPr/>
        </p:nvSpPr>
        <p:spPr>
          <a:xfrm>
            <a:off x="7556500" y="5181600"/>
            <a:ext cx="3975100" cy="641350"/>
          </a:xfrm>
          <a:prstGeom prst="rect">
            <a:avLst/>
          </a:prstGeom>
          <a:noFill/>
        </p:spPr>
        <p:txBody>
          <a:bodyPr wrap="square" lIns="0" rIns="0" tIns="0" bIns="0" anchor="ctr">
            <a:noAutofit/>
          </a:bodyPr>
          <a:lstStyle/>
          <a:p>
            <a:pPr algn="ctr">
              <a:lnSpc>
                <a:spcPct val="140000"/>
              </a:lnSpc>
            </a:pPr>
            <a:r>
              <a:rPr sz="1800" b="1">
                <a:solidFill>
                  <a:srgbClr val="4A6154"/>
                </a:solidFill>
                <a:latin typeface="Yu Gothic"/>
                <a:ea typeface="Yu Gothic"/>
                <a:cs typeface="Yu Gothic"/>
              </a:rPr>
              <a:t>温度を上げて、</a:t>
            </a:r>
          </a:p>
          <a:p>
            <a:pPr algn="ctr">
              <a:lnSpc>
                <a:spcPct val="140000"/>
              </a:lnSpc>
            </a:pPr>
            <a:r>
              <a:rPr sz="1800" b="1">
                <a:solidFill>
                  <a:srgbClr val="4A6154"/>
                </a:solidFill>
                <a:latin typeface="Yu Gothic"/>
                <a:ea typeface="Yu Gothic"/>
                <a:cs typeface="Yu Gothic"/>
              </a:rPr>
              <a:t>短時間で注ぎ分ける</a:t>
            </a:r>
          </a:p>
        </p:txBody>
      </p:sp>
      <p:sp>
        <p:nvSpPr>
          <p:cNvPr id="18" name="Pie 17"/>
          <p:cNvSpPr/>
          <p:nvPr/>
        </p:nvSpPr>
        <p:spPr>
          <a:xfrm>
            <a:off x="5143500" y="2997200"/>
            <a:ext cx="1905000" cy="1841500"/>
          </a:xfrm>
          <a:prstGeom prst="pie">
            <a:avLst>
              <a:gd name="adj1" fmla="val 0"/>
              <a:gd name="adj2" fmla="val 10800000"/>
            </a:avLst>
          </a:prstGeom>
          <a:gradFill rotWithShape="1">
            <a:gsLst>
              <a:gs pos="0">
                <a:srgbClr val="5C8A46"/>
              </a:gs>
              <a:gs pos="100000">
                <a:srgbClr val="D9A03A"/>
              </a:gs>
            </a:gsLst>
            <a:lin scaled="0" ang="5400000"/>
          </a:gradFill>
          <a:ln w="31750">
            <a:solidFill>
              <a:srgbClr val="1737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080000" y="3898900"/>
            <a:ext cx="2032000" cy="31750"/>
          </a:xfrm>
          <a:prstGeom prst="rect">
            <a:avLst/>
          </a:prstGeom>
          <a:solidFill>
            <a:srgbClr val="173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5575300" y="4813300"/>
            <a:ext cx="50800" cy="152400"/>
          </a:xfrm>
          <a:prstGeom prst="rect">
            <a:avLst/>
          </a:prstGeom>
          <a:solidFill>
            <a:srgbClr val="173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565900" y="4813300"/>
            <a:ext cx="50800" cy="152400"/>
          </a:xfrm>
          <a:prstGeom prst="rect">
            <a:avLst/>
          </a:prstGeom>
          <a:solidFill>
            <a:srgbClr val="173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5524500" y="4953000"/>
            <a:ext cx="1143000" cy="38100"/>
          </a:xfrm>
          <a:prstGeom prst="rect">
            <a:avLst/>
          </a:prstGeom>
          <a:solidFill>
            <a:srgbClr val="173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826000" y="5080000"/>
            <a:ext cx="2540000" cy="292100"/>
          </a:xfrm>
          <a:prstGeom prst="rect">
            <a:avLst/>
          </a:prstGeom>
          <a:noFill/>
        </p:spPr>
        <p:txBody>
          <a:bodyPr wrap="square" lIns="0" rIns="0" tIns="0" bIns="0" anchor="ctr">
            <a:noAutofit/>
          </a:bodyPr>
          <a:lstStyle/>
          <a:p>
            <a:pPr algn="ctr">
              <a:lnSpc>
                <a:spcPct val="120000"/>
              </a:lnSpc>
            </a:pPr>
            <a:r>
              <a:rPr sz="1650" b="1">
                <a:solidFill>
                  <a:srgbClr val="4A6154"/>
                </a:solidFill>
                <a:latin typeface="Yu Gothic"/>
                <a:ea typeface="Yu Gothic"/>
                <a:cs typeface="Yu Gothic"/>
              </a:rPr>
              <a:t>一煎目の一杯</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3E8"/>
        </a:solidFill>
        <a:effectLst/>
      </p:bgPr>
    </p:bg>
    <p:spTree>
      <p:nvGrpSpPr>
        <p:cNvPr id="1" name=""/>
        <p:cNvGrpSpPr/>
        <p:nvPr/>
      </p:nvGrpSpPr>
      <p:grpSpPr/>
      <p:sp>
        <p:nvSpPr>
          <p:cNvPr id="2" name="Rectangle 1"/>
          <p:cNvSpPr/>
          <p:nvPr/>
        </p:nvSpPr>
        <p:spPr>
          <a:xfrm>
            <a:off x="292100" y="292100"/>
            <a:ext cx="11607800" cy="6184900"/>
          </a:xfrm>
          <a:prstGeom prst="rect">
            <a:avLst/>
          </a:prstGeom>
          <a:noFill/>
          <a:ln w="12700">
            <a:solidFill>
              <a:srgbClr val="CBB5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60400" y="469900"/>
            <a:ext cx="10871200" cy="304800"/>
          </a:xfrm>
          <a:prstGeom prst="rect">
            <a:avLst/>
          </a:prstGeom>
          <a:noFill/>
        </p:spPr>
        <p:txBody>
          <a:bodyPr wrap="square" lIns="0" rIns="0" tIns="0" bIns="0" anchor="ctr">
            <a:noAutofit/>
          </a:bodyPr>
          <a:lstStyle/>
          <a:p>
            <a:pPr algn="l">
              <a:lnSpc>
                <a:spcPct val="100000"/>
              </a:lnSpc>
            </a:pPr>
            <a:r>
              <a:rPr sz="1900" b="1" spc="836">
                <a:solidFill>
                  <a:srgbClr val="9A7430"/>
                </a:solidFill>
                <a:latin typeface="Yu Gothic"/>
                <a:ea typeface="Yu Gothic"/>
                <a:cs typeface="Yu Gothic"/>
              </a:rPr>
              <a:t>THE SCIENCE</a:t>
            </a:r>
          </a:p>
        </p:txBody>
      </p:sp>
      <p:sp>
        <p:nvSpPr>
          <p:cNvPr id="4" name="TextBox 3"/>
          <p:cNvSpPr txBox="1"/>
          <p:nvPr/>
        </p:nvSpPr>
        <p:spPr>
          <a:xfrm>
            <a:off x="660400" y="914400"/>
            <a:ext cx="10871200" cy="609600"/>
          </a:xfrm>
          <a:prstGeom prst="rect">
            <a:avLst/>
          </a:prstGeom>
          <a:noFill/>
        </p:spPr>
        <p:txBody>
          <a:bodyPr wrap="square" lIns="0" rIns="0" tIns="0" bIns="0" anchor="ctr">
            <a:noAutofit/>
          </a:bodyPr>
          <a:lstStyle/>
          <a:p>
            <a:pPr algn="l">
              <a:lnSpc>
                <a:spcPct val="120000"/>
              </a:lnSpc>
            </a:pPr>
            <a:r>
              <a:rPr sz="4000" b="1">
                <a:solidFill>
                  <a:srgbClr val="17372A"/>
                </a:solidFill>
                <a:latin typeface="Yu Gothic"/>
                <a:ea typeface="Yu Gothic"/>
                <a:cs typeface="Yu Gothic"/>
              </a:rPr>
              <a:t>成分は、同じようには溶け出さない</a:t>
            </a:r>
          </a:p>
        </p:txBody>
      </p:sp>
      <p:sp>
        <p:nvSpPr>
          <p:cNvPr id="5" name="Rectangle 4"/>
          <p:cNvSpPr/>
          <p:nvPr/>
        </p:nvSpPr>
        <p:spPr>
          <a:xfrm>
            <a:off x="660400" y="1663700"/>
            <a:ext cx="1270000" cy="25400"/>
          </a:xfrm>
          <a:prstGeom prst="rect">
            <a:avLst/>
          </a:prstGeom>
          <a:solidFill>
            <a:srgbClr val="9A7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930400" y="1663700"/>
            <a:ext cx="9601200" cy="25400"/>
          </a:xfrm>
          <a:prstGeom prst="rect">
            <a:avLst/>
          </a:prstGeom>
          <a:solidFill>
            <a:srgbClr val="8A9A90">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1752600"/>
            <a:ext cx="10871200" cy="304800"/>
          </a:xfrm>
          <a:prstGeom prst="rect">
            <a:avLst/>
          </a:prstGeom>
          <a:noFill/>
        </p:spPr>
        <p:txBody>
          <a:bodyPr wrap="square" lIns="0" rIns="0" tIns="0" bIns="0" anchor="ctr">
            <a:noAutofit/>
          </a:bodyPr>
          <a:lstStyle/>
          <a:p>
            <a:pPr algn="ctr">
              <a:lnSpc>
                <a:spcPct val="120000"/>
              </a:lnSpc>
            </a:pPr>
            <a:r>
              <a:rPr sz="1650" b="1">
                <a:solidFill>
                  <a:srgbClr val="4A6154"/>
                </a:solidFill>
                <a:latin typeface="Yu Gothic"/>
                <a:ea typeface="Yu Gothic"/>
                <a:cs typeface="Yu Gothic"/>
              </a:rPr>
              <a:t>同じ茶葉を </a:t>
            </a:r>
            <a:r>
              <a:rPr sz="1650" b="1">
                <a:solidFill>
                  <a:srgbClr val="4A6154"/>
                </a:solidFill>
                <a:latin typeface="Yu Gothic"/>
                <a:ea typeface="Yu Gothic"/>
                <a:cs typeface="Yu Gothic"/>
              </a:rPr>
              <a:t>50℃</a:t>
            </a:r>
            <a:r>
              <a:rPr sz="1650" b="1">
                <a:solidFill>
                  <a:srgbClr val="4A6154"/>
                </a:solidFill>
                <a:latin typeface="Yu Gothic"/>
                <a:ea typeface="Yu Gothic"/>
                <a:cs typeface="Yu Gothic"/>
              </a:rPr>
              <a:t> ／ </a:t>
            </a:r>
            <a:r>
              <a:rPr sz="1650" b="1">
                <a:solidFill>
                  <a:srgbClr val="4A6154"/>
                </a:solidFill>
                <a:latin typeface="Yu Gothic"/>
                <a:ea typeface="Yu Gothic"/>
                <a:cs typeface="Yu Gothic"/>
              </a:rPr>
              <a:t>70℃</a:t>
            </a:r>
            <a:r>
              <a:rPr sz="1650" b="1">
                <a:solidFill>
                  <a:srgbClr val="4A6154"/>
                </a:solidFill>
                <a:latin typeface="Yu Gothic"/>
                <a:ea typeface="Yu Gothic"/>
                <a:cs typeface="Yu Gothic"/>
              </a:rPr>
              <a:t> ／ </a:t>
            </a:r>
            <a:r>
              <a:rPr sz="1650" b="1">
                <a:solidFill>
                  <a:srgbClr val="4A6154"/>
                </a:solidFill>
                <a:latin typeface="Yu Gothic"/>
                <a:ea typeface="Yu Gothic"/>
                <a:cs typeface="Yu Gothic"/>
              </a:rPr>
              <a:t>90℃</a:t>
            </a:r>
            <a:r>
              <a:rPr sz="1650" b="1">
                <a:solidFill>
                  <a:srgbClr val="4A6154"/>
                </a:solidFill>
                <a:latin typeface="Yu Gothic"/>
                <a:ea typeface="Yu Gothic"/>
                <a:cs typeface="Yu Gothic"/>
              </a:rPr>
              <a:t> で、それぞれ 60秒 淹れたとき</a:t>
            </a:r>
          </a:p>
        </p:txBody>
      </p:sp>
      <p:sp>
        <p:nvSpPr>
          <p:cNvPr id="8" name="TextBox 7"/>
          <p:cNvSpPr txBox="1"/>
          <p:nvPr/>
        </p:nvSpPr>
        <p:spPr>
          <a:xfrm>
            <a:off x="660400" y="2057400"/>
            <a:ext cx="2794000" cy="711200"/>
          </a:xfrm>
          <a:prstGeom prst="rect">
            <a:avLst/>
          </a:prstGeom>
          <a:noFill/>
        </p:spPr>
        <p:txBody>
          <a:bodyPr wrap="square" lIns="0" rIns="0" tIns="0" bIns="0" anchor="ctr">
            <a:noAutofit/>
          </a:bodyPr>
          <a:lstStyle/>
          <a:p>
            <a:pPr algn="r">
              <a:lnSpc>
                <a:spcPct val="120000"/>
              </a:lnSpc>
            </a:pPr>
            <a:r>
              <a:rPr sz="2400" b="1">
                <a:solidFill>
                  <a:srgbClr val="17372A"/>
                </a:solidFill>
                <a:latin typeface="Yu Gothic"/>
                <a:ea typeface="Yu Gothic"/>
                <a:cs typeface="Yu Gothic"/>
              </a:rPr>
              <a:t>テアニン</a:t>
            </a:r>
          </a:p>
          <a:p>
            <a:pPr algn="r">
              <a:lnSpc>
                <a:spcPct val="120000"/>
              </a:lnSpc>
            </a:pPr>
            <a:r>
              <a:rPr sz="1400" b="1">
                <a:solidFill>
                  <a:srgbClr val="4A6154"/>
                </a:solidFill>
                <a:latin typeface="Yu Gothic"/>
                <a:ea typeface="Yu Gothic"/>
                <a:cs typeface="Yu Gothic"/>
              </a:rPr>
              <a:t>アミノ酸類／旨味・甘味</a:t>
            </a:r>
          </a:p>
        </p:txBody>
      </p:sp>
      <p:sp>
        <p:nvSpPr>
          <p:cNvPr id="9" name="TextBox 8"/>
          <p:cNvSpPr txBox="1"/>
          <p:nvPr/>
        </p:nvSpPr>
        <p:spPr>
          <a:xfrm>
            <a:off x="3644900" y="2019300"/>
            <a:ext cx="800100" cy="279400"/>
          </a:xfrm>
          <a:prstGeom prst="rect">
            <a:avLst/>
          </a:prstGeom>
          <a:noFill/>
        </p:spPr>
        <p:txBody>
          <a:bodyPr wrap="none" lIns="0" rIns="0" tIns="0" bIns="0" anchor="ctr">
            <a:noAutofit/>
          </a:bodyPr>
          <a:lstStyle/>
          <a:p>
            <a:pPr algn="l">
              <a:lnSpc>
                <a:spcPct val="100000"/>
              </a:lnSpc>
            </a:pPr>
            <a:r>
              <a:rPr sz="1700" b="1">
                <a:solidFill>
                  <a:srgbClr val="1F6E96"/>
                </a:solidFill>
                <a:latin typeface="Yu Gothic"/>
                <a:ea typeface="Yu Gothic"/>
                <a:cs typeface="Yu Gothic"/>
              </a:rPr>
              <a:t>50℃</a:t>
            </a:r>
          </a:p>
        </p:txBody>
      </p:sp>
      <p:sp>
        <p:nvSpPr>
          <p:cNvPr id="10" name="Rectangle 9"/>
          <p:cNvSpPr/>
          <p:nvPr/>
        </p:nvSpPr>
        <p:spPr>
          <a:xfrm>
            <a:off x="4572000" y="2070100"/>
            <a:ext cx="5753100" cy="177800"/>
          </a:xfrm>
          <a:prstGeom prst="rect">
            <a:avLst/>
          </a:prstGeom>
          <a:solidFill>
            <a:srgbClr val="8A9A9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572000" y="2070100"/>
            <a:ext cx="2324100" cy="177800"/>
          </a:xfrm>
          <a:prstGeom prst="rect">
            <a:avLst/>
          </a:prstGeom>
          <a:solidFill>
            <a:srgbClr val="1F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452100" y="2006600"/>
            <a:ext cx="1079500" cy="304800"/>
          </a:xfrm>
          <a:prstGeom prst="rect">
            <a:avLst/>
          </a:prstGeom>
          <a:noFill/>
        </p:spPr>
        <p:txBody>
          <a:bodyPr wrap="none" lIns="0" rIns="0" tIns="0" bIns="0" anchor="ctr">
            <a:noAutofit/>
          </a:bodyPr>
          <a:lstStyle/>
          <a:p>
            <a:pPr algn="l">
              <a:lnSpc>
                <a:spcPct val="100000"/>
              </a:lnSpc>
            </a:pPr>
            <a:r>
              <a:rPr sz="2000" b="1">
                <a:solidFill>
                  <a:srgbClr val="1F6E96"/>
                </a:solidFill>
                <a:latin typeface="Yu Gothic"/>
                <a:ea typeface="Yu Gothic"/>
                <a:cs typeface="Yu Gothic"/>
              </a:rPr>
              <a:t>40.5%</a:t>
            </a:r>
          </a:p>
        </p:txBody>
      </p:sp>
      <p:sp>
        <p:nvSpPr>
          <p:cNvPr id="13" name="TextBox 12"/>
          <p:cNvSpPr txBox="1"/>
          <p:nvPr/>
        </p:nvSpPr>
        <p:spPr>
          <a:xfrm>
            <a:off x="3644900" y="2273300"/>
            <a:ext cx="800100" cy="279400"/>
          </a:xfrm>
          <a:prstGeom prst="rect">
            <a:avLst/>
          </a:prstGeom>
          <a:noFill/>
        </p:spPr>
        <p:txBody>
          <a:bodyPr wrap="none" lIns="0" rIns="0" tIns="0" bIns="0" anchor="ctr">
            <a:noAutofit/>
          </a:bodyPr>
          <a:lstStyle/>
          <a:p>
            <a:pPr algn="l">
              <a:lnSpc>
                <a:spcPct val="100000"/>
              </a:lnSpc>
            </a:pPr>
            <a:r>
              <a:rPr sz="1700" b="1">
                <a:solidFill>
                  <a:srgbClr val="C1891A"/>
                </a:solidFill>
                <a:latin typeface="Yu Gothic"/>
                <a:ea typeface="Yu Gothic"/>
                <a:cs typeface="Yu Gothic"/>
              </a:rPr>
              <a:t>70℃</a:t>
            </a:r>
          </a:p>
        </p:txBody>
      </p:sp>
      <p:sp>
        <p:nvSpPr>
          <p:cNvPr id="14" name="Rectangle 13"/>
          <p:cNvSpPr/>
          <p:nvPr/>
        </p:nvSpPr>
        <p:spPr>
          <a:xfrm>
            <a:off x="4572000" y="2324100"/>
            <a:ext cx="5753100" cy="177800"/>
          </a:xfrm>
          <a:prstGeom prst="rect">
            <a:avLst/>
          </a:prstGeom>
          <a:solidFill>
            <a:srgbClr val="8A9A90">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452100" y="2260600"/>
            <a:ext cx="1079500" cy="304800"/>
          </a:xfrm>
          <a:prstGeom prst="rect">
            <a:avLst/>
          </a:prstGeom>
          <a:noFill/>
        </p:spPr>
        <p:txBody>
          <a:bodyPr wrap="none" lIns="0" rIns="0" tIns="0" bIns="0" anchor="ctr">
            <a:noAutofit/>
          </a:bodyPr>
          <a:lstStyle/>
          <a:p>
            <a:pPr algn="l">
              <a:lnSpc>
                <a:spcPct val="100000"/>
              </a:lnSpc>
            </a:pPr>
            <a:r>
              <a:rPr sz="2000" b="1">
                <a:solidFill>
                  <a:srgbClr val="8A9A90"/>
                </a:solidFill>
                <a:latin typeface="Yu Gothic"/>
                <a:ea typeface="Yu Gothic"/>
                <a:cs typeface="Yu Gothic"/>
              </a:rPr>
              <a:t>49.3%</a:t>
            </a:r>
          </a:p>
        </p:txBody>
      </p:sp>
      <p:sp>
        <p:nvSpPr>
          <p:cNvPr id="16" name="Rectangle 15"/>
          <p:cNvSpPr/>
          <p:nvPr/>
        </p:nvSpPr>
        <p:spPr>
          <a:xfrm>
            <a:off x="3644900" y="2260600"/>
            <a:ext cx="7886700" cy="304800"/>
          </a:xfrm>
          <a:prstGeom prst="rect">
            <a:avLst/>
          </a:prstGeom>
          <a:solidFill>
            <a:srgbClr val="F7F3E8">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644900" y="2527300"/>
            <a:ext cx="800100" cy="279400"/>
          </a:xfrm>
          <a:prstGeom prst="rect">
            <a:avLst/>
          </a:prstGeom>
          <a:noFill/>
        </p:spPr>
        <p:txBody>
          <a:bodyPr wrap="none" lIns="0" rIns="0" tIns="0" bIns="0" anchor="ctr">
            <a:noAutofit/>
          </a:bodyPr>
          <a:lstStyle/>
          <a:p>
            <a:pPr algn="l">
              <a:lnSpc>
                <a:spcPct val="100000"/>
              </a:lnSpc>
            </a:pPr>
            <a:r>
              <a:rPr sz="1700" b="1">
                <a:solidFill>
                  <a:srgbClr val="B4442A"/>
                </a:solidFill>
                <a:latin typeface="Yu Gothic"/>
                <a:ea typeface="Yu Gothic"/>
                <a:cs typeface="Yu Gothic"/>
              </a:rPr>
              <a:t>90℃</a:t>
            </a:r>
          </a:p>
        </p:txBody>
      </p:sp>
      <p:sp>
        <p:nvSpPr>
          <p:cNvPr id="18" name="Rectangle 17"/>
          <p:cNvSpPr/>
          <p:nvPr/>
        </p:nvSpPr>
        <p:spPr>
          <a:xfrm>
            <a:off x="4572000" y="2578100"/>
            <a:ext cx="5753100" cy="177800"/>
          </a:xfrm>
          <a:prstGeom prst="rect">
            <a:avLst/>
          </a:prstGeom>
          <a:solidFill>
            <a:srgbClr val="8A9A90">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660900" y="2527300"/>
            <a:ext cx="1905000" cy="279400"/>
          </a:xfrm>
          <a:prstGeom prst="rect">
            <a:avLst/>
          </a:prstGeom>
          <a:noFill/>
        </p:spPr>
        <p:txBody>
          <a:bodyPr wrap="square" lIns="0" rIns="0" tIns="0" bIns="0" anchor="ctr">
            <a:noAutofit/>
          </a:bodyPr>
          <a:lstStyle/>
          <a:p>
            <a:pPr algn="l">
              <a:lnSpc>
                <a:spcPct val="100000"/>
              </a:lnSpc>
            </a:pPr>
            <a:r>
              <a:rPr sz="1300" b="1">
                <a:solidFill>
                  <a:srgbClr val="4A6154"/>
                </a:solidFill>
                <a:latin typeface="Yu Gothic"/>
                <a:ea typeface="Yu Gothic"/>
                <a:cs typeface="Yu Gothic"/>
              </a:rPr>
              <a:t>90℃条件の測定なし</a:t>
            </a:r>
          </a:p>
        </p:txBody>
      </p:sp>
      <p:sp>
        <p:nvSpPr>
          <p:cNvPr id="20" name="TextBox 19"/>
          <p:cNvSpPr txBox="1"/>
          <p:nvPr/>
        </p:nvSpPr>
        <p:spPr>
          <a:xfrm>
            <a:off x="10452100" y="2527300"/>
            <a:ext cx="1079500" cy="279400"/>
          </a:xfrm>
          <a:prstGeom prst="rect">
            <a:avLst/>
          </a:prstGeom>
          <a:noFill/>
        </p:spPr>
        <p:txBody>
          <a:bodyPr wrap="none" lIns="0" rIns="0" tIns="0" bIns="0" anchor="ctr">
            <a:noAutofit/>
          </a:bodyPr>
          <a:lstStyle/>
          <a:p>
            <a:pPr algn="l">
              <a:lnSpc>
                <a:spcPct val="100000"/>
              </a:lnSpc>
            </a:pPr>
            <a:r>
              <a:rPr sz="1500" b="1">
                <a:solidFill>
                  <a:srgbClr val="8A9A90"/>
                </a:solidFill>
                <a:latin typeface="Yu Gothic"/>
                <a:ea typeface="Yu Gothic"/>
                <a:cs typeface="Yu Gothic"/>
              </a:rPr>
              <a:t>—</a:t>
            </a:r>
          </a:p>
        </p:txBody>
      </p:sp>
      <p:sp>
        <p:nvSpPr>
          <p:cNvPr id="21" name="Rectangle 20"/>
          <p:cNvSpPr/>
          <p:nvPr/>
        </p:nvSpPr>
        <p:spPr>
          <a:xfrm>
            <a:off x="3644900" y="2514600"/>
            <a:ext cx="7886700" cy="304800"/>
          </a:xfrm>
          <a:prstGeom prst="rect">
            <a:avLst/>
          </a:prstGeom>
          <a:solidFill>
            <a:srgbClr val="F7F3E8">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60400" y="2870200"/>
            <a:ext cx="2794000" cy="711200"/>
          </a:xfrm>
          <a:prstGeom prst="rect">
            <a:avLst/>
          </a:prstGeom>
          <a:noFill/>
        </p:spPr>
        <p:txBody>
          <a:bodyPr wrap="square" lIns="0" rIns="0" tIns="0" bIns="0" anchor="ctr">
            <a:noAutofit/>
          </a:bodyPr>
          <a:lstStyle/>
          <a:p>
            <a:pPr algn="r">
              <a:lnSpc>
                <a:spcPct val="120000"/>
              </a:lnSpc>
            </a:pPr>
            <a:r>
              <a:rPr sz="2400" b="1">
                <a:solidFill>
                  <a:srgbClr val="17372A"/>
                </a:solidFill>
                <a:latin typeface="Yu Gothic"/>
                <a:ea typeface="Yu Gothic"/>
                <a:cs typeface="Yu Gothic"/>
              </a:rPr>
              <a:t>EGC</a:t>
            </a:r>
          </a:p>
          <a:p>
            <a:pPr algn="r">
              <a:lnSpc>
                <a:spcPct val="120000"/>
              </a:lnSpc>
            </a:pPr>
            <a:r>
              <a:rPr sz="1400" b="1">
                <a:solidFill>
                  <a:srgbClr val="4A6154"/>
                </a:solidFill>
                <a:latin typeface="Yu Gothic"/>
                <a:ea typeface="Yu Gothic"/>
                <a:cs typeface="Yu Gothic"/>
              </a:rPr>
              <a:t>遊離型カテキン／爽やかな渋み</a:t>
            </a:r>
          </a:p>
        </p:txBody>
      </p:sp>
      <p:sp>
        <p:nvSpPr>
          <p:cNvPr id="23" name="TextBox 22"/>
          <p:cNvSpPr txBox="1"/>
          <p:nvPr/>
        </p:nvSpPr>
        <p:spPr>
          <a:xfrm>
            <a:off x="3644900" y="2832100"/>
            <a:ext cx="800100" cy="279400"/>
          </a:xfrm>
          <a:prstGeom prst="rect">
            <a:avLst/>
          </a:prstGeom>
          <a:noFill/>
        </p:spPr>
        <p:txBody>
          <a:bodyPr wrap="none" lIns="0" rIns="0" tIns="0" bIns="0" anchor="ctr">
            <a:noAutofit/>
          </a:bodyPr>
          <a:lstStyle/>
          <a:p>
            <a:pPr algn="l">
              <a:lnSpc>
                <a:spcPct val="100000"/>
              </a:lnSpc>
            </a:pPr>
            <a:r>
              <a:rPr sz="1700" b="1">
                <a:solidFill>
                  <a:srgbClr val="1F6E96"/>
                </a:solidFill>
                <a:latin typeface="Yu Gothic"/>
                <a:ea typeface="Yu Gothic"/>
                <a:cs typeface="Yu Gothic"/>
              </a:rPr>
              <a:t>50℃</a:t>
            </a:r>
          </a:p>
        </p:txBody>
      </p:sp>
      <p:sp>
        <p:nvSpPr>
          <p:cNvPr id="24" name="Rectangle 23"/>
          <p:cNvSpPr/>
          <p:nvPr/>
        </p:nvSpPr>
        <p:spPr>
          <a:xfrm>
            <a:off x="4572000" y="2882900"/>
            <a:ext cx="5753100" cy="177800"/>
          </a:xfrm>
          <a:prstGeom prst="rect">
            <a:avLst/>
          </a:prstGeom>
          <a:solidFill>
            <a:srgbClr val="8A9A9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572000" y="2882900"/>
            <a:ext cx="1003300" cy="177800"/>
          </a:xfrm>
          <a:prstGeom prst="rect">
            <a:avLst/>
          </a:prstGeom>
          <a:solidFill>
            <a:srgbClr val="1F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452100" y="2819400"/>
            <a:ext cx="1079500" cy="304800"/>
          </a:xfrm>
          <a:prstGeom prst="rect">
            <a:avLst/>
          </a:prstGeom>
          <a:noFill/>
        </p:spPr>
        <p:txBody>
          <a:bodyPr wrap="none" lIns="0" rIns="0" tIns="0" bIns="0" anchor="ctr">
            <a:noAutofit/>
          </a:bodyPr>
          <a:lstStyle/>
          <a:p>
            <a:pPr algn="l">
              <a:lnSpc>
                <a:spcPct val="100000"/>
              </a:lnSpc>
            </a:pPr>
            <a:r>
              <a:rPr sz="2000" b="1">
                <a:solidFill>
                  <a:srgbClr val="1F6E96"/>
                </a:solidFill>
                <a:latin typeface="Yu Gothic"/>
                <a:ea typeface="Yu Gothic"/>
                <a:cs typeface="Yu Gothic"/>
              </a:rPr>
              <a:t>17.5%</a:t>
            </a:r>
          </a:p>
        </p:txBody>
      </p:sp>
      <p:sp>
        <p:nvSpPr>
          <p:cNvPr id="27" name="TextBox 26"/>
          <p:cNvSpPr txBox="1"/>
          <p:nvPr/>
        </p:nvSpPr>
        <p:spPr>
          <a:xfrm>
            <a:off x="3644900" y="3086100"/>
            <a:ext cx="800100" cy="279400"/>
          </a:xfrm>
          <a:prstGeom prst="rect">
            <a:avLst/>
          </a:prstGeom>
          <a:noFill/>
        </p:spPr>
        <p:txBody>
          <a:bodyPr wrap="none" lIns="0" rIns="0" tIns="0" bIns="0" anchor="ctr">
            <a:noAutofit/>
          </a:bodyPr>
          <a:lstStyle/>
          <a:p>
            <a:pPr algn="l">
              <a:lnSpc>
                <a:spcPct val="100000"/>
              </a:lnSpc>
            </a:pPr>
            <a:r>
              <a:rPr sz="1700" b="1">
                <a:solidFill>
                  <a:srgbClr val="C1891A"/>
                </a:solidFill>
                <a:latin typeface="Yu Gothic"/>
                <a:ea typeface="Yu Gothic"/>
                <a:cs typeface="Yu Gothic"/>
              </a:rPr>
              <a:t>70℃</a:t>
            </a:r>
          </a:p>
        </p:txBody>
      </p:sp>
      <p:sp>
        <p:nvSpPr>
          <p:cNvPr id="28" name="Rectangle 27"/>
          <p:cNvSpPr/>
          <p:nvPr/>
        </p:nvSpPr>
        <p:spPr>
          <a:xfrm>
            <a:off x="4572000" y="3136900"/>
            <a:ext cx="5753100" cy="177800"/>
          </a:xfrm>
          <a:prstGeom prst="rect">
            <a:avLst/>
          </a:prstGeom>
          <a:solidFill>
            <a:srgbClr val="8A9A90">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452100" y="3073400"/>
            <a:ext cx="1079500" cy="304800"/>
          </a:xfrm>
          <a:prstGeom prst="rect">
            <a:avLst/>
          </a:prstGeom>
          <a:noFill/>
        </p:spPr>
        <p:txBody>
          <a:bodyPr wrap="none" lIns="0" rIns="0" tIns="0" bIns="0" anchor="ctr">
            <a:noAutofit/>
          </a:bodyPr>
          <a:lstStyle/>
          <a:p>
            <a:pPr algn="l">
              <a:lnSpc>
                <a:spcPct val="100000"/>
              </a:lnSpc>
            </a:pPr>
            <a:r>
              <a:rPr sz="2000" b="1">
                <a:solidFill>
                  <a:srgbClr val="8A9A90"/>
                </a:solidFill>
                <a:latin typeface="Yu Gothic"/>
                <a:ea typeface="Yu Gothic"/>
                <a:cs typeface="Yu Gothic"/>
              </a:rPr>
              <a:t>33.2%</a:t>
            </a:r>
          </a:p>
        </p:txBody>
      </p:sp>
      <p:sp>
        <p:nvSpPr>
          <p:cNvPr id="30" name="Rectangle 29"/>
          <p:cNvSpPr/>
          <p:nvPr/>
        </p:nvSpPr>
        <p:spPr>
          <a:xfrm>
            <a:off x="3644900" y="3073400"/>
            <a:ext cx="7886700" cy="304800"/>
          </a:xfrm>
          <a:prstGeom prst="rect">
            <a:avLst/>
          </a:prstGeom>
          <a:solidFill>
            <a:srgbClr val="F7F3E8">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3644900" y="3340100"/>
            <a:ext cx="800100" cy="279400"/>
          </a:xfrm>
          <a:prstGeom prst="rect">
            <a:avLst/>
          </a:prstGeom>
          <a:noFill/>
        </p:spPr>
        <p:txBody>
          <a:bodyPr wrap="none" lIns="0" rIns="0" tIns="0" bIns="0" anchor="ctr">
            <a:noAutofit/>
          </a:bodyPr>
          <a:lstStyle/>
          <a:p>
            <a:pPr algn="l">
              <a:lnSpc>
                <a:spcPct val="100000"/>
              </a:lnSpc>
            </a:pPr>
            <a:r>
              <a:rPr sz="1700" b="1">
                <a:solidFill>
                  <a:srgbClr val="B4442A"/>
                </a:solidFill>
                <a:latin typeface="Yu Gothic"/>
                <a:ea typeface="Yu Gothic"/>
                <a:cs typeface="Yu Gothic"/>
              </a:rPr>
              <a:t>90℃</a:t>
            </a:r>
          </a:p>
        </p:txBody>
      </p:sp>
      <p:sp>
        <p:nvSpPr>
          <p:cNvPr id="32" name="Rectangle 31"/>
          <p:cNvSpPr/>
          <p:nvPr/>
        </p:nvSpPr>
        <p:spPr>
          <a:xfrm>
            <a:off x="4572000" y="3390900"/>
            <a:ext cx="5753100" cy="177800"/>
          </a:xfrm>
          <a:prstGeom prst="rect">
            <a:avLst/>
          </a:prstGeom>
          <a:solidFill>
            <a:srgbClr val="8A9A90">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452100" y="3327400"/>
            <a:ext cx="1079500" cy="304800"/>
          </a:xfrm>
          <a:prstGeom prst="rect">
            <a:avLst/>
          </a:prstGeom>
          <a:noFill/>
        </p:spPr>
        <p:txBody>
          <a:bodyPr wrap="none" lIns="0" rIns="0" tIns="0" bIns="0" anchor="ctr">
            <a:noAutofit/>
          </a:bodyPr>
          <a:lstStyle/>
          <a:p>
            <a:pPr algn="l">
              <a:lnSpc>
                <a:spcPct val="100000"/>
              </a:lnSpc>
            </a:pPr>
            <a:r>
              <a:rPr sz="2000" b="1">
                <a:solidFill>
                  <a:srgbClr val="8A9A90"/>
                </a:solidFill>
                <a:latin typeface="Yu Gothic"/>
                <a:ea typeface="Yu Gothic"/>
                <a:cs typeface="Yu Gothic"/>
              </a:rPr>
              <a:t>44.2%</a:t>
            </a:r>
          </a:p>
        </p:txBody>
      </p:sp>
      <p:sp>
        <p:nvSpPr>
          <p:cNvPr id="34" name="Rectangle 33"/>
          <p:cNvSpPr/>
          <p:nvPr/>
        </p:nvSpPr>
        <p:spPr>
          <a:xfrm>
            <a:off x="3644900" y="3327400"/>
            <a:ext cx="7886700" cy="304800"/>
          </a:xfrm>
          <a:prstGeom prst="rect">
            <a:avLst/>
          </a:prstGeom>
          <a:solidFill>
            <a:srgbClr val="F7F3E8">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60400" y="3683000"/>
            <a:ext cx="2794000" cy="711200"/>
          </a:xfrm>
          <a:prstGeom prst="rect">
            <a:avLst/>
          </a:prstGeom>
          <a:noFill/>
        </p:spPr>
        <p:txBody>
          <a:bodyPr wrap="square" lIns="0" rIns="0" tIns="0" bIns="0" anchor="ctr">
            <a:noAutofit/>
          </a:bodyPr>
          <a:lstStyle/>
          <a:p>
            <a:pPr algn="r">
              <a:lnSpc>
                <a:spcPct val="120000"/>
              </a:lnSpc>
            </a:pPr>
            <a:r>
              <a:rPr sz="2400" b="1">
                <a:solidFill>
                  <a:srgbClr val="17372A"/>
                </a:solidFill>
                <a:latin typeface="Yu Gothic"/>
                <a:ea typeface="Yu Gothic"/>
                <a:cs typeface="Yu Gothic"/>
              </a:rPr>
              <a:t>EGCg</a:t>
            </a:r>
          </a:p>
          <a:p>
            <a:pPr algn="r">
              <a:lnSpc>
                <a:spcPct val="120000"/>
              </a:lnSpc>
            </a:pPr>
            <a:r>
              <a:rPr sz="1400" b="1">
                <a:solidFill>
                  <a:srgbClr val="4A6154"/>
                </a:solidFill>
                <a:latin typeface="Yu Gothic"/>
                <a:ea typeface="Yu Gothic"/>
                <a:cs typeface="Yu Gothic"/>
              </a:rPr>
              <a:t>ガレート型／重い苦渋味</a:t>
            </a:r>
          </a:p>
        </p:txBody>
      </p:sp>
      <p:sp>
        <p:nvSpPr>
          <p:cNvPr id="36" name="TextBox 35"/>
          <p:cNvSpPr txBox="1"/>
          <p:nvPr/>
        </p:nvSpPr>
        <p:spPr>
          <a:xfrm>
            <a:off x="3644900" y="3644900"/>
            <a:ext cx="800100" cy="279400"/>
          </a:xfrm>
          <a:prstGeom prst="rect">
            <a:avLst/>
          </a:prstGeom>
          <a:noFill/>
        </p:spPr>
        <p:txBody>
          <a:bodyPr wrap="none" lIns="0" rIns="0" tIns="0" bIns="0" anchor="ctr">
            <a:noAutofit/>
          </a:bodyPr>
          <a:lstStyle/>
          <a:p>
            <a:pPr algn="l">
              <a:lnSpc>
                <a:spcPct val="100000"/>
              </a:lnSpc>
            </a:pPr>
            <a:r>
              <a:rPr sz="1700" b="1">
                <a:solidFill>
                  <a:srgbClr val="1F6E96"/>
                </a:solidFill>
                <a:latin typeface="Yu Gothic"/>
                <a:ea typeface="Yu Gothic"/>
                <a:cs typeface="Yu Gothic"/>
              </a:rPr>
              <a:t>50℃</a:t>
            </a:r>
          </a:p>
        </p:txBody>
      </p:sp>
      <p:sp>
        <p:nvSpPr>
          <p:cNvPr id="37" name="Rectangle 36"/>
          <p:cNvSpPr/>
          <p:nvPr/>
        </p:nvSpPr>
        <p:spPr>
          <a:xfrm>
            <a:off x="4572000" y="3695700"/>
            <a:ext cx="5753100" cy="177800"/>
          </a:xfrm>
          <a:prstGeom prst="rect">
            <a:avLst/>
          </a:prstGeom>
          <a:solidFill>
            <a:srgbClr val="8A9A9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4572000" y="3695700"/>
            <a:ext cx="393700" cy="177800"/>
          </a:xfrm>
          <a:prstGeom prst="rect">
            <a:avLst/>
          </a:prstGeom>
          <a:solidFill>
            <a:srgbClr val="1F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452100" y="3632200"/>
            <a:ext cx="1079500" cy="304800"/>
          </a:xfrm>
          <a:prstGeom prst="rect">
            <a:avLst/>
          </a:prstGeom>
          <a:noFill/>
        </p:spPr>
        <p:txBody>
          <a:bodyPr wrap="none" lIns="0" rIns="0" tIns="0" bIns="0" anchor="ctr">
            <a:noAutofit/>
          </a:bodyPr>
          <a:lstStyle/>
          <a:p>
            <a:pPr algn="l">
              <a:lnSpc>
                <a:spcPct val="100000"/>
              </a:lnSpc>
            </a:pPr>
            <a:r>
              <a:rPr sz="2000" b="1">
                <a:solidFill>
                  <a:srgbClr val="1F6E96"/>
                </a:solidFill>
                <a:latin typeface="Yu Gothic"/>
                <a:ea typeface="Yu Gothic"/>
                <a:cs typeface="Yu Gothic"/>
              </a:rPr>
              <a:t>6.9%</a:t>
            </a:r>
          </a:p>
        </p:txBody>
      </p:sp>
      <p:sp>
        <p:nvSpPr>
          <p:cNvPr id="40" name="TextBox 39"/>
          <p:cNvSpPr txBox="1"/>
          <p:nvPr/>
        </p:nvSpPr>
        <p:spPr>
          <a:xfrm>
            <a:off x="3644900" y="3898900"/>
            <a:ext cx="800100" cy="279400"/>
          </a:xfrm>
          <a:prstGeom prst="rect">
            <a:avLst/>
          </a:prstGeom>
          <a:noFill/>
        </p:spPr>
        <p:txBody>
          <a:bodyPr wrap="none" lIns="0" rIns="0" tIns="0" bIns="0" anchor="ctr">
            <a:noAutofit/>
          </a:bodyPr>
          <a:lstStyle/>
          <a:p>
            <a:pPr algn="l">
              <a:lnSpc>
                <a:spcPct val="100000"/>
              </a:lnSpc>
            </a:pPr>
            <a:r>
              <a:rPr sz="1700" b="1">
                <a:solidFill>
                  <a:srgbClr val="C1891A"/>
                </a:solidFill>
                <a:latin typeface="Yu Gothic"/>
                <a:ea typeface="Yu Gothic"/>
                <a:cs typeface="Yu Gothic"/>
              </a:rPr>
              <a:t>70℃</a:t>
            </a:r>
          </a:p>
        </p:txBody>
      </p:sp>
      <p:sp>
        <p:nvSpPr>
          <p:cNvPr id="41" name="Rectangle 40"/>
          <p:cNvSpPr/>
          <p:nvPr/>
        </p:nvSpPr>
        <p:spPr>
          <a:xfrm>
            <a:off x="4572000" y="3949700"/>
            <a:ext cx="5753100" cy="177800"/>
          </a:xfrm>
          <a:prstGeom prst="rect">
            <a:avLst/>
          </a:prstGeom>
          <a:solidFill>
            <a:srgbClr val="8A9A90">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0452100" y="3886200"/>
            <a:ext cx="1079500" cy="304800"/>
          </a:xfrm>
          <a:prstGeom prst="rect">
            <a:avLst/>
          </a:prstGeom>
          <a:noFill/>
        </p:spPr>
        <p:txBody>
          <a:bodyPr wrap="none" lIns="0" rIns="0" tIns="0" bIns="0" anchor="ctr">
            <a:noAutofit/>
          </a:bodyPr>
          <a:lstStyle/>
          <a:p>
            <a:pPr algn="l">
              <a:lnSpc>
                <a:spcPct val="100000"/>
              </a:lnSpc>
            </a:pPr>
            <a:r>
              <a:rPr sz="2000" b="1">
                <a:solidFill>
                  <a:srgbClr val="8A9A90"/>
                </a:solidFill>
                <a:latin typeface="Yu Gothic"/>
                <a:ea typeface="Yu Gothic"/>
                <a:cs typeface="Yu Gothic"/>
              </a:rPr>
              <a:t>17.1%</a:t>
            </a:r>
          </a:p>
        </p:txBody>
      </p:sp>
      <p:sp>
        <p:nvSpPr>
          <p:cNvPr id="43" name="Rectangle 42"/>
          <p:cNvSpPr/>
          <p:nvPr/>
        </p:nvSpPr>
        <p:spPr>
          <a:xfrm>
            <a:off x="3644900" y="3886200"/>
            <a:ext cx="7886700" cy="304800"/>
          </a:xfrm>
          <a:prstGeom prst="rect">
            <a:avLst/>
          </a:prstGeom>
          <a:solidFill>
            <a:srgbClr val="F7F3E8">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3644900" y="4152900"/>
            <a:ext cx="800100" cy="279400"/>
          </a:xfrm>
          <a:prstGeom prst="rect">
            <a:avLst/>
          </a:prstGeom>
          <a:noFill/>
        </p:spPr>
        <p:txBody>
          <a:bodyPr wrap="none" lIns="0" rIns="0" tIns="0" bIns="0" anchor="ctr">
            <a:noAutofit/>
          </a:bodyPr>
          <a:lstStyle/>
          <a:p>
            <a:pPr algn="l">
              <a:lnSpc>
                <a:spcPct val="100000"/>
              </a:lnSpc>
            </a:pPr>
            <a:r>
              <a:rPr sz="1700" b="1">
                <a:solidFill>
                  <a:srgbClr val="B4442A"/>
                </a:solidFill>
                <a:latin typeface="Yu Gothic"/>
                <a:ea typeface="Yu Gothic"/>
                <a:cs typeface="Yu Gothic"/>
              </a:rPr>
              <a:t>90℃</a:t>
            </a:r>
          </a:p>
        </p:txBody>
      </p:sp>
      <p:sp>
        <p:nvSpPr>
          <p:cNvPr id="45" name="Rectangle 44"/>
          <p:cNvSpPr/>
          <p:nvPr/>
        </p:nvSpPr>
        <p:spPr>
          <a:xfrm>
            <a:off x="4572000" y="4203700"/>
            <a:ext cx="5753100" cy="177800"/>
          </a:xfrm>
          <a:prstGeom prst="rect">
            <a:avLst/>
          </a:prstGeom>
          <a:solidFill>
            <a:srgbClr val="8A9A90">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0452100" y="4140200"/>
            <a:ext cx="1079500" cy="304800"/>
          </a:xfrm>
          <a:prstGeom prst="rect">
            <a:avLst/>
          </a:prstGeom>
          <a:noFill/>
        </p:spPr>
        <p:txBody>
          <a:bodyPr wrap="none" lIns="0" rIns="0" tIns="0" bIns="0" anchor="ctr">
            <a:noAutofit/>
          </a:bodyPr>
          <a:lstStyle/>
          <a:p>
            <a:pPr algn="l">
              <a:lnSpc>
                <a:spcPct val="100000"/>
              </a:lnSpc>
            </a:pPr>
            <a:r>
              <a:rPr sz="2000" b="1">
                <a:solidFill>
                  <a:srgbClr val="8A9A90"/>
                </a:solidFill>
                <a:latin typeface="Yu Gothic"/>
                <a:ea typeface="Yu Gothic"/>
                <a:cs typeface="Yu Gothic"/>
              </a:rPr>
              <a:t>31.5%</a:t>
            </a:r>
          </a:p>
        </p:txBody>
      </p:sp>
      <p:sp>
        <p:nvSpPr>
          <p:cNvPr id="47" name="Rectangle 46"/>
          <p:cNvSpPr/>
          <p:nvPr/>
        </p:nvSpPr>
        <p:spPr>
          <a:xfrm>
            <a:off x="3644900" y="4140200"/>
            <a:ext cx="7886700" cy="304800"/>
          </a:xfrm>
          <a:prstGeom prst="rect">
            <a:avLst/>
          </a:prstGeom>
          <a:solidFill>
            <a:srgbClr val="F7F3E8">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60400" y="4495800"/>
            <a:ext cx="2794000" cy="711200"/>
          </a:xfrm>
          <a:prstGeom prst="rect">
            <a:avLst/>
          </a:prstGeom>
          <a:noFill/>
        </p:spPr>
        <p:txBody>
          <a:bodyPr wrap="square" lIns="0" rIns="0" tIns="0" bIns="0" anchor="ctr">
            <a:noAutofit/>
          </a:bodyPr>
          <a:lstStyle/>
          <a:p>
            <a:pPr algn="r">
              <a:lnSpc>
                <a:spcPct val="120000"/>
              </a:lnSpc>
            </a:pPr>
            <a:r>
              <a:rPr sz="2400" b="1">
                <a:solidFill>
                  <a:srgbClr val="17372A"/>
                </a:solidFill>
                <a:latin typeface="Yu Gothic"/>
                <a:ea typeface="Yu Gothic"/>
                <a:cs typeface="Yu Gothic"/>
              </a:rPr>
              <a:t>カフェイン</a:t>
            </a:r>
          </a:p>
          <a:p>
            <a:pPr algn="r">
              <a:lnSpc>
                <a:spcPct val="120000"/>
              </a:lnSpc>
            </a:pPr>
            <a:r>
              <a:rPr sz="1400" b="1">
                <a:solidFill>
                  <a:srgbClr val="4A6154"/>
                </a:solidFill>
                <a:latin typeface="Yu Gothic"/>
                <a:ea typeface="Yu Gothic"/>
                <a:cs typeface="Yu Gothic"/>
              </a:rPr>
              <a:t>アルカロイド／苦味</a:t>
            </a:r>
          </a:p>
        </p:txBody>
      </p:sp>
      <p:sp>
        <p:nvSpPr>
          <p:cNvPr id="49" name="TextBox 48"/>
          <p:cNvSpPr txBox="1"/>
          <p:nvPr/>
        </p:nvSpPr>
        <p:spPr>
          <a:xfrm>
            <a:off x="3644900" y="4457700"/>
            <a:ext cx="800100" cy="279400"/>
          </a:xfrm>
          <a:prstGeom prst="rect">
            <a:avLst/>
          </a:prstGeom>
          <a:noFill/>
        </p:spPr>
        <p:txBody>
          <a:bodyPr wrap="none" lIns="0" rIns="0" tIns="0" bIns="0" anchor="ctr">
            <a:noAutofit/>
          </a:bodyPr>
          <a:lstStyle/>
          <a:p>
            <a:pPr algn="l">
              <a:lnSpc>
                <a:spcPct val="100000"/>
              </a:lnSpc>
            </a:pPr>
            <a:r>
              <a:rPr sz="1700" b="1">
                <a:solidFill>
                  <a:srgbClr val="1F6E96"/>
                </a:solidFill>
                <a:latin typeface="Yu Gothic"/>
                <a:ea typeface="Yu Gothic"/>
                <a:cs typeface="Yu Gothic"/>
              </a:rPr>
              <a:t>50℃</a:t>
            </a:r>
          </a:p>
        </p:txBody>
      </p:sp>
      <p:sp>
        <p:nvSpPr>
          <p:cNvPr id="50" name="Rectangle 49"/>
          <p:cNvSpPr/>
          <p:nvPr/>
        </p:nvSpPr>
        <p:spPr>
          <a:xfrm>
            <a:off x="4572000" y="4508500"/>
            <a:ext cx="5753100" cy="177800"/>
          </a:xfrm>
          <a:prstGeom prst="rect">
            <a:avLst/>
          </a:prstGeom>
          <a:solidFill>
            <a:srgbClr val="8A9A9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4572000" y="4508500"/>
            <a:ext cx="1238250" cy="177800"/>
          </a:xfrm>
          <a:prstGeom prst="rect">
            <a:avLst/>
          </a:prstGeom>
          <a:solidFill>
            <a:srgbClr val="1F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10452100" y="4445000"/>
            <a:ext cx="1079500" cy="304800"/>
          </a:xfrm>
          <a:prstGeom prst="rect">
            <a:avLst/>
          </a:prstGeom>
          <a:noFill/>
        </p:spPr>
        <p:txBody>
          <a:bodyPr wrap="none" lIns="0" rIns="0" tIns="0" bIns="0" anchor="ctr">
            <a:noAutofit/>
          </a:bodyPr>
          <a:lstStyle/>
          <a:p>
            <a:pPr algn="l">
              <a:lnSpc>
                <a:spcPct val="100000"/>
              </a:lnSpc>
            </a:pPr>
            <a:r>
              <a:rPr sz="2000" b="1">
                <a:solidFill>
                  <a:srgbClr val="1F6E96"/>
                </a:solidFill>
                <a:latin typeface="Yu Gothic"/>
                <a:ea typeface="Yu Gothic"/>
                <a:cs typeface="Yu Gothic"/>
              </a:rPr>
              <a:t>21.6%</a:t>
            </a:r>
          </a:p>
        </p:txBody>
      </p:sp>
      <p:sp>
        <p:nvSpPr>
          <p:cNvPr id="53" name="TextBox 52"/>
          <p:cNvSpPr txBox="1"/>
          <p:nvPr/>
        </p:nvSpPr>
        <p:spPr>
          <a:xfrm>
            <a:off x="3644900" y="4711700"/>
            <a:ext cx="800100" cy="279400"/>
          </a:xfrm>
          <a:prstGeom prst="rect">
            <a:avLst/>
          </a:prstGeom>
          <a:noFill/>
        </p:spPr>
        <p:txBody>
          <a:bodyPr wrap="none" lIns="0" rIns="0" tIns="0" bIns="0" anchor="ctr">
            <a:noAutofit/>
          </a:bodyPr>
          <a:lstStyle/>
          <a:p>
            <a:pPr algn="l">
              <a:lnSpc>
                <a:spcPct val="100000"/>
              </a:lnSpc>
            </a:pPr>
            <a:r>
              <a:rPr sz="1700" b="1">
                <a:solidFill>
                  <a:srgbClr val="C1891A"/>
                </a:solidFill>
                <a:latin typeface="Yu Gothic"/>
                <a:ea typeface="Yu Gothic"/>
                <a:cs typeface="Yu Gothic"/>
              </a:rPr>
              <a:t>70℃</a:t>
            </a:r>
          </a:p>
        </p:txBody>
      </p:sp>
      <p:sp>
        <p:nvSpPr>
          <p:cNvPr id="54" name="Rectangle 53"/>
          <p:cNvSpPr/>
          <p:nvPr/>
        </p:nvSpPr>
        <p:spPr>
          <a:xfrm>
            <a:off x="4572000" y="4762500"/>
            <a:ext cx="5753100" cy="177800"/>
          </a:xfrm>
          <a:prstGeom prst="rect">
            <a:avLst/>
          </a:prstGeom>
          <a:solidFill>
            <a:srgbClr val="8A9A90">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10452100" y="4699000"/>
            <a:ext cx="1079500" cy="304800"/>
          </a:xfrm>
          <a:prstGeom prst="rect">
            <a:avLst/>
          </a:prstGeom>
          <a:noFill/>
        </p:spPr>
        <p:txBody>
          <a:bodyPr wrap="none" lIns="0" rIns="0" tIns="0" bIns="0" anchor="ctr">
            <a:noAutofit/>
          </a:bodyPr>
          <a:lstStyle/>
          <a:p>
            <a:pPr algn="l">
              <a:lnSpc>
                <a:spcPct val="100000"/>
              </a:lnSpc>
            </a:pPr>
            <a:r>
              <a:rPr sz="2000" b="1">
                <a:solidFill>
                  <a:srgbClr val="8A9A90"/>
                </a:solidFill>
                <a:latin typeface="Yu Gothic"/>
                <a:ea typeface="Yu Gothic"/>
                <a:cs typeface="Yu Gothic"/>
              </a:rPr>
              <a:t>34.6%</a:t>
            </a:r>
          </a:p>
        </p:txBody>
      </p:sp>
      <p:sp>
        <p:nvSpPr>
          <p:cNvPr id="56" name="Rectangle 55"/>
          <p:cNvSpPr/>
          <p:nvPr/>
        </p:nvSpPr>
        <p:spPr>
          <a:xfrm>
            <a:off x="3644900" y="4699000"/>
            <a:ext cx="7886700" cy="304800"/>
          </a:xfrm>
          <a:prstGeom prst="rect">
            <a:avLst/>
          </a:prstGeom>
          <a:solidFill>
            <a:srgbClr val="F7F3E8">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3644900" y="4965700"/>
            <a:ext cx="800100" cy="279400"/>
          </a:xfrm>
          <a:prstGeom prst="rect">
            <a:avLst/>
          </a:prstGeom>
          <a:noFill/>
        </p:spPr>
        <p:txBody>
          <a:bodyPr wrap="none" lIns="0" rIns="0" tIns="0" bIns="0" anchor="ctr">
            <a:noAutofit/>
          </a:bodyPr>
          <a:lstStyle/>
          <a:p>
            <a:pPr algn="l">
              <a:lnSpc>
                <a:spcPct val="100000"/>
              </a:lnSpc>
            </a:pPr>
            <a:r>
              <a:rPr sz="1700" b="1">
                <a:solidFill>
                  <a:srgbClr val="B4442A"/>
                </a:solidFill>
                <a:latin typeface="Yu Gothic"/>
                <a:ea typeface="Yu Gothic"/>
                <a:cs typeface="Yu Gothic"/>
              </a:rPr>
              <a:t>90℃</a:t>
            </a:r>
          </a:p>
        </p:txBody>
      </p:sp>
      <p:sp>
        <p:nvSpPr>
          <p:cNvPr id="58" name="Rectangle 57"/>
          <p:cNvSpPr/>
          <p:nvPr/>
        </p:nvSpPr>
        <p:spPr>
          <a:xfrm>
            <a:off x="4572000" y="5016500"/>
            <a:ext cx="5753100" cy="177800"/>
          </a:xfrm>
          <a:prstGeom prst="rect">
            <a:avLst/>
          </a:prstGeom>
          <a:solidFill>
            <a:srgbClr val="8A9A90">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10452100" y="4953000"/>
            <a:ext cx="1079500" cy="304800"/>
          </a:xfrm>
          <a:prstGeom prst="rect">
            <a:avLst/>
          </a:prstGeom>
          <a:noFill/>
        </p:spPr>
        <p:txBody>
          <a:bodyPr wrap="none" lIns="0" rIns="0" tIns="0" bIns="0" anchor="ctr">
            <a:noAutofit/>
          </a:bodyPr>
          <a:lstStyle/>
          <a:p>
            <a:pPr algn="l">
              <a:lnSpc>
                <a:spcPct val="100000"/>
              </a:lnSpc>
            </a:pPr>
            <a:r>
              <a:rPr sz="2000" b="1">
                <a:solidFill>
                  <a:srgbClr val="8A9A90"/>
                </a:solidFill>
                <a:latin typeface="Yu Gothic"/>
                <a:ea typeface="Yu Gothic"/>
                <a:cs typeface="Yu Gothic"/>
              </a:rPr>
              <a:t>62.7%</a:t>
            </a:r>
          </a:p>
        </p:txBody>
      </p:sp>
      <p:sp>
        <p:nvSpPr>
          <p:cNvPr id="60" name="Rectangle 59"/>
          <p:cNvSpPr/>
          <p:nvPr/>
        </p:nvSpPr>
        <p:spPr>
          <a:xfrm>
            <a:off x="3644900" y="4953000"/>
            <a:ext cx="7886700" cy="304800"/>
          </a:xfrm>
          <a:prstGeom prst="rect">
            <a:avLst/>
          </a:prstGeom>
          <a:solidFill>
            <a:srgbClr val="F7F3E8">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660400" y="5257800"/>
            <a:ext cx="10871200" cy="381000"/>
          </a:xfrm>
          <a:prstGeom prst="rect">
            <a:avLst/>
          </a:prstGeom>
          <a:noFill/>
        </p:spPr>
        <p:txBody>
          <a:bodyPr wrap="square" lIns="0" rIns="0" tIns="0" bIns="0" anchor="ctr">
            <a:noAutofit/>
          </a:bodyPr>
          <a:lstStyle/>
          <a:p>
            <a:pPr algn="ctr">
              <a:lnSpc>
                <a:spcPct val="130000"/>
              </a:lnSpc>
            </a:pPr>
            <a:r>
              <a:rPr sz="2300" b="1">
                <a:solidFill>
                  <a:srgbClr val="17372A"/>
                </a:solidFill>
                <a:latin typeface="Yu Gothic"/>
                <a:ea typeface="Yu Gothic"/>
                <a:cs typeface="Yu Gothic"/>
              </a:rPr>
              <a:t>旨味・甘みの成分は、</a:t>
            </a:r>
            <a:r>
              <a:rPr sz="2300" b="1">
                <a:solidFill>
                  <a:srgbClr val="17372A"/>
                </a:solidFill>
                <a:highlight>
                  <a:srgbClr val="D9C79B"/>
                </a:highlight>
                <a:latin typeface="Yu Gothic"/>
                <a:ea typeface="Yu Gothic"/>
                <a:cs typeface="Yu Gothic"/>
              </a:rPr>
              <a:t>低い温度でも溶け出しやすい。</a:t>
            </a:r>
          </a:p>
        </p:txBody>
      </p:sp>
      <p:sp>
        <p:nvSpPr>
          <p:cNvPr id="62" name="TextBox 61"/>
          <p:cNvSpPr txBox="1"/>
          <p:nvPr/>
        </p:nvSpPr>
        <p:spPr>
          <a:xfrm>
            <a:off x="660400" y="5689600"/>
            <a:ext cx="10871200" cy="558800"/>
          </a:xfrm>
          <a:prstGeom prst="rect">
            <a:avLst/>
          </a:prstGeom>
          <a:noFill/>
        </p:spPr>
        <p:txBody>
          <a:bodyPr wrap="square" lIns="0" rIns="0" tIns="0" bIns="0" anchor="ctr">
            <a:noAutofit/>
          </a:bodyPr>
          <a:lstStyle/>
          <a:p>
            <a:pPr algn="l">
              <a:lnSpc>
                <a:spcPct val="150000"/>
              </a:lnSpc>
            </a:pPr>
            <a:r>
              <a:rPr sz="1300" b="0">
                <a:solidFill>
                  <a:srgbClr val="4A6154"/>
                </a:solidFill>
                <a:latin typeface="Yu Gothic"/>
                <a:ea typeface="Yu Gothic"/>
                <a:cs typeface="Yu Gothic"/>
              </a:rPr>
              <a:t>坂本ら（2002）茶業研究報告 94:45-55、表2・表3（p.49）／深蒸し上級煎茶4g・湯120mL・1煎目60秒。3つの温度はそれぞれ別々に淹れた1煎目で、低温のあとに高温を重ねた結果ではない。アミノ酸類（表3）に90℃条件はない。拓朗（午）の実測値でもな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3E8"/>
        </a:solidFill>
        <a:effectLst/>
      </p:bgPr>
    </p:bg>
    <p:spTree>
      <p:nvGrpSpPr>
        <p:cNvPr id="1" name=""/>
        <p:cNvGrpSpPr/>
        <p:nvPr/>
      </p:nvGrpSpPr>
      <p:grpSpPr/>
      <p:sp>
        <p:nvSpPr>
          <p:cNvPr id="2" name="Rectangle 1"/>
          <p:cNvSpPr/>
          <p:nvPr/>
        </p:nvSpPr>
        <p:spPr>
          <a:xfrm>
            <a:off x="292100" y="292100"/>
            <a:ext cx="11607800" cy="6184900"/>
          </a:xfrm>
          <a:prstGeom prst="rect">
            <a:avLst/>
          </a:prstGeom>
          <a:noFill/>
          <a:ln w="12700">
            <a:solidFill>
              <a:srgbClr val="CBB5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60400" y="469900"/>
            <a:ext cx="10871200" cy="304800"/>
          </a:xfrm>
          <a:prstGeom prst="rect">
            <a:avLst/>
          </a:prstGeom>
          <a:noFill/>
        </p:spPr>
        <p:txBody>
          <a:bodyPr wrap="square" lIns="0" rIns="0" tIns="0" bIns="0" anchor="ctr">
            <a:noAutofit/>
          </a:bodyPr>
          <a:lstStyle/>
          <a:p>
            <a:pPr algn="l">
              <a:lnSpc>
                <a:spcPct val="100000"/>
              </a:lnSpc>
            </a:pPr>
            <a:r>
              <a:rPr sz="1900" b="1" spc="836">
                <a:solidFill>
                  <a:srgbClr val="9A7430"/>
                </a:solidFill>
                <a:latin typeface="Yu Gothic"/>
                <a:ea typeface="Yu Gothic"/>
                <a:cs typeface="Yu Gothic"/>
              </a:rPr>
              <a:t>THE SCIENCE</a:t>
            </a:r>
          </a:p>
        </p:txBody>
      </p:sp>
      <p:sp>
        <p:nvSpPr>
          <p:cNvPr id="4" name="TextBox 3"/>
          <p:cNvSpPr txBox="1"/>
          <p:nvPr/>
        </p:nvSpPr>
        <p:spPr>
          <a:xfrm>
            <a:off x="660400" y="914400"/>
            <a:ext cx="10871200" cy="609600"/>
          </a:xfrm>
          <a:prstGeom prst="rect">
            <a:avLst/>
          </a:prstGeom>
          <a:noFill/>
        </p:spPr>
        <p:txBody>
          <a:bodyPr wrap="square" lIns="0" rIns="0" tIns="0" bIns="0" anchor="ctr">
            <a:noAutofit/>
          </a:bodyPr>
          <a:lstStyle/>
          <a:p>
            <a:pPr algn="l">
              <a:lnSpc>
                <a:spcPct val="120000"/>
              </a:lnSpc>
            </a:pPr>
            <a:r>
              <a:rPr sz="4000" b="1">
                <a:solidFill>
                  <a:srgbClr val="17372A"/>
                </a:solidFill>
                <a:latin typeface="Yu Gothic"/>
                <a:ea typeface="Yu Gothic"/>
                <a:cs typeface="Yu Gothic"/>
              </a:rPr>
              <a:t>成分は、同じようには溶け出さない</a:t>
            </a:r>
          </a:p>
        </p:txBody>
      </p:sp>
      <p:sp>
        <p:nvSpPr>
          <p:cNvPr id="5" name="Rectangle 4"/>
          <p:cNvSpPr/>
          <p:nvPr/>
        </p:nvSpPr>
        <p:spPr>
          <a:xfrm>
            <a:off x="660400" y="1663700"/>
            <a:ext cx="1270000" cy="25400"/>
          </a:xfrm>
          <a:prstGeom prst="rect">
            <a:avLst/>
          </a:prstGeom>
          <a:solidFill>
            <a:srgbClr val="9A7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930400" y="1663700"/>
            <a:ext cx="9601200" cy="25400"/>
          </a:xfrm>
          <a:prstGeom prst="rect">
            <a:avLst/>
          </a:prstGeom>
          <a:solidFill>
            <a:srgbClr val="8A9A90">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1752600"/>
            <a:ext cx="10871200" cy="304800"/>
          </a:xfrm>
          <a:prstGeom prst="rect">
            <a:avLst/>
          </a:prstGeom>
          <a:noFill/>
        </p:spPr>
        <p:txBody>
          <a:bodyPr wrap="square" lIns="0" rIns="0" tIns="0" bIns="0" anchor="ctr">
            <a:noAutofit/>
          </a:bodyPr>
          <a:lstStyle/>
          <a:p>
            <a:pPr algn="ctr">
              <a:lnSpc>
                <a:spcPct val="120000"/>
              </a:lnSpc>
            </a:pPr>
            <a:r>
              <a:rPr sz="1650" b="1">
                <a:solidFill>
                  <a:srgbClr val="4A6154"/>
                </a:solidFill>
                <a:latin typeface="Yu Gothic"/>
                <a:ea typeface="Yu Gothic"/>
                <a:cs typeface="Yu Gothic"/>
              </a:rPr>
              <a:t>同じ茶葉を </a:t>
            </a:r>
            <a:r>
              <a:rPr sz="1650" b="1">
                <a:solidFill>
                  <a:srgbClr val="4A6154"/>
                </a:solidFill>
                <a:latin typeface="Yu Gothic"/>
                <a:ea typeface="Yu Gothic"/>
                <a:cs typeface="Yu Gothic"/>
              </a:rPr>
              <a:t>50℃</a:t>
            </a:r>
            <a:r>
              <a:rPr sz="1650" b="1">
                <a:solidFill>
                  <a:srgbClr val="4A6154"/>
                </a:solidFill>
                <a:latin typeface="Yu Gothic"/>
                <a:ea typeface="Yu Gothic"/>
                <a:cs typeface="Yu Gothic"/>
              </a:rPr>
              <a:t> ／ </a:t>
            </a:r>
            <a:r>
              <a:rPr sz="1650" b="1">
                <a:solidFill>
                  <a:srgbClr val="4A6154"/>
                </a:solidFill>
                <a:latin typeface="Yu Gothic"/>
                <a:ea typeface="Yu Gothic"/>
                <a:cs typeface="Yu Gothic"/>
              </a:rPr>
              <a:t>70℃</a:t>
            </a:r>
            <a:r>
              <a:rPr sz="1650" b="1">
                <a:solidFill>
                  <a:srgbClr val="4A6154"/>
                </a:solidFill>
                <a:latin typeface="Yu Gothic"/>
                <a:ea typeface="Yu Gothic"/>
                <a:cs typeface="Yu Gothic"/>
              </a:rPr>
              <a:t> ／ </a:t>
            </a:r>
            <a:r>
              <a:rPr sz="1650" b="1">
                <a:solidFill>
                  <a:srgbClr val="4A6154"/>
                </a:solidFill>
                <a:latin typeface="Yu Gothic"/>
                <a:ea typeface="Yu Gothic"/>
                <a:cs typeface="Yu Gothic"/>
              </a:rPr>
              <a:t>90℃</a:t>
            </a:r>
            <a:r>
              <a:rPr sz="1650" b="1">
                <a:solidFill>
                  <a:srgbClr val="4A6154"/>
                </a:solidFill>
                <a:latin typeface="Yu Gothic"/>
                <a:ea typeface="Yu Gothic"/>
                <a:cs typeface="Yu Gothic"/>
              </a:rPr>
              <a:t> で、それぞれ 60秒 淹れたとき</a:t>
            </a:r>
          </a:p>
        </p:txBody>
      </p:sp>
      <p:sp>
        <p:nvSpPr>
          <p:cNvPr id="8" name="TextBox 7"/>
          <p:cNvSpPr txBox="1"/>
          <p:nvPr/>
        </p:nvSpPr>
        <p:spPr>
          <a:xfrm>
            <a:off x="660400" y="2057400"/>
            <a:ext cx="2794000" cy="711200"/>
          </a:xfrm>
          <a:prstGeom prst="rect">
            <a:avLst/>
          </a:prstGeom>
          <a:noFill/>
        </p:spPr>
        <p:txBody>
          <a:bodyPr wrap="square" lIns="0" rIns="0" tIns="0" bIns="0" anchor="ctr">
            <a:noAutofit/>
          </a:bodyPr>
          <a:lstStyle/>
          <a:p>
            <a:pPr algn="r">
              <a:lnSpc>
                <a:spcPct val="120000"/>
              </a:lnSpc>
            </a:pPr>
            <a:r>
              <a:rPr sz="2400" b="1">
                <a:solidFill>
                  <a:srgbClr val="17372A"/>
                </a:solidFill>
                <a:latin typeface="Yu Gothic"/>
                <a:ea typeface="Yu Gothic"/>
                <a:cs typeface="Yu Gothic"/>
              </a:rPr>
              <a:t>テアニン</a:t>
            </a:r>
          </a:p>
          <a:p>
            <a:pPr algn="r">
              <a:lnSpc>
                <a:spcPct val="120000"/>
              </a:lnSpc>
            </a:pPr>
            <a:r>
              <a:rPr sz="1400" b="1">
                <a:solidFill>
                  <a:srgbClr val="4A6154"/>
                </a:solidFill>
                <a:latin typeface="Yu Gothic"/>
                <a:ea typeface="Yu Gothic"/>
                <a:cs typeface="Yu Gothic"/>
              </a:rPr>
              <a:t>アミノ酸類／旨味・甘味</a:t>
            </a:r>
          </a:p>
        </p:txBody>
      </p:sp>
      <p:sp>
        <p:nvSpPr>
          <p:cNvPr id="9" name="TextBox 8"/>
          <p:cNvSpPr txBox="1"/>
          <p:nvPr/>
        </p:nvSpPr>
        <p:spPr>
          <a:xfrm>
            <a:off x="3644900" y="2019300"/>
            <a:ext cx="800100" cy="279400"/>
          </a:xfrm>
          <a:prstGeom prst="rect">
            <a:avLst/>
          </a:prstGeom>
          <a:noFill/>
        </p:spPr>
        <p:txBody>
          <a:bodyPr wrap="none" lIns="0" rIns="0" tIns="0" bIns="0" anchor="ctr">
            <a:noAutofit/>
          </a:bodyPr>
          <a:lstStyle/>
          <a:p>
            <a:pPr algn="l">
              <a:lnSpc>
                <a:spcPct val="100000"/>
              </a:lnSpc>
            </a:pPr>
            <a:r>
              <a:rPr sz="1700" b="1">
                <a:solidFill>
                  <a:srgbClr val="1F6E96"/>
                </a:solidFill>
                <a:latin typeface="Yu Gothic"/>
                <a:ea typeface="Yu Gothic"/>
                <a:cs typeface="Yu Gothic"/>
              </a:rPr>
              <a:t>50℃</a:t>
            </a:r>
          </a:p>
        </p:txBody>
      </p:sp>
      <p:sp>
        <p:nvSpPr>
          <p:cNvPr id="10" name="Rectangle 9"/>
          <p:cNvSpPr/>
          <p:nvPr/>
        </p:nvSpPr>
        <p:spPr>
          <a:xfrm>
            <a:off x="4572000" y="2070100"/>
            <a:ext cx="5753100" cy="177800"/>
          </a:xfrm>
          <a:prstGeom prst="rect">
            <a:avLst/>
          </a:prstGeom>
          <a:solidFill>
            <a:srgbClr val="8A9A9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572000" y="2070100"/>
            <a:ext cx="2324100" cy="177800"/>
          </a:xfrm>
          <a:prstGeom prst="rect">
            <a:avLst/>
          </a:prstGeom>
          <a:solidFill>
            <a:srgbClr val="1F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452100" y="2006600"/>
            <a:ext cx="1079500" cy="304800"/>
          </a:xfrm>
          <a:prstGeom prst="rect">
            <a:avLst/>
          </a:prstGeom>
          <a:noFill/>
        </p:spPr>
        <p:txBody>
          <a:bodyPr wrap="none" lIns="0" rIns="0" tIns="0" bIns="0" anchor="ctr">
            <a:noAutofit/>
          </a:bodyPr>
          <a:lstStyle/>
          <a:p>
            <a:pPr algn="l">
              <a:lnSpc>
                <a:spcPct val="100000"/>
              </a:lnSpc>
            </a:pPr>
            <a:r>
              <a:rPr sz="2000" b="1">
                <a:solidFill>
                  <a:srgbClr val="1F6E96"/>
                </a:solidFill>
                <a:latin typeface="Yu Gothic"/>
                <a:ea typeface="Yu Gothic"/>
                <a:cs typeface="Yu Gothic"/>
              </a:rPr>
              <a:t>40.5%</a:t>
            </a:r>
          </a:p>
        </p:txBody>
      </p:sp>
      <p:sp>
        <p:nvSpPr>
          <p:cNvPr id="13" name="TextBox 12"/>
          <p:cNvSpPr txBox="1"/>
          <p:nvPr/>
        </p:nvSpPr>
        <p:spPr>
          <a:xfrm>
            <a:off x="3644900" y="2273300"/>
            <a:ext cx="800100" cy="279400"/>
          </a:xfrm>
          <a:prstGeom prst="rect">
            <a:avLst/>
          </a:prstGeom>
          <a:noFill/>
        </p:spPr>
        <p:txBody>
          <a:bodyPr wrap="none" lIns="0" rIns="0" tIns="0" bIns="0" anchor="ctr">
            <a:noAutofit/>
          </a:bodyPr>
          <a:lstStyle/>
          <a:p>
            <a:pPr algn="l">
              <a:lnSpc>
                <a:spcPct val="100000"/>
              </a:lnSpc>
            </a:pPr>
            <a:r>
              <a:rPr sz="1700" b="1">
                <a:solidFill>
                  <a:srgbClr val="C1891A"/>
                </a:solidFill>
                <a:latin typeface="Yu Gothic"/>
                <a:ea typeface="Yu Gothic"/>
                <a:cs typeface="Yu Gothic"/>
              </a:rPr>
              <a:t>70℃</a:t>
            </a:r>
          </a:p>
        </p:txBody>
      </p:sp>
      <p:sp>
        <p:nvSpPr>
          <p:cNvPr id="14" name="Rectangle 13"/>
          <p:cNvSpPr/>
          <p:nvPr/>
        </p:nvSpPr>
        <p:spPr>
          <a:xfrm>
            <a:off x="4572000" y="2324100"/>
            <a:ext cx="5753100" cy="177800"/>
          </a:xfrm>
          <a:prstGeom prst="rect">
            <a:avLst/>
          </a:prstGeom>
          <a:solidFill>
            <a:srgbClr val="8A9A9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572000" y="2324100"/>
            <a:ext cx="2832100" cy="177800"/>
          </a:xfrm>
          <a:prstGeom prst="rect">
            <a:avLst/>
          </a:prstGeom>
          <a:solidFill>
            <a:srgbClr val="C189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0452100" y="2260600"/>
            <a:ext cx="1079500" cy="304800"/>
          </a:xfrm>
          <a:prstGeom prst="rect">
            <a:avLst/>
          </a:prstGeom>
          <a:noFill/>
        </p:spPr>
        <p:txBody>
          <a:bodyPr wrap="none" lIns="0" rIns="0" tIns="0" bIns="0" anchor="ctr">
            <a:noAutofit/>
          </a:bodyPr>
          <a:lstStyle/>
          <a:p>
            <a:pPr algn="l">
              <a:lnSpc>
                <a:spcPct val="100000"/>
              </a:lnSpc>
            </a:pPr>
            <a:r>
              <a:rPr sz="2000" b="1">
                <a:solidFill>
                  <a:srgbClr val="C1891A"/>
                </a:solidFill>
                <a:latin typeface="Yu Gothic"/>
                <a:ea typeface="Yu Gothic"/>
                <a:cs typeface="Yu Gothic"/>
              </a:rPr>
              <a:t>49.3%</a:t>
            </a:r>
          </a:p>
        </p:txBody>
      </p:sp>
      <p:sp>
        <p:nvSpPr>
          <p:cNvPr id="17" name="TextBox 16"/>
          <p:cNvSpPr txBox="1"/>
          <p:nvPr/>
        </p:nvSpPr>
        <p:spPr>
          <a:xfrm>
            <a:off x="3644900" y="2527300"/>
            <a:ext cx="800100" cy="279400"/>
          </a:xfrm>
          <a:prstGeom prst="rect">
            <a:avLst/>
          </a:prstGeom>
          <a:noFill/>
        </p:spPr>
        <p:txBody>
          <a:bodyPr wrap="none" lIns="0" rIns="0" tIns="0" bIns="0" anchor="ctr">
            <a:noAutofit/>
          </a:bodyPr>
          <a:lstStyle/>
          <a:p>
            <a:pPr algn="l">
              <a:lnSpc>
                <a:spcPct val="100000"/>
              </a:lnSpc>
            </a:pPr>
            <a:r>
              <a:rPr sz="1700" b="1">
                <a:solidFill>
                  <a:srgbClr val="B4442A"/>
                </a:solidFill>
                <a:latin typeface="Yu Gothic"/>
                <a:ea typeface="Yu Gothic"/>
                <a:cs typeface="Yu Gothic"/>
              </a:rPr>
              <a:t>90℃</a:t>
            </a:r>
          </a:p>
        </p:txBody>
      </p:sp>
      <p:sp>
        <p:nvSpPr>
          <p:cNvPr id="18" name="Rectangle 17"/>
          <p:cNvSpPr/>
          <p:nvPr/>
        </p:nvSpPr>
        <p:spPr>
          <a:xfrm>
            <a:off x="4572000" y="2578100"/>
            <a:ext cx="5753100" cy="177800"/>
          </a:xfrm>
          <a:prstGeom prst="rect">
            <a:avLst/>
          </a:prstGeom>
          <a:solidFill>
            <a:srgbClr val="8A9A90">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660900" y="2527300"/>
            <a:ext cx="1905000" cy="279400"/>
          </a:xfrm>
          <a:prstGeom prst="rect">
            <a:avLst/>
          </a:prstGeom>
          <a:noFill/>
        </p:spPr>
        <p:txBody>
          <a:bodyPr wrap="square" lIns="0" rIns="0" tIns="0" bIns="0" anchor="ctr">
            <a:noAutofit/>
          </a:bodyPr>
          <a:lstStyle/>
          <a:p>
            <a:pPr algn="l">
              <a:lnSpc>
                <a:spcPct val="100000"/>
              </a:lnSpc>
            </a:pPr>
            <a:r>
              <a:rPr sz="1300" b="1">
                <a:solidFill>
                  <a:srgbClr val="4A6154"/>
                </a:solidFill>
                <a:latin typeface="Yu Gothic"/>
                <a:ea typeface="Yu Gothic"/>
                <a:cs typeface="Yu Gothic"/>
              </a:rPr>
              <a:t>90℃条件の測定なし</a:t>
            </a:r>
          </a:p>
        </p:txBody>
      </p:sp>
      <p:sp>
        <p:nvSpPr>
          <p:cNvPr id="20" name="TextBox 19"/>
          <p:cNvSpPr txBox="1"/>
          <p:nvPr/>
        </p:nvSpPr>
        <p:spPr>
          <a:xfrm>
            <a:off x="10452100" y="2527300"/>
            <a:ext cx="1079500" cy="279400"/>
          </a:xfrm>
          <a:prstGeom prst="rect">
            <a:avLst/>
          </a:prstGeom>
          <a:noFill/>
        </p:spPr>
        <p:txBody>
          <a:bodyPr wrap="none" lIns="0" rIns="0" tIns="0" bIns="0" anchor="ctr">
            <a:noAutofit/>
          </a:bodyPr>
          <a:lstStyle/>
          <a:p>
            <a:pPr algn="l">
              <a:lnSpc>
                <a:spcPct val="100000"/>
              </a:lnSpc>
            </a:pPr>
            <a:r>
              <a:rPr sz="1500" b="1">
                <a:solidFill>
                  <a:srgbClr val="8A9A90"/>
                </a:solidFill>
                <a:latin typeface="Yu Gothic"/>
                <a:ea typeface="Yu Gothic"/>
                <a:cs typeface="Yu Gothic"/>
              </a:rPr>
              <a:t>—</a:t>
            </a:r>
          </a:p>
        </p:txBody>
      </p:sp>
      <p:sp>
        <p:nvSpPr>
          <p:cNvPr id="21" name="Rectangle 20"/>
          <p:cNvSpPr/>
          <p:nvPr/>
        </p:nvSpPr>
        <p:spPr>
          <a:xfrm>
            <a:off x="3644900" y="2514600"/>
            <a:ext cx="7886700" cy="304800"/>
          </a:xfrm>
          <a:prstGeom prst="rect">
            <a:avLst/>
          </a:prstGeom>
          <a:solidFill>
            <a:srgbClr val="F7F3E8">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60400" y="2870200"/>
            <a:ext cx="2794000" cy="711200"/>
          </a:xfrm>
          <a:prstGeom prst="rect">
            <a:avLst/>
          </a:prstGeom>
          <a:noFill/>
        </p:spPr>
        <p:txBody>
          <a:bodyPr wrap="square" lIns="0" rIns="0" tIns="0" bIns="0" anchor="ctr">
            <a:noAutofit/>
          </a:bodyPr>
          <a:lstStyle/>
          <a:p>
            <a:pPr algn="r">
              <a:lnSpc>
                <a:spcPct val="120000"/>
              </a:lnSpc>
            </a:pPr>
            <a:r>
              <a:rPr sz="2400" b="1">
                <a:solidFill>
                  <a:srgbClr val="17372A"/>
                </a:solidFill>
                <a:latin typeface="Yu Gothic"/>
                <a:ea typeface="Yu Gothic"/>
                <a:cs typeface="Yu Gothic"/>
              </a:rPr>
              <a:t>EGC</a:t>
            </a:r>
          </a:p>
          <a:p>
            <a:pPr algn="r">
              <a:lnSpc>
                <a:spcPct val="120000"/>
              </a:lnSpc>
            </a:pPr>
            <a:r>
              <a:rPr sz="1400" b="1">
                <a:solidFill>
                  <a:srgbClr val="4A6154"/>
                </a:solidFill>
                <a:latin typeface="Yu Gothic"/>
                <a:ea typeface="Yu Gothic"/>
                <a:cs typeface="Yu Gothic"/>
              </a:rPr>
              <a:t>遊離型カテキン／爽やかな渋み</a:t>
            </a:r>
          </a:p>
        </p:txBody>
      </p:sp>
      <p:sp>
        <p:nvSpPr>
          <p:cNvPr id="23" name="TextBox 22"/>
          <p:cNvSpPr txBox="1"/>
          <p:nvPr/>
        </p:nvSpPr>
        <p:spPr>
          <a:xfrm>
            <a:off x="3644900" y="2832100"/>
            <a:ext cx="800100" cy="279400"/>
          </a:xfrm>
          <a:prstGeom prst="rect">
            <a:avLst/>
          </a:prstGeom>
          <a:noFill/>
        </p:spPr>
        <p:txBody>
          <a:bodyPr wrap="none" lIns="0" rIns="0" tIns="0" bIns="0" anchor="ctr">
            <a:noAutofit/>
          </a:bodyPr>
          <a:lstStyle/>
          <a:p>
            <a:pPr algn="l">
              <a:lnSpc>
                <a:spcPct val="100000"/>
              </a:lnSpc>
            </a:pPr>
            <a:r>
              <a:rPr sz="1700" b="1">
                <a:solidFill>
                  <a:srgbClr val="1F6E96"/>
                </a:solidFill>
                <a:latin typeface="Yu Gothic"/>
                <a:ea typeface="Yu Gothic"/>
                <a:cs typeface="Yu Gothic"/>
              </a:rPr>
              <a:t>50℃</a:t>
            </a:r>
          </a:p>
        </p:txBody>
      </p:sp>
      <p:sp>
        <p:nvSpPr>
          <p:cNvPr id="24" name="Rectangle 23"/>
          <p:cNvSpPr/>
          <p:nvPr/>
        </p:nvSpPr>
        <p:spPr>
          <a:xfrm>
            <a:off x="4572000" y="2882900"/>
            <a:ext cx="5753100" cy="177800"/>
          </a:xfrm>
          <a:prstGeom prst="rect">
            <a:avLst/>
          </a:prstGeom>
          <a:solidFill>
            <a:srgbClr val="8A9A9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572000" y="2882900"/>
            <a:ext cx="1003300" cy="177800"/>
          </a:xfrm>
          <a:prstGeom prst="rect">
            <a:avLst/>
          </a:prstGeom>
          <a:solidFill>
            <a:srgbClr val="1F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452100" y="2819400"/>
            <a:ext cx="1079500" cy="304800"/>
          </a:xfrm>
          <a:prstGeom prst="rect">
            <a:avLst/>
          </a:prstGeom>
          <a:noFill/>
        </p:spPr>
        <p:txBody>
          <a:bodyPr wrap="none" lIns="0" rIns="0" tIns="0" bIns="0" anchor="ctr">
            <a:noAutofit/>
          </a:bodyPr>
          <a:lstStyle/>
          <a:p>
            <a:pPr algn="l">
              <a:lnSpc>
                <a:spcPct val="100000"/>
              </a:lnSpc>
            </a:pPr>
            <a:r>
              <a:rPr sz="2000" b="1">
                <a:solidFill>
                  <a:srgbClr val="1F6E96"/>
                </a:solidFill>
                <a:latin typeface="Yu Gothic"/>
                <a:ea typeface="Yu Gothic"/>
                <a:cs typeface="Yu Gothic"/>
              </a:rPr>
              <a:t>17.5%</a:t>
            </a:r>
          </a:p>
        </p:txBody>
      </p:sp>
      <p:sp>
        <p:nvSpPr>
          <p:cNvPr id="27" name="TextBox 26"/>
          <p:cNvSpPr txBox="1"/>
          <p:nvPr/>
        </p:nvSpPr>
        <p:spPr>
          <a:xfrm>
            <a:off x="3644900" y="3086100"/>
            <a:ext cx="800100" cy="279400"/>
          </a:xfrm>
          <a:prstGeom prst="rect">
            <a:avLst/>
          </a:prstGeom>
          <a:noFill/>
        </p:spPr>
        <p:txBody>
          <a:bodyPr wrap="none" lIns="0" rIns="0" tIns="0" bIns="0" anchor="ctr">
            <a:noAutofit/>
          </a:bodyPr>
          <a:lstStyle/>
          <a:p>
            <a:pPr algn="l">
              <a:lnSpc>
                <a:spcPct val="100000"/>
              </a:lnSpc>
            </a:pPr>
            <a:r>
              <a:rPr sz="1700" b="1">
                <a:solidFill>
                  <a:srgbClr val="C1891A"/>
                </a:solidFill>
                <a:latin typeface="Yu Gothic"/>
                <a:ea typeface="Yu Gothic"/>
                <a:cs typeface="Yu Gothic"/>
              </a:rPr>
              <a:t>70℃</a:t>
            </a:r>
          </a:p>
        </p:txBody>
      </p:sp>
      <p:sp>
        <p:nvSpPr>
          <p:cNvPr id="28" name="Rectangle 27"/>
          <p:cNvSpPr/>
          <p:nvPr/>
        </p:nvSpPr>
        <p:spPr>
          <a:xfrm>
            <a:off x="4572000" y="3136900"/>
            <a:ext cx="5753100" cy="177800"/>
          </a:xfrm>
          <a:prstGeom prst="rect">
            <a:avLst/>
          </a:prstGeom>
          <a:solidFill>
            <a:srgbClr val="8A9A9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4572000" y="3136900"/>
            <a:ext cx="1905000" cy="177800"/>
          </a:xfrm>
          <a:prstGeom prst="rect">
            <a:avLst/>
          </a:prstGeom>
          <a:solidFill>
            <a:srgbClr val="C189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452100" y="3073400"/>
            <a:ext cx="1079500" cy="304800"/>
          </a:xfrm>
          <a:prstGeom prst="rect">
            <a:avLst/>
          </a:prstGeom>
          <a:noFill/>
        </p:spPr>
        <p:txBody>
          <a:bodyPr wrap="none" lIns="0" rIns="0" tIns="0" bIns="0" anchor="ctr">
            <a:noAutofit/>
          </a:bodyPr>
          <a:lstStyle/>
          <a:p>
            <a:pPr algn="l">
              <a:lnSpc>
                <a:spcPct val="100000"/>
              </a:lnSpc>
            </a:pPr>
            <a:r>
              <a:rPr sz="2000" b="1">
                <a:solidFill>
                  <a:srgbClr val="C1891A"/>
                </a:solidFill>
                <a:latin typeface="Yu Gothic"/>
                <a:ea typeface="Yu Gothic"/>
                <a:cs typeface="Yu Gothic"/>
              </a:rPr>
              <a:t>33.2%</a:t>
            </a:r>
          </a:p>
        </p:txBody>
      </p:sp>
      <p:sp>
        <p:nvSpPr>
          <p:cNvPr id="31" name="TextBox 30"/>
          <p:cNvSpPr txBox="1"/>
          <p:nvPr/>
        </p:nvSpPr>
        <p:spPr>
          <a:xfrm>
            <a:off x="3644900" y="3340100"/>
            <a:ext cx="800100" cy="279400"/>
          </a:xfrm>
          <a:prstGeom prst="rect">
            <a:avLst/>
          </a:prstGeom>
          <a:noFill/>
        </p:spPr>
        <p:txBody>
          <a:bodyPr wrap="none" lIns="0" rIns="0" tIns="0" bIns="0" anchor="ctr">
            <a:noAutofit/>
          </a:bodyPr>
          <a:lstStyle/>
          <a:p>
            <a:pPr algn="l">
              <a:lnSpc>
                <a:spcPct val="100000"/>
              </a:lnSpc>
            </a:pPr>
            <a:r>
              <a:rPr sz="1700" b="1">
                <a:solidFill>
                  <a:srgbClr val="B4442A"/>
                </a:solidFill>
                <a:latin typeface="Yu Gothic"/>
                <a:ea typeface="Yu Gothic"/>
                <a:cs typeface="Yu Gothic"/>
              </a:rPr>
              <a:t>90℃</a:t>
            </a:r>
          </a:p>
        </p:txBody>
      </p:sp>
      <p:sp>
        <p:nvSpPr>
          <p:cNvPr id="32" name="Rectangle 31"/>
          <p:cNvSpPr/>
          <p:nvPr/>
        </p:nvSpPr>
        <p:spPr>
          <a:xfrm>
            <a:off x="4572000" y="3390900"/>
            <a:ext cx="5753100" cy="177800"/>
          </a:xfrm>
          <a:prstGeom prst="rect">
            <a:avLst/>
          </a:prstGeom>
          <a:solidFill>
            <a:srgbClr val="8A9A90">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452100" y="3327400"/>
            <a:ext cx="1079500" cy="304800"/>
          </a:xfrm>
          <a:prstGeom prst="rect">
            <a:avLst/>
          </a:prstGeom>
          <a:noFill/>
        </p:spPr>
        <p:txBody>
          <a:bodyPr wrap="none" lIns="0" rIns="0" tIns="0" bIns="0" anchor="ctr">
            <a:noAutofit/>
          </a:bodyPr>
          <a:lstStyle/>
          <a:p>
            <a:pPr algn="l">
              <a:lnSpc>
                <a:spcPct val="100000"/>
              </a:lnSpc>
            </a:pPr>
            <a:r>
              <a:rPr sz="2000" b="1">
                <a:solidFill>
                  <a:srgbClr val="8A9A90"/>
                </a:solidFill>
                <a:latin typeface="Yu Gothic"/>
                <a:ea typeface="Yu Gothic"/>
                <a:cs typeface="Yu Gothic"/>
              </a:rPr>
              <a:t>44.2%</a:t>
            </a:r>
          </a:p>
        </p:txBody>
      </p:sp>
      <p:sp>
        <p:nvSpPr>
          <p:cNvPr id="34" name="Rectangle 33"/>
          <p:cNvSpPr/>
          <p:nvPr/>
        </p:nvSpPr>
        <p:spPr>
          <a:xfrm>
            <a:off x="3644900" y="3327400"/>
            <a:ext cx="7886700" cy="304800"/>
          </a:xfrm>
          <a:prstGeom prst="rect">
            <a:avLst/>
          </a:prstGeom>
          <a:solidFill>
            <a:srgbClr val="F7F3E8">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60400" y="3683000"/>
            <a:ext cx="2794000" cy="711200"/>
          </a:xfrm>
          <a:prstGeom prst="rect">
            <a:avLst/>
          </a:prstGeom>
          <a:noFill/>
        </p:spPr>
        <p:txBody>
          <a:bodyPr wrap="square" lIns="0" rIns="0" tIns="0" bIns="0" anchor="ctr">
            <a:noAutofit/>
          </a:bodyPr>
          <a:lstStyle/>
          <a:p>
            <a:pPr algn="r">
              <a:lnSpc>
                <a:spcPct val="120000"/>
              </a:lnSpc>
            </a:pPr>
            <a:r>
              <a:rPr sz="2400" b="1">
                <a:solidFill>
                  <a:srgbClr val="17372A"/>
                </a:solidFill>
                <a:latin typeface="Yu Gothic"/>
                <a:ea typeface="Yu Gothic"/>
                <a:cs typeface="Yu Gothic"/>
              </a:rPr>
              <a:t>EGCg</a:t>
            </a:r>
          </a:p>
          <a:p>
            <a:pPr algn="r">
              <a:lnSpc>
                <a:spcPct val="120000"/>
              </a:lnSpc>
            </a:pPr>
            <a:r>
              <a:rPr sz="1400" b="1">
                <a:solidFill>
                  <a:srgbClr val="4A6154"/>
                </a:solidFill>
                <a:latin typeface="Yu Gothic"/>
                <a:ea typeface="Yu Gothic"/>
                <a:cs typeface="Yu Gothic"/>
              </a:rPr>
              <a:t>ガレート型／重い苦渋味</a:t>
            </a:r>
          </a:p>
        </p:txBody>
      </p:sp>
      <p:sp>
        <p:nvSpPr>
          <p:cNvPr id="36" name="TextBox 35"/>
          <p:cNvSpPr txBox="1"/>
          <p:nvPr/>
        </p:nvSpPr>
        <p:spPr>
          <a:xfrm>
            <a:off x="3644900" y="3644900"/>
            <a:ext cx="800100" cy="279400"/>
          </a:xfrm>
          <a:prstGeom prst="rect">
            <a:avLst/>
          </a:prstGeom>
          <a:noFill/>
        </p:spPr>
        <p:txBody>
          <a:bodyPr wrap="none" lIns="0" rIns="0" tIns="0" bIns="0" anchor="ctr">
            <a:noAutofit/>
          </a:bodyPr>
          <a:lstStyle/>
          <a:p>
            <a:pPr algn="l">
              <a:lnSpc>
                <a:spcPct val="100000"/>
              </a:lnSpc>
            </a:pPr>
            <a:r>
              <a:rPr sz="1700" b="1">
                <a:solidFill>
                  <a:srgbClr val="1F6E96"/>
                </a:solidFill>
                <a:latin typeface="Yu Gothic"/>
                <a:ea typeface="Yu Gothic"/>
                <a:cs typeface="Yu Gothic"/>
              </a:rPr>
              <a:t>50℃</a:t>
            </a:r>
          </a:p>
        </p:txBody>
      </p:sp>
      <p:sp>
        <p:nvSpPr>
          <p:cNvPr id="37" name="Rectangle 36"/>
          <p:cNvSpPr/>
          <p:nvPr/>
        </p:nvSpPr>
        <p:spPr>
          <a:xfrm>
            <a:off x="4572000" y="3695700"/>
            <a:ext cx="5753100" cy="177800"/>
          </a:xfrm>
          <a:prstGeom prst="rect">
            <a:avLst/>
          </a:prstGeom>
          <a:solidFill>
            <a:srgbClr val="8A9A9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4572000" y="3695700"/>
            <a:ext cx="393700" cy="177800"/>
          </a:xfrm>
          <a:prstGeom prst="rect">
            <a:avLst/>
          </a:prstGeom>
          <a:solidFill>
            <a:srgbClr val="1F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452100" y="3632200"/>
            <a:ext cx="1079500" cy="304800"/>
          </a:xfrm>
          <a:prstGeom prst="rect">
            <a:avLst/>
          </a:prstGeom>
          <a:noFill/>
        </p:spPr>
        <p:txBody>
          <a:bodyPr wrap="none" lIns="0" rIns="0" tIns="0" bIns="0" anchor="ctr">
            <a:noAutofit/>
          </a:bodyPr>
          <a:lstStyle/>
          <a:p>
            <a:pPr algn="l">
              <a:lnSpc>
                <a:spcPct val="100000"/>
              </a:lnSpc>
            </a:pPr>
            <a:r>
              <a:rPr sz="2000" b="1">
                <a:solidFill>
                  <a:srgbClr val="1F6E96"/>
                </a:solidFill>
                <a:latin typeface="Yu Gothic"/>
                <a:ea typeface="Yu Gothic"/>
                <a:cs typeface="Yu Gothic"/>
              </a:rPr>
              <a:t>6.9%</a:t>
            </a:r>
          </a:p>
        </p:txBody>
      </p:sp>
      <p:sp>
        <p:nvSpPr>
          <p:cNvPr id="40" name="TextBox 39"/>
          <p:cNvSpPr txBox="1"/>
          <p:nvPr/>
        </p:nvSpPr>
        <p:spPr>
          <a:xfrm>
            <a:off x="3644900" y="3898900"/>
            <a:ext cx="800100" cy="279400"/>
          </a:xfrm>
          <a:prstGeom prst="rect">
            <a:avLst/>
          </a:prstGeom>
          <a:noFill/>
        </p:spPr>
        <p:txBody>
          <a:bodyPr wrap="none" lIns="0" rIns="0" tIns="0" bIns="0" anchor="ctr">
            <a:noAutofit/>
          </a:bodyPr>
          <a:lstStyle/>
          <a:p>
            <a:pPr algn="l">
              <a:lnSpc>
                <a:spcPct val="100000"/>
              </a:lnSpc>
            </a:pPr>
            <a:r>
              <a:rPr sz="1700" b="1">
                <a:solidFill>
                  <a:srgbClr val="C1891A"/>
                </a:solidFill>
                <a:latin typeface="Yu Gothic"/>
                <a:ea typeface="Yu Gothic"/>
                <a:cs typeface="Yu Gothic"/>
              </a:rPr>
              <a:t>70℃</a:t>
            </a:r>
          </a:p>
        </p:txBody>
      </p:sp>
      <p:sp>
        <p:nvSpPr>
          <p:cNvPr id="41" name="Rectangle 40"/>
          <p:cNvSpPr/>
          <p:nvPr/>
        </p:nvSpPr>
        <p:spPr>
          <a:xfrm>
            <a:off x="4572000" y="3949700"/>
            <a:ext cx="5753100" cy="177800"/>
          </a:xfrm>
          <a:prstGeom prst="rect">
            <a:avLst/>
          </a:prstGeom>
          <a:solidFill>
            <a:srgbClr val="8A9A9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4572000" y="3949700"/>
            <a:ext cx="977900" cy="177800"/>
          </a:xfrm>
          <a:prstGeom prst="rect">
            <a:avLst/>
          </a:prstGeom>
          <a:solidFill>
            <a:srgbClr val="C189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0452100" y="3886200"/>
            <a:ext cx="1079500" cy="304800"/>
          </a:xfrm>
          <a:prstGeom prst="rect">
            <a:avLst/>
          </a:prstGeom>
          <a:noFill/>
        </p:spPr>
        <p:txBody>
          <a:bodyPr wrap="none" lIns="0" rIns="0" tIns="0" bIns="0" anchor="ctr">
            <a:noAutofit/>
          </a:bodyPr>
          <a:lstStyle/>
          <a:p>
            <a:pPr algn="l">
              <a:lnSpc>
                <a:spcPct val="100000"/>
              </a:lnSpc>
            </a:pPr>
            <a:r>
              <a:rPr sz="2000" b="1">
                <a:solidFill>
                  <a:srgbClr val="C1891A"/>
                </a:solidFill>
                <a:latin typeface="Yu Gothic"/>
                <a:ea typeface="Yu Gothic"/>
                <a:cs typeface="Yu Gothic"/>
              </a:rPr>
              <a:t>17.1%</a:t>
            </a:r>
          </a:p>
        </p:txBody>
      </p:sp>
      <p:sp>
        <p:nvSpPr>
          <p:cNvPr id="44" name="TextBox 43"/>
          <p:cNvSpPr txBox="1"/>
          <p:nvPr/>
        </p:nvSpPr>
        <p:spPr>
          <a:xfrm>
            <a:off x="3644900" y="4152900"/>
            <a:ext cx="800100" cy="279400"/>
          </a:xfrm>
          <a:prstGeom prst="rect">
            <a:avLst/>
          </a:prstGeom>
          <a:noFill/>
        </p:spPr>
        <p:txBody>
          <a:bodyPr wrap="none" lIns="0" rIns="0" tIns="0" bIns="0" anchor="ctr">
            <a:noAutofit/>
          </a:bodyPr>
          <a:lstStyle/>
          <a:p>
            <a:pPr algn="l">
              <a:lnSpc>
                <a:spcPct val="100000"/>
              </a:lnSpc>
            </a:pPr>
            <a:r>
              <a:rPr sz="1700" b="1">
                <a:solidFill>
                  <a:srgbClr val="B4442A"/>
                </a:solidFill>
                <a:latin typeface="Yu Gothic"/>
                <a:ea typeface="Yu Gothic"/>
                <a:cs typeface="Yu Gothic"/>
              </a:rPr>
              <a:t>90℃</a:t>
            </a:r>
          </a:p>
        </p:txBody>
      </p:sp>
      <p:sp>
        <p:nvSpPr>
          <p:cNvPr id="45" name="Rectangle 44"/>
          <p:cNvSpPr/>
          <p:nvPr/>
        </p:nvSpPr>
        <p:spPr>
          <a:xfrm>
            <a:off x="4572000" y="4203700"/>
            <a:ext cx="5753100" cy="177800"/>
          </a:xfrm>
          <a:prstGeom prst="rect">
            <a:avLst/>
          </a:prstGeom>
          <a:solidFill>
            <a:srgbClr val="8A9A90">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0452100" y="4140200"/>
            <a:ext cx="1079500" cy="304800"/>
          </a:xfrm>
          <a:prstGeom prst="rect">
            <a:avLst/>
          </a:prstGeom>
          <a:noFill/>
        </p:spPr>
        <p:txBody>
          <a:bodyPr wrap="none" lIns="0" rIns="0" tIns="0" bIns="0" anchor="ctr">
            <a:noAutofit/>
          </a:bodyPr>
          <a:lstStyle/>
          <a:p>
            <a:pPr algn="l">
              <a:lnSpc>
                <a:spcPct val="100000"/>
              </a:lnSpc>
            </a:pPr>
            <a:r>
              <a:rPr sz="2000" b="1">
                <a:solidFill>
                  <a:srgbClr val="8A9A90"/>
                </a:solidFill>
                <a:latin typeface="Yu Gothic"/>
                <a:ea typeface="Yu Gothic"/>
                <a:cs typeface="Yu Gothic"/>
              </a:rPr>
              <a:t>31.5%</a:t>
            </a:r>
          </a:p>
        </p:txBody>
      </p:sp>
      <p:sp>
        <p:nvSpPr>
          <p:cNvPr id="47" name="Rectangle 46"/>
          <p:cNvSpPr/>
          <p:nvPr/>
        </p:nvSpPr>
        <p:spPr>
          <a:xfrm>
            <a:off x="3644900" y="4140200"/>
            <a:ext cx="7886700" cy="304800"/>
          </a:xfrm>
          <a:prstGeom prst="rect">
            <a:avLst/>
          </a:prstGeom>
          <a:solidFill>
            <a:srgbClr val="F7F3E8">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60400" y="4495800"/>
            <a:ext cx="2794000" cy="711200"/>
          </a:xfrm>
          <a:prstGeom prst="rect">
            <a:avLst/>
          </a:prstGeom>
          <a:noFill/>
        </p:spPr>
        <p:txBody>
          <a:bodyPr wrap="square" lIns="0" rIns="0" tIns="0" bIns="0" anchor="ctr">
            <a:noAutofit/>
          </a:bodyPr>
          <a:lstStyle/>
          <a:p>
            <a:pPr algn="r">
              <a:lnSpc>
                <a:spcPct val="120000"/>
              </a:lnSpc>
            </a:pPr>
            <a:r>
              <a:rPr sz="2400" b="1">
                <a:solidFill>
                  <a:srgbClr val="17372A"/>
                </a:solidFill>
                <a:latin typeface="Yu Gothic"/>
                <a:ea typeface="Yu Gothic"/>
                <a:cs typeface="Yu Gothic"/>
              </a:rPr>
              <a:t>カフェイン</a:t>
            </a:r>
          </a:p>
          <a:p>
            <a:pPr algn="r">
              <a:lnSpc>
                <a:spcPct val="120000"/>
              </a:lnSpc>
            </a:pPr>
            <a:r>
              <a:rPr sz="1400" b="1">
                <a:solidFill>
                  <a:srgbClr val="4A6154"/>
                </a:solidFill>
                <a:latin typeface="Yu Gothic"/>
                <a:ea typeface="Yu Gothic"/>
                <a:cs typeface="Yu Gothic"/>
              </a:rPr>
              <a:t>アルカロイド／苦味</a:t>
            </a:r>
          </a:p>
        </p:txBody>
      </p:sp>
      <p:sp>
        <p:nvSpPr>
          <p:cNvPr id="49" name="TextBox 48"/>
          <p:cNvSpPr txBox="1"/>
          <p:nvPr/>
        </p:nvSpPr>
        <p:spPr>
          <a:xfrm>
            <a:off x="3644900" y="4457700"/>
            <a:ext cx="800100" cy="279400"/>
          </a:xfrm>
          <a:prstGeom prst="rect">
            <a:avLst/>
          </a:prstGeom>
          <a:noFill/>
        </p:spPr>
        <p:txBody>
          <a:bodyPr wrap="none" lIns="0" rIns="0" tIns="0" bIns="0" anchor="ctr">
            <a:noAutofit/>
          </a:bodyPr>
          <a:lstStyle/>
          <a:p>
            <a:pPr algn="l">
              <a:lnSpc>
                <a:spcPct val="100000"/>
              </a:lnSpc>
            </a:pPr>
            <a:r>
              <a:rPr sz="1700" b="1">
                <a:solidFill>
                  <a:srgbClr val="1F6E96"/>
                </a:solidFill>
                <a:latin typeface="Yu Gothic"/>
                <a:ea typeface="Yu Gothic"/>
                <a:cs typeface="Yu Gothic"/>
              </a:rPr>
              <a:t>50℃</a:t>
            </a:r>
          </a:p>
        </p:txBody>
      </p:sp>
      <p:sp>
        <p:nvSpPr>
          <p:cNvPr id="50" name="Rectangle 49"/>
          <p:cNvSpPr/>
          <p:nvPr/>
        </p:nvSpPr>
        <p:spPr>
          <a:xfrm>
            <a:off x="4572000" y="4508500"/>
            <a:ext cx="5753100" cy="177800"/>
          </a:xfrm>
          <a:prstGeom prst="rect">
            <a:avLst/>
          </a:prstGeom>
          <a:solidFill>
            <a:srgbClr val="8A9A9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4572000" y="4508500"/>
            <a:ext cx="1238250" cy="177800"/>
          </a:xfrm>
          <a:prstGeom prst="rect">
            <a:avLst/>
          </a:prstGeom>
          <a:solidFill>
            <a:srgbClr val="1F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10452100" y="4445000"/>
            <a:ext cx="1079500" cy="304800"/>
          </a:xfrm>
          <a:prstGeom prst="rect">
            <a:avLst/>
          </a:prstGeom>
          <a:noFill/>
        </p:spPr>
        <p:txBody>
          <a:bodyPr wrap="none" lIns="0" rIns="0" tIns="0" bIns="0" anchor="ctr">
            <a:noAutofit/>
          </a:bodyPr>
          <a:lstStyle/>
          <a:p>
            <a:pPr algn="l">
              <a:lnSpc>
                <a:spcPct val="100000"/>
              </a:lnSpc>
            </a:pPr>
            <a:r>
              <a:rPr sz="2000" b="1">
                <a:solidFill>
                  <a:srgbClr val="1F6E96"/>
                </a:solidFill>
                <a:latin typeface="Yu Gothic"/>
                <a:ea typeface="Yu Gothic"/>
                <a:cs typeface="Yu Gothic"/>
              </a:rPr>
              <a:t>21.6%</a:t>
            </a:r>
          </a:p>
        </p:txBody>
      </p:sp>
      <p:sp>
        <p:nvSpPr>
          <p:cNvPr id="53" name="TextBox 52"/>
          <p:cNvSpPr txBox="1"/>
          <p:nvPr/>
        </p:nvSpPr>
        <p:spPr>
          <a:xfrm>
            <a:off x="3644900" y="4711700"/>
            <a:ext cx="800100" cy="279400"/>
          </a:xfrm>
          <a:prstGeom prst="rect">
            <a:avLst/>
          </a:prstGeom>
          <a:noFill/>
        </p:spPr>
        <p:txBody>
          <a:bodyPr wrap="none" lIns="0" rIns="0" tIns="0" bIns="0" anchor="ctr">
            <a:noAutofit/>
          </a:bodyPr>
          <a:lstStyle/>
          <a:p>
            <a:pPr algn="l">
              <a:lnSpc>
                <a:spcPct val="100000"/>
              </a:lnSpc>
            </a:pPr>
            <a:r>
              <a:rPr sz="1700" b="1">
                <a:solidFill>
                  <a:srgbClr val="C1891A"/>
                </a:solidFill>
                <a:latin typeface="Yu Gothic"/>
                <a:ea typeface="Yu Gothic"/>
                <a:cs typeface="Yu Gothic"/>
              </a:rPr>
              <a:t>70℃</a:t>
            </a:r>
          </a:p>
        </p:txBody>
      </p:sp>
      <p:sp>
        <p:nvSpPr>
          <p:cNvPr id="54" name="Rectangle 53"/>
          <p:cNvSpPr/>
          <p:nvPr/>
        </p:nvSpPr>
        <p:spPr>
          <a:xfrm>
            <a:off x="4572000" y="4762500"/>
            <a:ext cx="5753100" cy="177800"/>
          </a:xfrm>
          <a:prstGeom prst="rect">
            <a:avLst/>
          </a:prstGeom>
          <a:solidFill>
            <a:srgbClr val="8A9A9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4572000" y="4762500"/>
            <a:ext cx="1987550" cy="177800"/>
          </a:xfrm>
          <a:prstGeom prst="rect">
            <a:avLst/>
          </a:prstGeom>
          <a:solidFill>
            <a:srgbClr val="C189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10452100" y="4699000"/>
            <a:ext cx="1079500" cy="304800"/>
          </a:xfrm>
          <a:prstGeom prst="rect">
            <a:avLst/>
          </a:prstGeom>
          <a:noFill/>
        </p:spPr>
        <p:txBody>
          <a:bodyPr wrap="none" lIns="0" rIns="0" tIns="0" bIns="0" anchor="ctr">
            <a:noAutofit/>
          </a:bodyPr>
          <a:lstStyle/>
          <a:p>
            <a:pPr algn="l">
              <a:lnSpc>
                <a:spcPct val="100000"/>
              </a:lnSpc>
            </a:pPr>
            <a:r>
              <a:rPr sz="2000" b="1">
                <a:solidFill>
                  <a:srgbClr val="C1891A"/>
                </a:solidFill>
                <a:latin typeface="Yu Gothic"/>
                <a:ea typeface="Yu Gothic"/>
                <a:cs typeface="Yu Gothic"/>
              </a:rPr>
              <a:t>34.6%</a:t>
            </a:r>
          </a:p>
        </p:txBody>
      </p:sp>
      <p:sp>
        <p:nvSpPr>
          <p:cNvPr id="57" name="TextBox 56"/>
          <p:cNvSpPr txBox="1"/>
          <p:nvPr/>
        </p:nvSpPr>
        <p:spPr>
          <a:xfrm>
            <a:off x="3644900" y="4965700"/>
            <a:ext cx="800100" cy="279400"/>
          </a:xfrm>
          <a:prstGeom prst="rect">
            <a:avLst/>
          </a:prstGeom>
          <a:noFill/>
        </p:spPr>
        <p:txBody>
          <a:bodyPr wrap="none" lIns="0" rIns="0" tIns="0" bIns="0" anchor="ctr">
            <a:noAutofit/>
          </a:bodyPr>
          <a:lstStyle/>
          <a:p>
            <a:pPr algn="l">
              <a:lnSpc>
                <a:spcPct val="100000"/>
              </a:lnSpc>
            </a:pPr>
            <a:r>
              <a:rPr sz="1700" b="1">
                <a:solidFill>
                  <a:srgbClr val="B4442A"/>
                </a:solidFill>
                <a:latin typeface="Yu Gothic"/>
                <a:ea typeface="Yu Gothic"/>
                <a:cs typeface="Yu Gothic"/>
              </a:rPr>
              <a:t>90℃</a:t>
            </a:r>
          </a:p>
        </p:txBody>
      </p:sp>
      <p:sp>
        <p:nvSpPr>
          <p:cNvPr id="58" name="Rectangle 57"/>
          <p:cNvSpPr/>
          <p:nvPr/>
        </p:nvSpPr>
        <p:spPr>
          <a:xfrm>
            <a:off x="4572000" y="5016500"/>
            <a:ext cx="5753100" cy="177800"/>
          </a:xfrm>
          <a:prstGeom prst="rect">
            <a:avLst/>
          </a:prstGeom>
          <a:solidFill>
            <a:srgbClr val="8A9A90">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10452100" y="4953000"/>
            <a:ext cx="1079500" cy="304800"/>
          </a:xfrm>
          <a:prstGeom prst="rect">
            <a:avLst/>
          </a:prstGeom>
          <a:noFill/>
        </p:spPr>
        <p:txBody>
          <a:bodyPr wrap="none" lIns="0" rIns="0" tIns="0" bIns="0" anchor="ctr">
            <a:noAutofit/>
          </a:bodyPr>
          <a:lstStyle/>
          <a:p>
            <a:pPr algn="l">
              <a:lnSpc>
                <a:spcPct val="100000"/>
              </a:lnSpc>
            </a:pPr>
            <a:r>
              <a:rPr sz="2000" b="1">
                <a:solidFill>
                  <a:srgbClr val="8A9A90"/>
                </a:solidFill>
                <a:latin typeface="Yu Gothic"/>
                <a:ea typeface="Yu Gothic"/>
                <a:cs typeface="Yu Gothic"/>
              </a:rPr>
              <a:t>62.7%</a:t>
            </a:r>
          </a:p>
        </p:txBody>
      </p:sp>
      <p:sp>
        <p:nvSpPr>
          <p:cNvPr id="60" name="Rectangle 59"/>
          <p:cNvSpPr/>
          <p:nvPr/>
        </p:nvSpPr>
        <p:spPr>
          <a:xfrm>
            <a:off x="3644900" y="4953000"/>
            <a:ext cx="7886700" cy="304800"/>
          </a:xfrm>
          <a:prstGeom prst="rect">
            <a:avLst/>
          </a:prstGeom>
          <a:solidFill>
            <a:srgbClr val="F7F3E8">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660400" y="5257800"/>
            <a:ext cx="10871200" cy="381000"/>
          </a:xfrm>
          <a:prstGeom prst="rect">
            <a:avLst/>
          </a:prstGeom>
          <a:noFill/>
        </p:spPr>
        <p:txBody>
          <a:bodyPr wrap="square" lIns="0" rIns="0" tIns="0" bIns="0" anchor="ctr">
            <a:noAutofit/>
          </a:bodyPr>
          <a:lstStyle/>
          <a:p>
            <a:pPr algn="ctr">
              <a:lnSpc>
                <a:spcPct val="130000"/>
              </a:lnSpc>
            </a:pPr>
            <a:r>
              <a:rPr sz="2300" b="1">
                <a:solidFill>
                  <a:srgbClr val="17372A"/>
                </a:solidFill>
                <a:latin typeface="Yu Gothic"/>
                <a:ea typeface="Yu Gothic"/>
                <a:cs typeface="Yu Gothic"/>
              </a:rPr>
              <a:t>テアニンも増える。だが</a:t>
            </a:r>
            <a:r>
              <a:rPr sz="2300" b="1">
                <a:solidFill>
                  <a:srgbClr val="17372A"/>
                </a:solidFill>
                <a:highlight>
                  <a:srgbClr val="D9C79B"/>
                </a:highlight>
                <a:latin typeface="Yu Gothic"/>
                <a:ea typeface="Yu Gothic"/>
                <a:cs typeface="Yu Gothic"/>
              </a:rPr>
              <a:t>苦味・渋みの成分の増え方が上回る。</a:t>
            </a:r>
          </a:p>
        </p:txBody>
      </p:sp>
      <p:sp>
        <p:nvSpPr>
          <p:cNvPr id="62" name="TextBox 61"/>
          <p:cNvSpPr txBox="1"/>
          <p:nvPr/>
        </p:nvSpPr>
        <p:spPr>
          <a:xfrm>
            <a:off x="660400" y="5689600"/>
            <a:ext cx="10871200" cy="558800"/>
          </a:xfrm>
          <a:prstGeom prst="rect">
            <a:avLst/>
          </a:prstGeom>
          <a:noFill/>
        </p:spPr>
        <p:txBody>
          <a:bodyPr wrap="square" lIns="0" rIns="0" tIns="0" bIns="0" anchor="ctr">
            <a:noAutofit/>
          </a:bodyPr>
          <a:lstStyle/>
          <a:p>
            <a:pPr algn="l">
              <a:lnSpc>
                <a:spcPct val="150000"/>
              </a:lnSpc>
            </a:pPr>
            <a:r>
              <a:rPr sz="1300" b="0">
                <a:solidFill>
                  <a:srgbClr val="4A6154"/>
                </a:solidFill>
                <a:latin typeface="Yu Gothic"/>
                <a:ea typeface="Yu Gothic"/>
                <a:cs typeface="Yu Gothic"/>
              </a:rPr>
              <a:t>坂本ら（2002）茶業研究報告 94:45-55、表2・表3（p.49）／深蒸し上級煎茶4g・湯120mL・1煎目60秒。3つの温度はそれぞれ別々に淹れた1煎目で、低温のあとに高温を重ねた結果ではない。アミノ酸類（表3）に90℃条件はない。拓朗（午）の実測値でもな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3E8"/>
        </a:solidFill>
        <a:effectLst/>
      </p:bgPr>
    </p:bg>
    <p:spTree>
      <p:nvGrpSpPr>
        <p:cNvPr id="1" name=""/>
        <p:cNvGrpSpPr/>
        <p:nvPr/>
      </p:nvGrpSpPr>
      <p:grpSpPr/>
      <p:sp>
        <p:nvSpPr>
          <p:cNvPr id="2" name="Rectangle 1"/>
          <p:cNvSpPr/>
          <p:nvPr/>
        </p:nvSpPr>
        <p:spPr>
          <a:xfrm>
            <a:off x="292100" y="292100"/>
            <a:ext cx="11607800" cy="6184900"/>
          </a:xfrm>
          <a:prstGeom prst="rect">
            <a:avLst/>
          </a:prstGeom>
          <a:noFill/>
          <a:ln w="12700">
            <a:solidFill>
              <a:srgbClr val="CBB5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60400" y="469900"/>
            <a:ext cx="10871200" cy="304800"/>
          </a:xfrm>
          <a:prstGeom prst="rect">
            <a:avLst/>
          </a:prstGeom>
          <a:noFill/>
        </p:spPr>
        <p:txBody>
          <a:bodyPr wrap="square" lIns="0" rIns="0" tIns="0" bIns="0" anchor="ctr">
            <a:noAutofit/>
          </a:bodyPr>
          <a:lstStyle/>
          <a:p>
            <a:pPr algn="l">
              <a:lnSpc>
                <a:spcPct val="100000"/>
              </a:lnSpc>
            </a:pPr>
            <a:r>
              <a:rPr sz="1900" b="1" spc="836">
                <a:solidFill>
                  <a:srgbClr val="9A7430"/>
                </a:solidFill>
                <a:latin typeface="Yu Gothic"/>
                <a:ea typeface="Yu Gothic"/>
                <a:cs typeface="Yu Gothic"/>
              </a:rPr>
              <a:t>THE SCIENCE</a:t>
            </a:r>
          </a:p>
        </p:txBody>
      </p:sp>
      <p:sp>
        <p:nvSpPr>
          <p:cNvPr id="4" name="TextBox 3"/>
          <p:cNvSpPr txBox="1"/>
          <p:nvPr/>
        </p:nvSpPr>
        <p:spPr>
          <a:xfrm>
            <a:off x="660400" y="914400"/>
            <a:ext cx="10871200" cy="609600"/>
          </a:xfrm>
          <a:prstGeom prst="rect">
            <a:avLst/>
          </a:prstGeom>
          <a:noFill/>
        </p:spPr>
        <p:txBody>
          <a:bodyPr wrap="square" lIns="0" rIns="0" tIns="0" bIns="0" anchor="ctr">
            <a:noAutofit/>
          </a:bodyPr>
          <a:lstStyle/>
          <a:p>
            <a:pPr algn="l">
              <a:lnSpc>
                <a:spcPct val="120000"/>
              </a:lnSpc>
            </a:pPr>
            <a:r>
              <a:rPr sz="4000" b="1">
                <a:solidFill>
                  <a:srgbClr val="17372A"/>
                </a:solidFill>
                <a:latin typeface="Yu Gothic"/>
                <a:ea typeface="Yu Gothic"/>
                <a:cs typeface="Yu Gothic"/>
              </a:rPr>
              <a:t>成分は、同じようには溶け出さない</a:t>
            </a:r>
          </a:p>
        </p:txBody>
      </p:sp>
      <p:sp>
        <p:nvSpPr>
          <p:cNvPr id="5" name="Rectangle 4"/>
          <p:cNvSpPr/>
          <p:nvPr/>
        </p:nvSpPr>
        <p:spPr>
          <a:xfrm>
            <a:off x="660400" y="1663700"/>
            <a:ext cx="1270000" cy="25400"/>
          </a:xfrm>
          <a:prstGeom prst="rect">
            <a:avLst/>
          </a:prstGeom>
          <a:solidFill>
            <a:srgbClr val="9A7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930400" y="1663700"/>
            <a:ext cx="9601200" cy="25400"/>
          </a:xfrm>
          <a:prstGeom prst="rect">
            <a:avLst/>
          </a:prstGeom>
          <a:solidFill>
            <a:srgbClr val="8A9A90">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1752600"/>
            <a:ext cx="10871200" cy="304800"/>
          </a:xfrm>
          <a:prstGeom prst="rect">
            <a:avLst/>
          </a:prstGeom>
          <a:noFill/>
        </p:spPr>
        <p:txBody>
          <a:bodyPr wrap="square" lIns="0" rIns="0" tIns="0" bIns="0" anchor="ctr">
            <a:noAutofit/>
          </a:bodyPr>
          <a:lstStyle/>
          <a:p>
            <a:pPr algn="ctr">
              <a:lnSpc>
                <a:spcPct val="120000"/>
              </a:lnSpc>
            </a:pPr>
            <a:r>
              <a:rPr sz="1650" b="1">
                <a:solidFill>
                  <a:srgbClr val="4A6154"/>
                </a:solidFill>
                <a:latin typeface="Yu Gothic"/>
                <a:ea typeface="Yu Gothic"/>
                <a:cs typeface="Yu Gothic"/>
              </a:rPr>
              <a:t>同じ茶葉を </a:t>
            </a:r>
            <a:r>
              <a:rPr sz="1650" b="1">
                <a:solidFill>
                  <a:srgbClr val="4A6154"/>
                </a:solidFill>
                <a:latin typeface="Yu Gothic"/>
                <a:ea typeface="Yu Gothic"/>
                <a:cs typeface="Yu Gothic"/>
              </a:rPr>
              <a:t>50℃</a:t>
            </a:r>
            <a:r>
              <a:rPr sz="1650" b="1">
                <a:solidFill>
                  <a:srgbClr val="4A6154"/>
                </a:solidFill>
                <a:latin typeface="Yu Gothic"/>
                <a:ea typeface="Yu Gothic"/>
                <a:cs typeface="Yu Gothic"/>
              </a:rPr>
              <a:t> ／ </a:t>
            </a:r>
            <a:r>
              <a:rPr sz="1650" b="1">
                <a:solidFill>
                  <a:srgbClr val="4A6154"/>
                </a:solidFill>
                <a:latin typeface="Yu Gothic"/>
                <a:ea typeface="Yu Gothic"/>
                <a:cs typeface="Yu Gothic"/>
              </a:rPr>
              <a:t>70℃</a:t>
            </a:r>
            <a:r>
              <a:rPr sz="1650" b="1">
                <a:solidFill>
                  <a:srgbClr val="4A6154"/>
                </a:solidFill>
                <a:latin typeface="Yu Gothic"/>
                <a:ea typeface="Yu Gothic"/>
                <a:cs typeface="Yu Gothic"/>
              </a:rPr>
              <a:t> ／ </a:t>
            </a:r>
            <a:r>
              <a:rPr sz="1650" b="1">
                <a:solidFill>
                  <a:srgbClr val="4A6154"/>
                </a:solidFill>
                <a:latin typeface="Yu Gothic"/>
                <a:ea typeface="Yu Gothic"/>
                <a:cs typeface="Yu Gothic"/>
              </a:rPr>
              <a:t>90℃</a:t>
            </a:r>
            <a:r>
              <a:rPr sz="1650" b="1">
                <a:solidFill>
                  <a:srgbClr val="4A6154"/>
                </a:solidFill>
                <a:latin typeface="Yu Gothic"/>
                <a:ea typeface="Yu Gothic"/>
                <a:cs typeface="Yu Gothic"/>
              </a:rPr>
              <a:t> で、それぞれ 60秒 淹れたとき</a:t>
            </a:r>
          </a:p>
        </p:txBody>
      </p:sp>
      <p:sp>
        <p:nvSpPr>
          <p:cNvPr id="8" name="TextBox 7"/>
          <p:cNvSpPr txBox="1"/>
          <p:nvPr/>
        </p:nvSpPr>
        <p:spPr>
          <a:xfrm>
            <a:off x="660400" y="2057400"/>
            <a:ext cx="2794000" cy="711200"/>
          </a:xfrm>
          <a:prstGeom prst="rect">
            <a:avLst/>
          </a:prstGeom>
          <a:noFill/>
        </p:spPr>
        <p:txBody>
          <a:bodyPr wrap="square" lIns="0" rIns="0" tIns="0" bIns="0" anchor="ctr">
            <a:noAutofit/>
          </a:bodyPr>
          <a:lstStyle/>
          <a:p>
            <a:pPr algn="r">
              <a:lnSpc>
                <a:spcPct val="120000"/>
              </a:lnSpc>
            </a:pPr>
            <a:r>
              <a:rPr sz="2400" b="1">
                <a:solidFill>
                  <a:srgbClr val="17372A"/>
                </a:solidFill>
                <a:latin typeface="Yu Gothic"/>
                <a:ea typeface="Yu Gothic"/>
                <a:cs typeface="Yu Gothic"/>
              </a:rPr>
              <a:t>テアニン</a:t>
            </a:r>
          </a:p>
          <a:p>
            <a:pPr algn="r">
              <a:lnSpc>
                <a:spcPct val="120000"/>
              </a:lnSpc>
            </a:pPr>
            <a:r>
              <a:rPr sz="1400" b="1">
                <a:solidFill>
                  <a:srgbClr val="4A6154"/>
                </a:solidFill>
                <a:latin typeface="Yu Gothic"/>
                <a:ea typeface="Yu Gothic"/>
                <a:cs typeface="Yu Gothic"/>
              </a:rPr>
              <a:t>アミノ酸類／旨味・甘味</a:t>
            </a:r>
          </a:p>
        </p:txBody>
      </p:sp>
      <p:sp>
        <p:nvSpPr>
          <p:cNvPr id="9" name="TextBox 8"/>
          <p:cNvSpPr txBox="1"/>
          <p:nvPr/>
        </p:nvSpPr>
        <p:spPr>
          <a:xfrm>
            <a:off x="3644900" y="2019300"/>
            <a:ext cx="800100" cy="279400"/>
          </a:xfrm>
          <a:prstGeom prst="rect">
            <a:avLst/>
          </a:prstGeom>
          <a:noFill/>
        </p:spPr>
        <p:txBody>
          <a:bodyPr wrap="none" lIns="0" rIns="0" tIns="0" bIns="0" anchor="ctr">
            <a:noAutofit/>
          </a:bodyPr>
          <a:lstStyle/>
          <a:p>
            <a:pPr algn="l">
              <a:lnSpc>
                <a:spcPct val="100000"/>
              </a:lnSpc>
            </a:pPr>
            <a:r>
              <a:rPr sz="1700" b="1">
                <a:solidFill>
                  <a:srgbClr val="1F6E96"/>
                </a:solidFill>
                <a:latin typeface="Yu Gothic"/>
                <a:ea typeface="Yu Gothic"/>
                <a:cs typeface="Yu Gothic"/>
              </a:rPr>
              <a:t>50℃</a:t>
            </a:r>
          </a:p>
        </p:txBody>
      </p:sp>
      <p:sp>
        <p:nvSpPr>
          <p:cNvPr id="10" name="Rectangle 9"/>
          <p:cNvSpPr/>
          <p:nvPr/>
        </p:nvSpPr>
        <p:spPr>
          <a:xfrm>
            <a:off x="4572000" y="2070100"/>
            <a:ext cx="5753100" cy="177800"/>
          </a:xfrm>
          <a:prstGeom prst="rect">
            <a:avLst/>
          </a:prstGeom>
          <a:solidFill>
            <a:srgbClr val="8A9A9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572000" y="2070100"/>
            <a:ext cx="2324100" cy="177800"/>
          </a:xfrm>
          <a:prstGeom prst="rect">
            <a:avLst/>
          </a:prstGeom>
          <a:solidFill>
            <a:srgbClr val="1F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452100" y="2006600"/>
            <a:ext cx="1079500" cy="304800"/>
          </a:xfrm>
          <a:prstGeom prst="rect">
            <a:avLst/>
          </a:prstGeom>
          <a:noFill/>
        </p:spPr>
        <p:txBody>
          <a:bodyPr wrap="none" lIns="0" rIns="0" tIns="0" bIns="0" anchor="ctr">
            <a:noAutofit/>
          </a:bodyPr>
          <a:lstStyle/>
          <a:p>
            <a:pPr algn="l">
              <a:lnSpc>
                <a:spcPct val="100000"/>
              </a:lnSpc>
            </a:pPr>
            <a:r>
              <a:rPr sz="2000" b="1">
                <a:solidFill>
                  <a:srgbClr val="1F6E96"/>
                </a:solidFill>
                <a:latin typeface="Yu Gothic"/>
                <a:ea typeface="Yu Gothic"/>
                <a:cs typeface="Yu Gothic"/>
              </a:rPr>
              <a:t>40.5%</a:t>
            </a:r>
          </a:p>
        </p:txBody>
      </p:sp>
      <p:sp>
        <p:nvSpPr>
          <p:cNvPr id="13" name="TextBox 12"/>
          <p:cNvSpPr txBox="1"/>
          <p:nvPr/>
        </p:nvSpPr>
        <p:spPr>
          <a:xfrm>
            <a:off x="3644900" y="2273300"/>
            <a:ext cx="800100" cy="279400"/>
          </a:xfrm>
          <a:prstGeom prst="rect">
            <a:avLst/>
          </a:prstGeom>
          <a:noFill/>
        </p:spPr>
        <p:txBody>
          <a:bodyPr wrap="none" lIns="0" rIns="0" tIns="0" bIns="0" anchor="ctr">
            <a:noAutofit/>
          </a:bodyPr>
          <a:lstStyle/>
          <a:p>
            <a:pPr algn="l">
              <a:lnSpc>
                <a:spcPct val="100000"/>
              </a:lnSpc>
            </a:pPr>
            <a:r>
              <a:rPr sz="1700" b="1">
                <a:solidFill>
                  <a:srgbClr val="C1891A"/>
                </a:solidFill>
                <a:latin typeface="Yu Gothic"/>
                <a:ea typeface="Yu Gothic"/>
                <a:cs typeface="Yu Gothic"/>
              </a:rPr>
              <a:t>70℃</a:t>
            </a:r>
          </a:p>
        </p:txBody>
      </p:sp>
      <p:sp>
        <p:nvSpPr>
          <p:cNvPr id="14" name="Rectangle 13"/>
          <p:cNvSpPr/>
          <p:nvPr/>
        </p:nvSpPr>
        <p:spPr>
          <a:xfrm>
            <a:off x="4572000" y="2324100"/>
            <a:ext cx="5753100" cy="177800"/>
          </a:xfrm>
          <a:prstGeom prst="rect">
            <a:avLst/>
          </a:prstGeom>
          <a:solidFill>
            <a:srgbClr val="8A9A9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572000" y="2324100"/>
            <a:ext cx="2832100" cy="177800"/>
          </a:xfrm>
          <a:prstGeom prst="rect">
            <a:avLst/>
          </a:prstGeom>
          <a:solidFill>
            <a:srgbClr val="C189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0452100" y="2260600"/>
            <a:ext cx="1079500" cy="304800"/>
          </a:xfrm>
          <a:prstGeom prst="rect">
            <a:avLst/>
          </a:prstGeom>
          <a:noFill/>
        </p:spPr>
        <p:txBody>
          <a:bodyPr wrap="none" lIns="0" rIns="0" tIns="0" bIns="0" anchor="ctr">
            <a:noAutofit/>
          </a:bodyPr>
          <a:lstStyle/>
          <a:p>
            <a:pPr algn="l">
              <a:lnSpc>
                <a:spcPct val="100000"/>
              </a:lnSpc>
            </a:pPr>
            <a:r>
              <a:rPr sz="2000" b="1">
                <a:solidFill>
                  <a:srgbClr val="C1891A"/>
                </a:solidFill>
                <a:latin typeface="Yu Gothic"/>
                <a:ea typeface="Yu Gothic"/>
                <a:cs typeface="Yu Gothic"/>
              </a:rPr>
              <a:t>49.3%</a:t>
            </a:r>
          </a:p>
        </p:txBody>
      </p:sp>
      <p:sp>
        <p:nvSpPr>
          <p:cNvPr id="17" name="TextBox 16"/>
          <p:cNvSpPr txBox="1"/>
          <p:nvPr/>
        </p:nvSpPr>
        <p:spPr>
          <a:xfrm>
            <a:off x="3644900" y="2527300"/>
            <a:ext cx="800100" cy="279400"/>
          </a:xfrm>
          <a:prstGeom prst="rect">
            <a:avLst/>
          </a:prstGeom>
          <a:noFill/>
        </p:spPr>
        <p:txBody>
          <a:bodyPr wrap="none" lIns="0" rIns="0" tIns="0" bIns="0" anchor="ctr">
            <a:noAutofit/>
          </a:bodyPr>
          <a:lstStyle/>
          <a:p>
            <a:pPr algn="l">
              <a:lnSpc>
                <a:spcPct val="100000"/>
              </a:lnSpc>
            </a:pPr>
            <a:r>
              <a:rPr sz="1700" b="1">
                <a:solidFill>
                  <a:srgbClr val="B4442A"/>
                </a:solidFill>
                <a:latin typeface="Yu Gothic"/>
                <a:ea typeface="Yu Gothic"/>
                <a:cs typeface="Yu Gothic"/>
              </a:rPr>
              <a:t>90℃</a:t>
            </a:r>
          </a:p>
        </p:txBody>
      </p:sp>
      <p:sp>
        <p:nvSpPr>
          <p:cNvPr id="18" name="Rectangle 17"/>
          <p:cNvSpPr/>
          <p:nvPr/>
        </p:nvSpPr>
        <p:spPr>
          <a:xfrm>
            <a:off x="4572000" y="2578100"/>
            <a:ext cx="5753100" cy="177800"/>
          </a:xfrm>
          <a:prstGeom prst="rect">
            <a:avLst/>
          </a:prstGeom>
          <a:solidFill>
            <a:srgbClr val="8A9A9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660900" y="2527300"/>
            <a:ext cx="1905000" cy="279400"/>
          </a:xfrm>
          <a:prstGeom prst="rect">
            <a:avLst/>
          </a:prstGeom>
          <a:noFill/>
        </p:spPr>
        <p:txBody>
          <a:bodyPr wrap="square" lIns="0" rIns="0" tIns="0" bIns="0" anchor="ctr">
            <a:noAutofit/>
          </a:bodyPr>
          <a:lstStyle/>
          <a:p>
            <a:pPr algn="l">
              <a:lnSpc>
                <a:spcPct val="100000"/>
              </a:lnSpc>
            </a:pPr>
            <a:r>
              <a:rPr sz="1300" b="1">
                <a:solidFill>
                  <a:srgbClr val="4A6154"/>
                </a:solidFill>
                <a:latin typeface="Yu Gothic"/>
                <a:ea typeface="Yu Gothic"/>
                <a:cs typeface="Yu Gothic"/>
              </a:rPr>
              <a:t>90℃条件の測定なし</a:t>
            </a:r>
          </a:p>
        </p:txBody>
      </p:sp>
      <p:sp>
        <p:nvSpPr>
          <p:cNvPr id="20" name="TextBox 19"/>
          <p:cNvSpPr txBox="1"/>
          <p:nvPr/>
        </p:nvSpPr>
        <p:spPr>
          <a:xfrm>
            <a:off x="10452100" y="2527300"/>
            <a:ext cx="1079500" cy="279400"/>
          </a:xfrm>
          <a:prstGeom prst="rect">
            <a:avLst/>
          </a:prstGeom>
          <a:noFill/>
        </p:spPr>
        <p:txBody>
          <a:bodyPr wrap="none" lIns="0" rIns="0" tIns="0" bIns="0" anchor="ctr">
            <a:noAutofit/>
          </a:bodyPr>
          <a:lstStyle/>
          <a:p>
            <a:pPr algn="l">
              <a:lnSpc>
                <a:spcPct val="100000"/>
              </a:lnSpc>
            </a:pPr>
            <a:r>
              <a:rPr sz="1500" b="1">
                <a:solidFill>
                  <a:srgbClr val="8A9A90"/>
                </a:solidFill>
                <a:latin typeface="Yu Gothic"/>
                <a:ea typeface="Yu Gothic"/>
                <a:cs typeface="Yu Gothic"/>
              </a:rPr>
              <a:t>—</a:t>
            </a:r>
          </a:p>
        </p:txBody>
      </p:sp>
      <p:sp>
        <p:nvSpPr>
          <p:cNvPr id="21" name="TextBox 20"/>
          <p:cNvSpPr txBox="1"/>
          <p:nvPr/>
        </p:nvSpPr>
        <p:spPr>
          <a:xfrm>
            <a:off x="660400" y="2870200"/>
            <a:ext cx="2794000" cy="711200"/>
          </a:xfrm>
          <a:prstGeom prst="rect">
            <a:avLst/>
          </a:prstGeom>
          <a:noFill/>
        </p:spPr>
        <p:txBody>
          <a:bodyPr wrap="square" lIns="0" rIns="0" tIns="0" bIns="0" anchor="ctr">
            <a:noAutofit/>
          </a:bodyPr>
          <a:lstStyle/>
          <a:p>
            <a:pPr algn="r">
              <a:lnSpc>
                <a:spcPct val="120000"/>
              </a:lnSpc>
            </a:pPr>
            <a:r>
              <a:rPr sz="2400" b="1">
                <a:solidFill>
                  <a:srgbClr val="17372A"/>
                </a:solidFill>
                <a:latin typeface="Yu Gothic"/>
                <a:ea typeface="Yu Gothic"/>
                <a:cs typeface="Yu Gothic"/>
              </a:rPr>
              <a:t>EGC</a:t>
            </a:r>
          </a:p>
          <a:p>
            <a:pPr algn="r">
              <a:lnSpc>
                <a:spcPct val="120000"/>
              </a:lnSpc>
            </a:pPr>
            <a:r>
              <a:rPr sz="1400" b="1">
                <a:solidFill>
                  <a:srgbClr val="4A6154"/>
                </a:solidFill>
                <a:latin typeface="Yu Gothic"/>
                <a:ea typeface="Yu Gothic"/>
                <a:cs typeface="Yu Gothic"/>
              </a:rPr>
              <a:t>遊離型カテキン／爽やかな渋み</a:t>
            </a:r>
          </a:p>
        </p:txBody>
      </p:sp>
      <p:sp>
        <p:nvSpPr>
          <p:cNvPr id="22" name="TextBox 21"/>
          <p:cNvSpPr txBox="1"/>
          <p:nvPr/>
        </p:nvSpPr>
        <p:spPr>
          <a:xfrm>
            <a:off x="3644900" y="2832100"/>
            <a:ext cx="800100" cy="279400"/>
          </a:xfrm>
          <a:prstGeom prst="rect">
            <a:avLst/>
          </a:prstGeom>
          <a:noFill/>
        </p:spPr>
        <p:txBody>
          <a:bodyPr wrap="none" lIns="0" rIns="0" tIns="0" bIns="0" anchor="ctr">
            <a:noAutofit/>
          </a:bodyPr>
          <a:lstStyle/>
          <a:p>
            <a:pPr algn="l">
              <a:lnSpc>
                <a:spcPct val="100000"/>
              </a:lnSpc>
            </a:pPr>
            <a:r>
              <a:rPr sz="1700" b="1">
                <a:solidFill>
                  <a:srgbClr val="1F6E96"/>
                </a:solidFill>
                <a:latin typeface="Yu Gothic"/>
                <a:ea typeface="Yu Gothic"/>
                <a:cs typeface="Yu Gothic"/>
              </a:rPr>
              <a:t>50℃</a:t>
            </a:r>
          </a:p>
        </p:txBody>
      </p:sp>
      <p:sp>
        <p:nvSpPr>
          <p:cNvPr id="23" name="Rectangle 22"/>
          <p:cNvSpPr/>
          <p:nvPr/>
        </p:nvSpPr>
        <p:spPr>
          <a:xfrm>
            <a:off x="4572000" y="2882900"/>
            <a:ext cx="5753100" cy="177800"/>
          </a:xfrm>
          <a:prstGeom prst="rect">
            <a:avLst/>
          </a:prstGeom>
          <a:solidFill>
            <a:srgbClr val="8A9A9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572000" y="2882900"/>
            <a:ext cx="1003300" cy="177800"/>
          </a:xfrm>
          <a:prstGeom prst="rect">
            <a:avLst/>
          </a:prstGeom>
          <a:solidFill>
            <a:srgbClr val="1F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452100" y="2819400"/>
            <a:ext cx="1079500" cy="304800"/>
          </a:xfrm>
          <a:prstGeom prst="rect">
            <a:avLst/>
          </a:prstGeom>
          <a:noFill/>
        </p:spPr>
        <p:txBody>
          <a:bodyPr wrap="none" lIns="0" rIns="0" tIns="0" bIns="0" anchor="ctr">
            <a:noAutofit/>
          </a:bodyPr>
          <a:lstStyle/>
          <a:p>
            <a:pPr algn="l">
              <a:lnSpc>
                <a:spcPct val="100000"/>
              </a:lnSpc>
            </a:pPr>
            <a:r>
              <a:rPr sz="2000" b="1">
                <a:solidFill>
                  <a:srgbClr val="1F6E96"/>
                </a:solidFill>
                <a:latin typeface="Yu Gothic"/>
                <a:ea typeface="Yu Gothic"/>
                <a:cs typeface="Yu Gothic"/>
              </a:rPr>
              <a:t>17.5%</a:t>
            </a:r>
          </a:p>
        </p:txBody>
      </p:sp>
      <p:sp>
        <p:nvSpPr>
          <p:cNvPr id="26" name="TextBox 25"/>
          <p:cNvSpPr txBox="1"/>
          <p:nvPr/>
        </p:nvSpPr>
        <p:spPr>
          <a:xfrm>
            <a:off x="3644900" y="3086100"/>
            <a:ext cx="800100" cy="279400"/>
          </a:xfrm>
          <a:prstGeom prst="rect">
            <a:avLst/>
          </a:prstGeom>
          <a:noFill/>
        </p:spPr>
        <p:txBody>
          <a:bodyPr wrap="none" lIns="0" rIns="0" tIns="0" bIns="0" anchor="ctr">
            <a:noAutofit/>
          </a:bodyPr>
          <a:lstStyle/>
          <a:p>
            <a:pPr algn="l">
              <a:lnSpc>
                <a:spcPct val="100000"/>
              </a:lnSpc>
            </a:pPr>
            <a:r>
              <a:rPr sz="1700" b="1">
                <a:solidFill>
                  <a:srgbClr val="C1891A"/>
                </a:solidFill>
                <a:latin typeface="Yu Gothic"/>
                <a:ea typeface="Yu Gothic"/>
                <a:cs typeface="Yu Gothic"/>
              </a:rPr>
              <a:t>70℃</a:t>
            </a:r>
          </a:p>
        </p:txBody>
      </p:sp>
      <p:sp>
        <p:nvSpPr>
          <p:cNvPr id="27" name="Rectangle 26"/>
          <p:cNvSpPr/>
          <p:nvPr/>
        </p:nvSpPr>
        <p:spPr>
          <a:xfrm>
            <a:off x="4572000" y="3136900"/>
            <a:ext cx="5753100" cy="177800"/>
          </a:xfrm>
          <a:prstGeom prst="rect">
            <a:avLst/>
          </a:prstGeom>
          <a:solidFill>
            <a:srgbClr val="8A9A9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4572000" y="3136900"/>
            <a:ext cx="1905000" cy="177800"/>
          </a:xfrm>
          <a:prstGeom prst="rect">
            <a:avLst/>
          </a:prstGeom>
          <a:solidFill>
            <a:srgbClr val="C189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452100" y="3073400"/>
            <a:ext cx="1079500" cy="304800"/>
          </a:xfrm>
          <a:prstGeom prst="rect">
            <a:avLst/>
          </a:prstGeom>
          <a:noFill/>
        </p:spPr>
        <p:txBody>
          <a:bodyPr wrap="none" lIns="0" rIns="0" tIns="0" bIns="0" anchor="ctr">
            <a:noAutofit/>
          </a:bodyPr>
          <a:lstStyle/>
          <a:p>
            <a:pPr algn="l">
              <a:lnSpc>
                <a:spcPct val="100000"/>
              </a:lnSpc>
            </a:pPr>
            <a:r>
              <a:rPr sz="2000" b="1">
                <a:solidFill>
                  <a:srgbClr val="C1891A"/>
                </a:solidFill>
                <a:latin typeface="Yu Gothic"/>
                <a:ea typeface="Yu Gothic"/>
                <a:cs typeface="Yu Gothic"/>
              </a:rPr>
              <a:t>33.2%</a:t>
            </a:r>
          </a:p>
        </p:txBody>
      </p:sp>
      <p:sp>
        <p:nvSpPr>
          <p:cNvPr id="30" name="TextBox 29"/>
          <p:cNvSpPr txBox="1"/>
          <p:nvPr/>
        </p:nvSpPr>
        <p:spPr>
          <a:xfrm>
            <a:off x="3644900" y="3340100"/>
            <a:ext cx="800100" cy="279400"/>
          </a:xfrm>
          <a:prstGeom prst="rect">
            <a:avLst/>
          </a:prstGeom>
          <a:noFill/>
        </p:spPr>
        <p:txBody>
          <a:bodyPr wrap="none" lIns="0" rIns="0" tIns="0" bIns="0" anchor="ctr">
            <a:noAutofit/>
          </a:bodyPr>
          <a:lstStyle/>
          <a:p>
            <a:pPr algn="l">
              <a:lnSpc>
                <a:spcPct val="100000"/>
              </a:lnSpc>
            </a:pPr>
            <a:r>
              <a:rPr sz="1700" b="1">
                <a:solidFill>
                  <a:srgbClr val="B4442A"/>
                </a:solidFill>
                <a:latin typeface="Yu Gothic"/>
                <a:ea typeface="Yu Gothic"/>
                <a:cs typeface="Yu Gothic"/>
              </a:rPr>
              <a:t>90℃</a:t>
            </a:r>
          </a:p>
        </p:txBody>
      </p:sp>
      <p:sp>
        <p:nvSpPr>
          <p:cNvPr id="31" name="Rectangle 30"/>
          <p:cNvSpPr/>
          <p:nvPr/>
        </p:nvSpPr>
        <p:spPr>
          <a:xfrm>
            <a:off x="4572000" y="3390900"/>
            <a:ext cx="5753100" cy="177800"/>
          </a:xfrm>
          <a:prstGeom prst="rect">
            <a:avLst/>
          </a:prstGeom>
          <a:solidFill>
            <a:srgbClr val="8A9A9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572000" y="3390900"/>
            <a:ext cx="2540000" cy="177800"/>
          </a:xfrm>
          <a:prstGeom prst="rect">
            <a:avLst/>
          </a:prstGeom>
          <a:solidFill>
            <a:srgbClr val="B44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452100" y="3327400"/>
            <a:ext cx="1079500" cy="304800"/>
          </a:xfrm>
          <a:prstGeom prst="rect">
            <a:avLst/>
          </a:prstGeom>
          <a:noFill/>
        </p:spPr>
        <p:txBody>
          <a:bodyPr wrap="none" lIns="0" rIns="0" tIns="0" bIns="0" anchor="ctr">
            <a:noAutofit/>
          </a:bodyPr>
          <a:lstStyle/>
          <a:p>
            <a:pPr algn="l">
              <a:lnSpc>
                <a:spcPct val="100000"/>
              </a:lnSpc>
            </a:pPr>
            <a:r>
              <a:rPr sz="2000" b="1">
                <a:solidFill>
                  <a:srgbClr val="B4442A"/>
                </a:solidFill>
                <a:latin typeface="Yu Gothic"/>
                <a:ea typeface="Yu Gothic"/>
                <a:cs typeface="Yu Gothic"/>
              </a:rPr>
              <a:t>44.2%</a:t>
            </a:r>
          </a:p>
        </p:txBody>
      </p:sp>
      <p:sp>
        <p:nvSpPr>
          <p:cNvPr id="34" name="TextBox 33"/>
          <p:cNvSpPr txBox="1"/>
          <p:nvPr/>
        </p:nvSpPr>
        <p:spPr>
          <a:xfrm>
            <a:off x="660400" y="3683000"/>
            <a:ext cx="2794000" cy="711200"/>
          </a:xfrm>
          <a:prstGeom prst="rect">
            <a:avLst/>
          </a:prstGeom>
          <a:noFill/>
        </p:spPr>
        <p:txBody>
          <a:bodyPr wrap="square" lIns="0" rIns="0" tIns="0" bIns="0" anchor="ctr">
            <a:noAutofit/>
          </a:bodyPr>
          <a:lstStyle/>
          <a:p>
            <a:pPr algn="r">
              <a:lnSpc>
                <a:spcPct val="120000"/>
              </a:lnSpc>
            </a:pPr>
            <a:r>
              <a:rPr sz="2400" b="1">
                <a:solidFill>
                  <a:srgbClr val="17372A"/>
                </a:solidFill>
                <a:latin typeface="Yu Gothic"/>
                <a:ea typeface="Yu Gothic"/>
                <a:cs typeface="Yu Gothic"/>
              </a:rPr>
              <a:t>EGCg</a:t>
            </a:r>
          </a:p>
          <a:p>
            <a:pPr algn="r">
              <a:lnSpc>
                <a:spcPct val="120000"/>
              </a:lnSpc>
            </a:pPr>
            <a:r>
              <a:rPr sz="1400" b="1">
                <a:solidFill>
                  <a:srgbClr val="4A6154"/>
                </a:solidFill>
                <a:latin typeface="Yu Gothic"/>
                <a:ea typeface="Yu Gothic"/>
                <a:cs typeface="Yu Gothic"/>
              </a:rPr>
              <a:t>ガレート型／重い苦渋味</a:t>
            </a:r>
          </a:p>
        </p:txBody>
      </p:sp>
      <p:sp>
        <p:nvSpPr>
          <p:cNvPr id="35" name="TextBox 34"/>
          <p:cNvSpPr txBox="1"/>
          <p:nvPr/>
        </p:nvSpPr>
        <p:spPr>
          <a:xfrm>
            <a:off x="3644900" y="3644900"/>
            <a:ext cx="800100" cy="279400"/>
          </a:xfrm>
          <a:prstGeom prst="rect">
            <a:avLst/>
          </a:prstGeom>
          <a:noFill/>
        </p:spPr>
        <p:txBody>
          <a:bodyPr wrap="none" lIns="0" rIns="0" tIns="0" bIns="0" anchor="ctr">
            <a:noAutofit/>
          </a:bodyPr>
          <a:lstStyle/>
          <a:p>
            <a:pPr algn="l">
              <a:lnSpc>
                <a:spcPct val="100000"/>
              </a:lnSpc>
            </a:pPr>
            <a:r>
              <a:rPr sz="1700" b="1">
                <a:solidFill>
                  <a:srgbClr val="1F6E96"/>
                </a:solidFill>
                <a:latin typeface="Yu Gothic"/>
                <a:ea typeface="Yu Gothic"/>
                <a:cs typeface="Yu Gothic"/>
              </a:rPr>
              <a:t>50℃</a:t>
            </a:r>
          </a:p>
        </p:txBody>
      </p:sp>
      <p:sp>
        <p:nvSpPr>
          <p:cNvPr id="36" name="Rectangle 35"/>
          <p:cNvSpPr/>
          <p:nvPr/>
        </p:nvSpPr>
        <p:spPr>
          <a:xfrm>
            <a:off x="4572000" y="3695700"/>
            <a:ext cx="5753100" cy="177800"/>
          </a:xfrm>
          <a:prstGeom prst="rect">
            <a:avLst/>
          </a:prstGeom>
          <a:solidFill>
            <a:srgbClr val="8A9A9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572000" y="3695700"/>
            <a:ext cx="393700" cy="177800"/>
          </a:xfrm>
          <a:prstGeom prst="rect">
            <a:avLst/>
          </a:prstGeom>
          <a:solidFill>
            <a:srgbClr val="1F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0452100" y="3632200"/>
            <a:ext cx="1079500" cy="304800"/>
          </a:xfrm>
          <a:prstGeom prst="rect">
            <a:avLst/>
          </a:prstGeom>
          <a:noFill/>
        </p:spPr>
        <p:txBody>
          <a:bodyPr wrap="none" lIns="0" rIns="0" tIns="0" bIns="0" anchor="ctr">
            <a:noAutofit/>
          </a:bodyPr>
          <a:lstStyle/>
          <a:p>
            <a:pPr algn="l">
              <a:lnSpc>
                <a:spcPct val="100000"/>
              </a:lnSpc>
            </a:pPr>
            <a:r>
              <a:rPr sz="2000" b="1">
                <a:solidFill>
                  <a:srgbClr val="1F6E96"/>
                </a:solidFill>
                <a:latin typeface="Yu Gothic"/>
                <a:ea typeface="Yu Gothic"/>
                <a:cs typeface="Yu Gothic"/>
              </a:rPr>
              <a:t>6.9%</a:t>
            </a:r>
          </a:p>
        </p:txBody>
      </p:sp>
      <p:sp>
        <p:nvSpPr>
          <p:cNvPr id="39" name="TextBox 38"/>
          <p:cNvSpPr txBox="1"/>
          <p:nvPr/>
        </p:nvSpPr>
        <p:spPr>
          <a:xfrm>
            <a:off x="3644900" y="3898900"/>
            <a:ext cx="800100" cy="279400"/>
          </a:xfrm>
          <a:prstGeom prst="rect">
            <a:avLst/>
          </a:prstGeom>
          <a:noFill/>
        </p:spPr>
        <p:txBody>
          <a:bodyPr wrap="none" lIns="0" rIns="0" tIns="0" bIns="0" anchor="ctr">
            <a:noAutofit/>
          </a:bodyPr>
          <a:lstStyle/>
          <a:p>
            <a:pPr algn="l">
              <a:lnSpc>
                <a:spcPct val="100000"/>
              </a:lnSpc>
            </a:pPr>
            <a:r>
              <a:rPr sz="1700" b="1">
                <a:solidFill>
                  <a:srgbClr val="C1891A"/>
                </a:solidFill>
                <a:latin typeface="Yu Gothic"/>
                <a:ea typeface="Yu Gothic"/>
                <a:cs typeface="Yu Gothic"/>
              </a:rPr>
              <a:t>70℃</a:t>
            </a:r>
          </a:p>
        </p:txBody>
      </p:sp>
      <p:sp>
        <p:nvSpPr>
          <p:cNvPr id="40" name="Rectangle 39"/>
          <p:cNvSpPr/>
          <p:nvPr/>
        </p:nvSpPr>
        <p:spPr>
          <a:xfrm>
            <a:off x="4572000" y="3949700"/>
            <a:ext cx="5753100" cy="177800"/>
          </a:xfrm>
          <a:prstGeom prst="rect">
            <a:avLst/>
          </a:prstGeom>
          <a:solidFill>
            <a:srgbClr val="8A9A9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4572000" y="3949700"/>
            <a:ext cx="977900" cy="177800"/>
          </a:xfrm>
          <a:prstGeom prst="rect">
            <a:avLst/>
          </a:prstGeom>
          <a:solidFill>
            <a:srgbClr val="C189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0452100" y="3886200"/>
            <a:ext cx="1079500" cy="304800"/>
          </a:xfrm>
          <a:prstGeom prst="rect">
            <a:avLst/>
          </a:prstGeom>
          <a:noFill/>
        </p:spPr>
        <p:txBody>
          <a:bodyPr wrap="none" lIns="0" rIns="0" tIns="0" bIns="0" anchor="ctr">
            <a:noAutofit/>
          </a:bodyPr>
          <a:lstStyle/>
          <a:p>
            <a:pPr algn="l">
              <a:lnSpc>
                <a:spcPct val="100000"/>
              </a:lnSpc>
            </a:pPr>
            <a:r>
              <a:rPr sz="2000" b="1">
                <a:solidFill>
                  <a:srgbClr val="C1891A"/>
                </a:solidFill>
                <a:latin typeface="Yu Gothic"/>
                <a:ea typeface="Yu Gothic"/>
                <a:cs typeface="Yu Gothic"/>
              </a:rPr>
              <a:t>17.1%</a:t>
            </a:r>
          </a:p>
        </p:txBody>
      </p:sp>
      <p:sp>
        <p:nvSpPr>
          <p:cNvPr id="43" name="TextBox 42"/>
          <p:cNvSpPr txBox="1"/>
          <p:nvPr/>
        </p:nvSpPr>
        <p:spPr>
          <a:xfrm>
            <a:off x="3644900" y="4152900"/>
            <a:ext cx="800100" cy="279400"/>
          </a:xfrm>
          <a:prstGeom prst="rect">
            <a:avLst/>
          </a:prstGeom>
          <a:noFill/>
        </p:spPr>
        <p:txBody>
          <a:bodyPr wrap="none" lIns="0" rIns="0" tIns="0" bIns="0" anchor="ctr">
            <a:noAutofit/>
          </a:bodyPr>
          <a:lstStyle/>
          <a:p>
            <a:pPr algn="l">
              <a:lnSpc>
                <a:spcPct val="100000"/>
              </a:lnSpc>
            </a:pPr>
            <a:r>
              <a:rPr sz="1700" b="1">
                <a:solidFill>
                  <a:srgbClr val="B4442A"/>
                </a:solidFill>
                <a:latin typeface="Yu Gothic"/>
                <a:ea typeface="Yu Gothic"/>
                <a:cs typeface="Yu Gothic"/>
              </a:rPr>
              <a:t>90℃</a:t>
            </a:r>
          </a:p>
        </p:txBody>
      </p:sp>
      <p:sp>
        <p:nvSpPr>
          <p:cNvPr id="44" name="Rectangle 43"/>
          <p:cNvSpPr/>
          <p:nvPr/>
        </p:nvSpPr>
        <p:spPr>
          <a:xfrm>
            <a:off x="4572000" y="4203700"/>
            <a:ext cx="5753100" cy="177800"/>
          </a:xfrm>
          <a:prstGeom prst="rect">
            <a:avLst/>
          </a:prstGeom>
          <a:solidFill>
            <a:srgbClr val="8A9A9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4572000" y="4203700"/>
            <a:ext cx="1809750" cy="177800"/>
          </a:xfrm>
          <a:prstGeom prst="rect">
            <a:avLst/>
          </a:prstGeom>
          <a:solidFill>
            <a:srgbClr val="B44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0452100" y="4140200"/>
            <a:ext cx="1079500" cy="304800"/>
          </a:xfrm>
          <a:prstGeom prst="rect">
            <a:avLst/>
          </a:prstGeom>
          <a:noFill/>
        </p:spPr>
        <p:txBody>
          <a:bodyPr wrap="none" lIns="0" rIns="0" tIns="0" bIns="0" anchor="ctr">
            <a:noAutofit/>
          </a:bodyPr>
          <a:lstStyle/>
          <a:p>
            <a:pPr algn="l">
              <a:lnSpc>
                <a:spcPct val="100000"/>
              </a:lnSpc>
            </a:pPr>
            <a:r>
              <a:rPr sz="2000" b="1">
                <a:solidFill>
                  <a:srgbClr val="B4442A"/>
                </a:solidFill>
                <a:latin typeface="Yu Gothic"/>
                <a:ea typeface="Yu Gothic"/>
                <a:cs typeface="Yu Gothic"/>
              </a:rPr>
              <a:t>31.5%</a:t>
            </a:r>
          </a:p>
        </p:txBody>
      </p:sp>
      <p:sp>
        <p:nvSpPr>
          <p:cNvPr id="47" name="TextBox 46"/>
          <p:cNvSpPr txBox="1"/>
          <p:nvPr/>
        </p:nvSpPr>
        <p:spPr>
          <a:xfrm>
            <a:off x="660400" y="4495800"/>
            <a:ext cx="2794000" cy="711200"/>
          </a:xfrm>
          <a:prstGeom prst="rect">
            <a:avLst/>
          </a:prstGeom>
          <a:noFill/>
        </p:spPr>
        <p:txBody>
          <a:bodyPr wrap="square" lIns="0" rIns="0" tIns="0" bIns="0" anchor="ctr">
            <a:noAutofit/>
          </a:bodyPr>
          <a:lstStyle/>
          <a:p>
            <a:pPr algn="r">
              <a:lnSpc>
                <a:spcPct val="120000"/>
              </a:lnSpc>
            </a:pPr>
            <a:r>
              <a:rPr sz="2400" b="1">
                <a:solidFill>
                  <a:srgbClr val="17372A"/>
                </a:solidFill>
                <a:latin typeface="Yu Gothic"/>
                <a:ea typeface="Yu Gothic"/>
                <a:cs typeface="Yu Gothic"/>
              </a:rPr>
              <a:t>カフェイン</a:t>
            </a:r>
          </a:p>
          <a:p>
            <a:pPr algn="r">
              <a:lnSpc>
                <a:spcPct val="120000"/>
              </a:lnSpc>
            </a:pPr>
            <a:r>
              <a:rPr sz="1400" b="1">
                <a:solidFill>
                  <a:srgbClr val="4A6154"/>
                </a:solidFill>
                <a:latin typeface="Yu Gothic"/>
                <a:ea typeface="Yu Gothic"/>
                <a:cs typeface="Yu Gothic"/>
              </a:rPr>
              <a:t>アルカロイド／苦味</a:t>
            </a:r>
          </a:p>
        </p:txBody>
      </p:sp>
      <p:sp>
        <p:nvSpPr>
          <p:cNvPr id="48" name="TextBox 47"/>
          <p:cNvSpPr txBox="1"/>
          <p:nvPr/>
        </p:nvSpPr>
        <p:spPr>
          <a:xfrm>
            <a:off x="3644900" y="4457700"/>
            <a:ext cx="800100" cy="279400"/>
          </a:xfrm>
          <a:prstGeom prst="rect">
            <a:avLst/>
          </a:prstGeom>
          <a:noFill/>
        </p:spPr>
        <p:txBody>
          <a:bodyPr wrap="none" lIns="0" rIns="0" tIns="0" bIns="0" anchor="ctr">
            <a:noAutofit/>
          </a:bodyPr>
          <a:lstStyle/>
          <a:p>
            <a:pPr algn="l">
              <a:lnSpc>
                <a:spcPct val="100000"/>
              </a:lnSpc>
            </a:pPr>
            <a:r>
              <a:rPr sz="1700" b="1">
                <a:solidFill>
                  <a:srgbClr val="1F6E96"/>
                </a:solidFill>
                <a:latin typeface="Yu Gothic"/>
                <a:ea typeface="Yu Gothic"/>
                <a:cs typeface="Yu Gothic"/>
              </a:rPr>
              <a:t>50℃</a:t>
            </a:r>
          </a:p>
        </p:txBody>
      </p:sp>
      <p:sp>
        <p:nvSpPr>
          <p:cNvPr id="49" name="Rectangle 48"/>
          <p:cNvSpPr/>
          <p:nvPr/>
        </p:nvSpPr>
        <p:spPr>
          <a:xfrm>
            <a:off x="4572000" y="4508500"/>
            <a:ext cx="5753100" cy="177800"/>
          </a:xfrm>
          <a:prstGeom prst="rect">
            <a:avLst/>
          </a:prstGeom>
          <a:solidFill>
            <a:srgbClr val="8A9A9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4572000" y="4508500"/>
            <a:ext cx="1238250" cy="177800"/>
          </a:xfrm>
          <a:prstGeom prst="rect">
            <a:avLst/>
          </a:prstGeom>
          <a:solidFill>
            <a:srgbClr val="1F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10452100" y="4445000"/>
            <a:ext cx="1079500" cy="304800"/>
          </a:xfrm>
          <a:prstGeom prst="rect">
            <a:avLst/>
          </a:prstGeom>
          <a:noFill/>
        </p:spPr>
        <p:txBody>
          <a:bodyPr wrap="none" lIns="0" rIns="0" tIns="0" bIns="0" anchor="ctr">
            <a:noAutofit/>
          </a:bodyPr>
          <a:lstStyle/>
          <a:p>
            <a:pPr algn="l">
              <a:lnSpc>
                <a:spcPct val="100000"/>
              </a:lnSpc>
            </a:pPr>
            <a:r>
              <a:rPr sz="2000" b="1">
                <a:solidFill>
                  <a:srgbClr val="1F6E96"/>
                </a:solidFill>
                <a:latin typeface="Yu Gothic"/>
                <a:ea typeface="Yu Gothic"/>
                <a:cs typeface="Yu Gothic"/>
              </a:rPr>
              <a:t>21.6%</a:t>
            </a:r>
          </a:p>
        </p:txBody>
      </p:sp>
      <p:sp>
        <p:nvSpPr>
          <p:cNvPr id="52" name="TextBox 51"/>
          <p:cNvSpPr txBox="1"/>
          <p:nvPr/>
        </p:nvSpPr>
        <p:spPr>
          <a:xfrm>
            <a:off x="3644900" y="4711700"/>
            <a:ext cx="800100" cy="279400"/>
          </a:xfrm>
          <a:prstGeom prst="rect">
            <a:avLst/>
          </a:prstGeom>
          <a:noFill/>
        </p:spPr>
        <p:txBody>
          <a:bodyPr wrap="none" lIns="0" rIns="0" tIns="0" bIns="0" anchor="ctr">
            <a:noAutofit/>
          </a:bodyPr>
          <a:lstStyle/>
          <a:p>
            <a:pPr algn="l">
              <a:lnSpc>
                <a:spcPct val="100000"/>
              </a:lnSpc>
            </a:pPr>
            <a:r>
              <a:rPr sz="1700" b="1">
                <a:solidFill>
                  <a:srgbClr val="C1891A"/>
                </a:solidFill>
                <a:latin typeface="Yu Gothic"/>
                <a:ea typeface="Yu Gothic"/>
                <a:cs typeface="Yu Gothic"/>
              </a:rPr>
              <a:t>70℃</a:t>
            </a:r>
          </a:p>
        </p:txBody>
      </p:sp>
      <p:sp>
        <p:nvSpPr>
          <p:cNvPr id="53" name="Rectangle 52"/>
          <p:cNvSpPr/>
          <p:nvPr/>
        </p:nvSpPr>
        <p:spPr>
          <a:xfrm>
            <a:off x="4572000" y="4762500"/>
            <a:ext cx="5753100" cy="177800"/>
          </a:xfrm>
          <a:prstGeom prst="rect">
            <a:avLst/>
          </a:prstGeom>
          <a:solidFill>
            <a:srgbClr val="8A9A9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4572000" y="4762500"/>
            <a:ext cx="1987550" cy="177800"/>
          </a:xfrm>
          <a:prstGeom prst="rect">
            <a:avLst/>
          </a:prstGeom>
          <a:solidFill>
            <a:srgbClr val="C189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10452100" y="4699000"/>
            <a:ext cx="1079500" cy="304800"/>
          </a:xfrm>
          <a:prstGeom prst="rect">
            <a:avLst/>
          </a:prstGeom>
          <a:noFill/>
        </p:spPr>
        <p:txBody>
          <a:bodyPr wrap="none" lIns="0" rIns="0" tIns="0" bIns="0" anchor="ctr">
            <a:noAutofit/>
          </a:bodyPr>
          <a:lstStyle/>
          <a:p>
            <a:pPr algn="l">
              <a:lnSpc>
                <a:spcPct val="100000"/>
              </a:lnSpc>
            </a:pPr>
            <a:r>
              <a:rPr sz="2000" b="1">
                <a:solidFill>
                  <a:srgbClr val="C1891A"/>
                </a:solidFill>
                <a:latin typeface="Yu Gothic"/>
                <a:ea typeface="Yu Gothic"/>
                <a:cs typeface="Yu Gothic"/>
              </a:rPr>
              <a:t>34.6%</a:t>
            </a:r>
          </a:p>
        </p:txBody>
      </p:sp>
      <p:sp>
        <p:nvSpPr>
          <p:cNvPr id="56" name="TextBox 55"/>
          <p:cNvSpPr txBox="1"/>
          <p:nvPr/>
        </p:nvSpPr>
        <p:spPr>
          <a:xfrm>
            <a:off x="3644900" y="4965700"/>
            <a:ext cx="800100" cy="279400"/>
          </a:xfrm>
          <a:prstGeom prst="rect">
            <a:avLst/>
          </a:prstGeom>
          <a:noFill/>
        </p:spPr>
        <p:txBody>
          <a:bodyPr wrap="none" lIns="0" rIns="0" tIns="0" bIns="0" anchor="ctr">
            <a:noAutofit/>
          </a:bodyPr>
          <a:lstStyle/>
          <a:p>
            <a:pPr algn="l">
              <a:lnSpc>
                <a:spcPct val="100000"/>
              </a:lnSpc>
            </a:pPr>
            <a:r>
              <a:rPr sz="1700" b="1">
                <a:solidFill>
                  <a:srgbClr val="B4442A"/>
                </a:solidFill>
                <a:latin typeface="Yu Gothic"/>
                <a:ea typeface="Yu Gothic"/>
                <a:cs typeface="Yu Gothic"/>
              </a:rPr>
              <a:t>90℃</a:t>
            </a:r>
          </a:p>
        </p:txBody>
      </p:sp>
      <p:sp>
        <p:nvSpPr>
          <p:cNvPr id="57" name="Rectangle 56"/>
          <p:cNvSpPr/>
          <p:nvPr/>
        </p:nvSpPr>
        <p:spPr>
          <a:xfrm>
            <a:off x="4572000" y="5016500"/>
            <a:ext cx="5753100" cy="177800"/>
          </a:xfrm>
          <a:prstGeom prst="rect">
            <a:avLst/>
          </a:prstGeom>
          <a:solidFill>
            <a:srgbClr val="8A9A9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4572000" y="5016500"/>
            <a:ext cx="3606800" cy="177800"/>
          </a:xfrm>
          <a:prstGeom prst="rect">
            <a:avLst/>
          </a:prstGeom>
          <a:solidFill>
            <a:srgbClr val="B44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10452100" y="4953000"/>
            <a:ext cx="1079500" cy="304800"/>
          </a:xfrm>
          <a:prstGeom prst="rect">
            <a:avLst/>
          </a:prstGeom>
          <a:noFill/>
        </p:spPr>
        <p:txBody>
          <a:bodyPr wrap="none" lIns="0" rIns="0" tIns="0" bIns="0" anchor="ctr">
            <a:noAutofit/>
          </a:bodyPr>
          <a:lstStyle/>
          <a:p>
            <a:pPr algn="l">
              <a:lnSpc>
                <a:spcPct val="100000"/>
              </a:lnSpc>
            </a:pPr>
            <a:r>
              <a:rPr sz="2000" b="1">
                <a:solidFill>
                  <a:srgbClr val="B4442A"/>
                </a:solidFill>
                <a:latin typeface="Yu Gothic"/>
                <a:ea typeface="Yu Gothic"/>
                <a:cs typeface="Yu Gothic"/>
              </a:rPr>
              <a:t>62.7%</a:t>
            </a:r>
          </a:p>
        </p:txBody>
      </p:sp>
      <p:sp>
        <p:nvSpPr>
          <p:cNvPr id="60" name="TextBox 59"/>
          <p:cNvSpPr txBox="1"/>
          <p:nvPr/>
        </p:nvSpPr>
        <p:spPr>
          <a:xfrm>
            <a:off x="660400" y="5257800"/>
            <a:ext cx="10871200" cy="381000"/>
          </a:xfrm>
          <a:prstGeom prst="rect">
            <a:avLst/>
          </a:prstGeom>
          <a:noFill/>
        </p:spPr>
        <p:txBody>
          <a:bodyPr wrap="square" lIns="0" rIns="0" tIns="0" bIns="0" anchor="ctr">
            <a:noAutofit/>
          </a:bodyPr>
          <a:lstStyle/>
          <a:p>
            <a:pPr algn="ctr">
              <a:lnSpc>
                <a:spcPct val="130000"/>
              </a:lnSpc>
            </a:pPr>
            <a:r>
              <a:rPr sz="2300" b="1">
                <a:solidFill>
                  <a:srgbClr val="17372A"/>
                </a:solidFill>
                <a:latin typeface="Yu Gothic"/>
                <a:ea typeface="Yu Gothic"/>
                <a:cs typeface="Yu Gothic"/>
              </a:rPr>
              <a:t>高温では、</a:t>
            </a:r>
            <a:r>
              <a:rPr sz="2300" b="1">
                <a:solidFill>
                  <a:srgbClr val="17372A"/>
                </a:solidFill>
                <a:highlight>
                  <a:srgbClr val="D9C79B"/>
                </a:highlight>
                <a:latin typeface="Yu Gothic"/>
                <a:ea typeface="Yu Gothic"/>
                <a:cs typeface="Yu Gothic"/>
              </a:rPr>
              <a:t>苦味も渋みも短時間で出る。</a:t>
            </a:r>
            <a:r>
              <a:rPr sz="2300" b="1">
                <a:solidFill>
                  <a:srgbClr val="17372A"/>
                </a:solidFill>
                <a:latin typeface="Yu Gothic"/>
                <a:ea typeface="Yu Gothic"/>
                <a:cs typeface="Yu Gothic"/>
              </a:rPr>
              <a:t>味わいのバランスが変わる。</a:t>
            </a:r>
          </a:p>
        </p:txBody>
      </p:sp>
      <p:sp>
        <p:nvSpPr>
          <p:cNvPr id="61" name="TextBox 60"/>
          <p:cNvSpPr txBox="1"/>
          <p:nvPr/>
        </p:nvSpPr>
        <p:spPr>
          <a:xfrm>
            <a:off x="660400" y="5689600"/>
            <a:ext cx="10871200" cy="558800"/>
          </a:xfrm>
          <a:prstGeom prst="rect">
            <a:avLst/>
          </a:prstGeom>
          <a:noFill/>
        </p:spPr>
        <p:txBody>
          <a:bodyPr wrap="square" lIns="0" rIns="0" tIns="0" bIns="0" anchor="ctr">
            <a:noAutofit/>
          </a:bodyPr>
          <a:lstStyle/>
          <a:p>
            <a:pPr algn="l">
              <a:lnSpc>
                <a:spcPct val="150000"/>
              </a:lnSpc>
            </a:pPr>
            <a:r>
              <a:rPr sz="1300" b="0">
                <a:solidFill>
                  <a:srgbClr val="4A6154"/>
                </a:solidFill>
                <a:latin typeface="Yu Gothic"/>
                <a:ea typeface="Yu Gothic"/>
                <a:cs typeface="Yu Gothic"/>
              </a:rPr>
              <a:t>坂本ら（2002）茶業研究報告 94:45-55、表2・表3（p.49）／深蒸し上級煎茶4g・湯120mL・1煎目60秒。3つの温度はそれぞれ別々に淹れた1煎目で、低温のあとに高温を重ねた結果ではない。アミノ酸類（表3）に90℃条件はない。拓朗（午）の実測値でもな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3E8"/>
        </a:solidFill>
        <a:effectLst/>
      </p:bgPr>
    </p:bg>
    <p:spTree>
      <p:nvGrpSpPr>
        <p:cNvPr id="1" name=""/>
        <p:cNvGrpSpPr/>
        <p:nvPr/>
      </p:nvGrpSpPr>
      <p:grpSpPr/>
      <p:sp>
        <p:nvSpPr>
          <p:cNvPr id="2" name="Rectangle 1"/>
          <p:cNvSpPr/>
          <p:nvPr/>
        </p:nvSpPr>
        <p:spPr>
          <a:xfrm>
            <a:off x="292100" y="292100"/>
            <a:ext cx="11607800" cy="6184900"/>
          </a:xfrm>
          <a:prstGeom prst="rect">
            <a:avLst/>
          </a:prstGeom>
          <a:noFill/>
          <a:ln w="12700">
            <a:solidFill>
              <a:srgbClr val="CBB5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60400" y="469900"/>
            <a:ext cx="10871200" cy="304800"/>
          </a:xfrm>
          <a:prstGeom prst="rect">
            <a:avLst/>
          </a:prstGeom>
          <a:noFill/>
        </p:spPr>
        <p:txBody>
          <a:bodyPr wrap="square" lIns="0" rIns="0" tIns="0" bIns="0" anchor="ctr">
            <a:noAutofit/>
          </a:bodyPr>
          <a:lstStyle/>
          <a:p>
            <a:pPr algn="l">
              <a:lnSpc>
                <a:spcPct val="100000"/>
              </a:lnSpc>
            </a:pPr>
            <a:r>
              <a:rPr sz="1900" b="1" spc="836">
                <a:solidFill>
                  <a:srgbClr val="9A7430"/>
                </a:solidFill>
                <a:latin typeface="Yu Gothic"/>
                <a:ea typeface="Yu Gothic"/>
                <a:cs typeface="Yu Gothic"/>
              </a:rPr>
              <a:t>THE FIRST BREW ／ DESIGN</a:t>
            </a:r>
          </a:p>
        </p:txBody>
      </p:sp>
      <p:sp>
        <p:nvSpPr>
          <p:cNvPr id="4" name="TextBox 3"/>
          <p:cNvSpPr txBox="1"/>
          <p:nvPr/>
        </p:nvSpPr>
        <p:spPr>
          <a:xfrm>
            <a:off x="660400" y="914400"/>
            <a:ext cx="10871200" cy="670560"/>
          </a:xfrm>
          <a:prstGeom prst="rect">
            <a:avLst/>
          </a:prstGeom>
          <a:noFill/>
        </p:spPr>
        <p:txBody>
          <a:bodyPr wrap="square" lIns="0" rIns="0" tIns="0" bIns="0" anchor="ctr">
            <a:noAutofit/>
          </a:bodyPr>
          <a:lstStyle/>
          <a:p>
            <a:pPr algn="l">
              <a:lnSpc>
                <a:spcPct val="120000"/>
              </a:lnSpc>
            </a:pPr>
            <a:r>
              <a:rPr sz="4400" b="1">
                <a:solidFill>
                  <a:srgbClr val="17372A"/>
                </a:solidFill>
                <a:latin typeface="Yu Gothic"/>
                <a:ea typeface="Yu Gothic"/>
                <a:cs typeface="Yu Gothic"/>
              </a:rPr>
              <a:t>だから、一煎目は二段で淹れる</a:t>
            </a:r>
          </a:p>
        </p:txBody>
      </p:sp>
      <p:sp>
        <p:nvSpPr>
          <p:cNvPr id="5" name="Rectangle 4"/>
          <p:cNvSpPr/>
          <p:nvPr/>
        </p:nvSpPr>
        <p:spPr>
          <a:xfrm>
            <a:off x="660400" y="1724660"/>
            <a:ext cx="1270000" cy="25400"/>
          </a:xfrm>
          <a:prstGeom prst="rect">
            <a:avLst/>
          </a:prstGeom>
          <a:solidFill>
            <a:srgbClr val="9A7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930400" y="1724660"/>
            <a:ext cx="9601200" cy="25400"/>
          </a:xfrm>
          <a:prstGeom prst="rect">
            <a:avLst/>
          </a:prstGeom>
          <a:solidFill>
            <a:srgbClr val="8A9A90">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1828800"/>
            <a:ext cx="10871200" cy="342900"/>
          </a:xfrm>
          <a:prstGeom prst="rect">
            <a:avLst/>
          </a:prstGeom>
          <a:noFill/>
        </p:spPr>
        <p:txBody>
          <a:bodyPr wrap="square" lIns="0" rIns="0" tIns="0" bIns="0" anchor="ctr">
            <a:noAutofit/>
          </a:bodyPr>
          <a:lstStyle/>
          <a:p>
            <a:pPr algn="ctr">
              <a:lnSpc>
                <a:spcPct val="120000"/>
              </a:lnSpc>
            </a:pPr>
            <a:r>
              <a:rPr sz="1700" b="1">
                <a:solidFill>
                  <a:srgbClr val="4A6154"/>
                </a:solidFill>
                <a:latin typeface="Yu Gothic"/>
                <a:ea typeface="Yu Gothic"/>
                <a:cs typeface="Yu Gothic"/>
              </a:rPr>
              <a:t>合組された二つの茶の良さを際立たせるために、成分が</a:t>
            </a:r>
            <a:r>
              <a:rPr sz="1700" b="1">
                <a:solidFill>
                  <a:srgbClr val="9A7430"/>
                </a:solidFill>
                <a:latin typeface="Yu Gothic"/>
                <a:ea typeface="Yu Gothic"/>
                <a:cs typeface="Yu Gothic"/>
              </a:rPr>
              <a:t>溶け出す性質の差</a:t>
            </a:r>
            <a:r>
              <a:rPr sz="1700" b="1">
                <a:solidFill>
                  <a:srgbClr val="4A6154"/>
                </a:solidFill>
                <a:latin typeface="Yu Gothic"/>
                <a:ea typeface="Yu Gothic"/>
                <a:cs typeface="Yu Gothic"/>
              </a:rPr>
              <a:t>を使う</a:t>
            </a:r>
          </a:p>
        </p:txBody>
      </p:sp>
      <p:cxnSp>
        <p:nvCxnSpPr>
          <p:cNvPr id="8" name="Connector 7"/>
          <p:cNvCxnSpPr/>
          <p:nvPr/>
        </p:nvCxnSpPr>
        <p:spPr>
          <a:xfrm>
            <a:off x="2407342" y="4266705"/>
            <a:ext cx="7537952" cy="0"/>
          </a:xfrm>
          <a:prstGeom prst="line">
            <a:avLst/>
          </a:prstGeom>
          <a:ln w="19050">
            <a:solidFill>
              <a:srgbClr val="8A9A9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07342" y="3839019"/>
            <a:ext cx="7537952" cy="0"/>
          </a:xfrm>
          <a:prstGeom prst="line">
            <a:avLst/>
          </a:prstGeom>
          <a:ln w="19050">
            <a:solidFill>
              <a:srgbClr val="1F6E96"/>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407342" y="2748422"/>
            <a:ext cx="7537952" cy="0"/>
          </a:xfrm>
          <a:prstGeom prst="line">
            <a:avLst/>
          </a:prstGeom>
          <a:ln w="19050">
            <a:solidFill>
              <a:srgbClr val="B4442A"/>
            </a:solidFill>
            <a:prstDash val="dash"/>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56342" y="3648519"/>
            <a:ext cx="1587500" cy="381000"/>
          </a:xfrm>
          <a:prstGeom prst="rect">
            <a:avLst/>
          </a:prstGeom>
          <a:noFill/>
        </p:spPr>
        <p:txBody>
          <a:bodyPr wrap="square" lIns="0" rIns="0" tIns="0" bIns="0" anchor="ctr">
            <a:noAutofit/>
          </a:bodyPr>
          <a:lstStyle/>
          <a:p>
            <a:pPr algn="r">
              <a:lnSpc>
                <a:spcPct val="100000"/>
              </a:lnSpc>
            </a:pPr>
            <a:r>
              <a:rPr sz="1683" b="1">
                <a:solidFill>
                  <a:srgbClr val="1F6E96"/>
                </a:solidFill>
                <a:latin typeface="Yu Gothic"/>
                <a:ea typeface="Yu Gothic"/>
                <a:cs typeface="Yu Gothic"/>
              </a:rPr>
              <a:t>50℃</a:t>
            </a:r>
          </a:p>
        </p:txBody>
      </p:sp>
      <p:sp>
        <p:nvSpPr>
          <p:cNvPr id="12" name="TextBox 11"/>
          <p:cNvSpPr txBox="1"/>
          <p:nvPr/>
        </p:nvSpPr>
        <p:spPr>
          <a:xfrm>
            <a:off x="756342" y="2557922"/>
            <a:ext cx="1587500" cy="381000"/>
          </a:xfrm>
          <a:prstGeom prst="rect">
            <a:avLst/>
          </a:prstGeom>
          <a:noFill/>
        </p:spPr>
        <p:txBody>
          <a:bodyPr wrap="square" lIns="0" rIns="0" tIns="0" bIns="0" anchor="ctr">
            <a:noAutofit/>
          </a:bodyPr>
          <a:lstStyle/>
          <a:p>
            <a:pPr algn="r">
              <a:lnSpc>
                <a:spcPct val="100000"/>
              </a:lnSpc>
            </a:pPr>
            <a:r>
              <a:rPr sz="1683" b="1">
                <a:solidFill>
                  <a:srgbClr val="B4442A"/>
                </a:solidFill>
                <a:latin typeface="Yu Gothic"/>
                <a:ea typeface="Yu Gothic"/>
                <a:cs typeface="Yu Gothic"/>
              </a:rPr>
              <a:t>約84℃</a:t>
            </a:r>
          </a:p>
        </p:txBody>
      </p:sp>
      <p:cxnSp>
        <p:nvCxnSpPr>
          <p:cNvPr id="13" name="Connector 12"/>
          <p:cNvCxnSpPr/>
          <p:nvPr/>
        </p:nvCxnSpPr>
        <p:spPr>
          <a:xfrm>
            <a:off x="2621185" y="3839019"/>
            <a:ext cx="5506447" cy="0"/>
          </a:xfrm>
          <a:prstGeom prst="line">
            <a:avLst/>
          </a:prstGeom>
          <a:ln w="101600">
            <a:solidFill>
              <a:srgbClr val="1F6E9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8127632" y="2748422"/>
            <a:ext cx="0" cy="1090597"/>
          </a:xfrm>
          <a:prstGeom prst="line">
            <a:avLst/>
          </a:prstGeom>
          <a:ln w="101600">
            <a:solidFill>
              <a:srgbClr val="B4442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127632" y="2748422"/>
            <a:ext cx="1443437" cy="0"/>
          </a:xfrm>
          <a:prstGeom prst="line">
            <a:avLst/>
          </a:prstGeom>
          <a:ln w="101600">
            <a:solidFill>
              <a:srgbClr val="B4442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621185" y="4084938"/>
            <a:ext cx="5506447" cy="0"/>
          </a:xfrm>
          <a:prstGeom prst="line">
            <a:avLst/>
          </a:prstGeom>
          <a:ln w="25400">
            <a:solidFill>
              <a:srgbClr val="1F6E9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621185" y="4031478"/>
            <a:ext cx="0" cy="106921"/>
          </a:xfrm>
          <a:prstGeom prst="line">
            <a:avLst/>
          </a:prstGeom>
          <a:ln w="25400">
            <a:solidFill>
              <a:srgbClr val="1F6E9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127632" y="4031478"/>
            <a:ext cx="0" cy="106921"/>
          </a:xfrm>
          <a:prstGeom prst="line">
            <a:avLst/>
          </a:prstGeom>
          <a:ln w="25400">
            <a:solidFill>
              <a:srgbClr val="1F6E96"/>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037892" y="4173683"/>
            <a:ext cx="2673032" cy="305795"/>
          </a:xfrm>
          <a:prstGeom prst="rect">
            <a:avLst/>
          </a:prstGeom>
          <a:noFill/>
        </p:spPr>
        <p:txBody>
          <a:bodyPr wrap="square" lIns="0" rIns="0" tIns="0" bIns="0" anchor="ctr">
            <a:noAutofit/>
          </a:bodyPr>
          <a:lstStyle/>
          <a:p>
            <a:pPr algn="ctr">
              <a:lnSpc>
                <a:spcPct val="100000"/>
              </a:lnSpc>
            </a:pPr>
            <a:r>
              <a:rPr sz="1852" b="1">
                <a:solidFill>
                  <a:srgbClr val="1F6E96"/>
                </a:solidFill>
                <a:latin typeface="Yu Gothic"/>
                <a:ea typeface="Yu Gothic"/>
                <a:cs typeface="Yu Gothic"/>
              </a:rPr>
              <a:t>60秒</a:t>
            </a:r>
          </a:p>
        </p:txBody>
      </p:sp>
      <p:sp>
        <p:nvSpPr>
          <p:cNvPr id="20" name="TextBox 19"/>
          <p:cNvSpPr txBox="1"/>
          <p:nvPr/>
        </p:nvSpPr>
        <p:spPr>
          <a:xfrm>
            <a:off x="3770589" y="3403850"/>
            <a:ext cx="3207639" cy="305795"/>
          </a:xfrm>
          <a:prstGeom prst="rect">
            <a:avLst/>
          </a:prstGeom>
          <a:noFill/>
        </p:spPr>
        <p:txBody>
          <a:bodyPr wrap="square" lIns="0" rIns="0" tIns="0" bIns="0" anchor="ctr">
            <a:noAutofit/>
          </a:bodyPr>
          <a:lstStyle/>
          <a:p>
            <a:pPr algn="ctr">
              <a:lnSpc>
                <a:spcPct val="100000"/>
              </a:lnSpc>
            </a:pPr>
            <a:r>
              <a:rPr sz="1852" b="1">
                <a:solidFill>
                  <a:srgbClr val="17372A"/>
                </a:solidFill>
                <a:latin typeface="Yu Gothic"/>
                <a:ea typeface="Yu Gothic"/>
                <a:cs typeface="Yu Gothic"/>
              </a:rPr>
              <a:t>50℃ ・ 30mL</a:t>
            </a:r>
          </a:p>
        </p:txBody>
      </p:sp>
      <p:cxnSp>
        <p:nvCxnSpPr>
          <p:cNvPr id="21" name="Connector 20"/>
          <p:cNvCxnSpPr/>
          <p:nvPr/>
        </p:nvCxnSpPr>
        <p:spPr>
          <a:xfrm>
            <a:off x="8127632" y="2994341"/>
            <a:ext cx="1443437" cy="0"/>
          </a:xfrm>
          <a:prstGeom prst="line">
            <a:avLst/>
          </a:prstGeom>
          <a:ln w="25400">
            <a:solidFill>
              <a:srgbClr val="B4442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127632" y="2940881"/>
            <a:ext cx="0" cy="106921"/>
          </a:xfrm>
          <a:prstGeom prst="line">
            <a:avLst/>
          </a:prstGeom>
          <a:ln w="25400">
            <a:solidFill>
              <a:srgbClr val="B4442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571069" y="2940881"/>
            <a:ext cx="0" cy="106921"/>
          </a:xfrm>
          <a:prstGeom prst="line">
            <a:avLst/>
          </a:prstGeom>
          <a:ln w="25400">
            <a:solidFill>
              <a:srgbClr val="B4442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780137" y="3083086"/>
            <a:ext cx="2138426" cy="305795"/>
          </a:xfrm>
          <a:prstGeom prst="rect">
            <a:avLst/>
          </a:prstGeom>
          <a:noFill/>
        </p:spPr>
        <p:txBody>
          <a:bodyPr wrap="square" lIns="0" rIns="0" tIns="0" bIns="0" anchor="ctr">
            <a:noAutofit/>
          </a:bodyPr>
          <a:lstStyle/>
          <a:p>
            <a:pPr algn="ctr">
              <a:lnSpc>
                <a:spcPct val="100000"/>
              </a:lnSpc>
            </a:pPr>
            <a:r>
              <a:rPr sz="1852" b="1">
                <a:solidFill>
                  <a:srgbClr val="B4442A"/>
                </a:solidFill>
                <a:latin typeface="Yu Gothic"/>
                <a:ea typeface="Yu Gothic"/>
                <a:cs typeface="Yu Gothic"/>
              </a:rPr>
              <a:t>10秒</a:t>
            </a:r>
          </a:p>
        </p:txBody>
      </p:sp>
      <p:sp>
        <p:nvSpPr>
          <p:cNvPr id="25" name="TextBox 24"/>
          <p:cNvSpPr txBox="1"/>
          <p:nvPr/>
        </p:nvSpPr>
        <p:spPr>
          <a:xfrm>
            <a:off x="7245531" y="2356021"/>
            <a:ext cx="3207639" cy="305795"/>
          </a:xfrm>
          <a:prstGeom prst="rect">
            <a:avLst/>
          </a:prstGeom>
          <a:noFill/>
        </p:spPr>
        <p:txBody>
          <a:bodyPr wrap="square" lIns="0" rIns="0" tIns="0" bIns="0" anchor="ctr">
            <a:noAutofit/>
          </a:bodyPr>
          <a:lstStyle/>
          <a:p>
            <a:pPr algn="ctr">
              <a:lnSpc>
                <a:spcPct val="100000"/>
              </a:lnSpc>
            </a:pPr>
            <a:r>
              <a:rPr sz="1852" b="1">
                <a:solidFill>
                  <a:srgbClr val="17372A"/>
                </a:solidFill>
                <a:latin typeface="Yu Gothic"/>
                <a:ea typeface="Yu Gothic"/>
                <a:cs typeface="Yu Gothic"/>
              </a:rPr>
              <a:t>＋90℃ ・ 170mL</a:t>
            </a:r>
          </a:p>
        </p:txBody>
      </p:sp>
      <p:sp>
        <p:nvSpPr>
          <p:cNvPr id="26" name="Rectangle 25"/>
          <p:cNvSpPr/>
          <p:nvPr/>
        </p:nvSpPr>
        <p:spPr>
          <a:xfrm>
            <a:off x="660400" y="4597400"/>
            <a:ext cx="5340350" cy="1638300"/>
          </a:xfrm>
          <a:prstGeom prst="rect">
            <a:avLst/>
          </a:prstGeom>
          <a:solidFill>
            <a:srgbClr val="CFE3EE"/>
          </a:solidFill>
          <a:ln w="31750">
            <a:solidFill>
              <a:srgbClr val="1F6E9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25500" y="4749800"/>
            <a:ext cx="5010150" cy="342900"/>
          </a:xfrm>
          <a:prstGeom prst="rect">
            <a:avLst/>
          </a:prstGeom>
          <a:noFill/>
        </p:spPr>
        <p:txBody>
          <a:bodyPr wrap="square" lIns="0" rIns="0" tIns="0" bIns="0" anchor="ctr">
            <a:noAutofit/>
          </a:bodyPr>
          <a:lstStyle/>
          <a:p>
            <a:pPr algn="l">
              <a:lnSpc>
                <a:spcPct val="100000"/>
              </a:lnSpc>
            </a:pPr>
            <a:r>
              <a:rPr sz="1800" b="1" spc="144">
                <a:solidFill>
                  <a:srgbClr val="1F6E96"/>
                </a:solidFill>
                <a:latin typeface="Yu Gothic"/>
                <a:ea typeface="Yu Gothic"/>
                <a:cs typeface="Yu Gothic"/>
              </a:rPr>
              <a:t>PHASE 1 ／ 低温・時間をかける</a:t>
            </a:r>
          </a:p>
        </p:txBody>
      </p:sp>
      <p:sp>
        <p:nvSpPr>
          <p:cNvPr id="28" name="TextBox 27"/>
          <p:cNvSpPr txBox="1"/>
          <p:nvPr/>
        </p:nvSpPr>
        <p:spPr>
          <a:xfrm>
            <a:off x="825500" y="5156200"/>
            <a:ext cx="5010150" cy="952500"/>
          </a:xfrm>
          <a:prstGeom prst="rect">
            <a:avLst/>
          </a:prstGeom>
          <a:noFill/>
        </p:spPr>
        <p:txBody>
          <a:bodyPr wrap="square" lIns="0" rIns="0" tIns="0" bIns="0" anchor="ctr">
            <a:noAutofit/>
          </a:bodyPr>
          <a:lstStyle/>
          <a:p>
            <a:pPr algn="l">
              <a:lnSpc>
                <a:spcPct val="145000"/>
              </a:lnSpc>
            </a:pPr>
            <a:r>
              <a:rPr sz="1600" b="1">
                <a:solidFill>
                  <a:srgbClr val="17372A"/>
                </a:solidFill>
                <a:latin typeface="Yu Gothic"/>
                <a:ea typeface="Yu Gothic"/>
                <a:cs typeface="Yu Gothic"/>
              </a:rPr>
              <a:t>・アミノ酸類を先に引き出す</a:t>
            </a:r>
          </a:p>
          <a:p>
            <a:pPr algn="l">
              <a:lnSpc>
                <a:spcPct val="145000"/>
              </a:lnSpc>
            </a:pPr>
            <a:r>
              <a:rPr sz="1600" b="1">
                <a:solidFill>
                  <a:srgbClr val="17372A"/>
                </a:solidFill>
                <a:latin typeface="Yu Gothic"/>
                <a:ea typeface="Yu Gothic"/>
                <a:cs typeface="Yu Gothic"/>
              </a:rPr>
              <a:t>・カテキン類はまだ出にくい</a:t>
            </a:r>
          </a:p>
        </p:txBody>
      </p:sp>
      <p:sp>
        <p:nvSpPr>
          <p:cNvPr id="29" name="Rectangle 28"/>
          <p:cNvSpPr/>
          <p:nvPr/>
        </p:nvSpPr>
        <p:spPr>
          <a:xfrm>
            <a:off x="6191250" y="4597400"/>
            <a:ext cx="5340350" cy="1638300"/>
          </a:xfrm>
          <a:prstGeom prst="rect">
            <a:avLst/>
          </a:prstGeom>
          <a:solidFill>
            <a:srgbClr val="F2D6CC"/>
          </a:solidFill>
          <a:ln w="31750">
            <a:solidFill>
              <a:srgbClr val="B444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56350" y="4749800"/>
            <a:ext cx="5010150" cy="342900"/>
          </a:xfrm>
          <a:prstGeom prst="rect">
            <a:avLst/>
          </a:prstGeom>
          <a:noFill/>
        </p:spPr>
        <p:txBody>
          <a:bodyPr wrap="square" lIns="0" rIns="0" tIns="0" bIns="0" anchor="ctr">
            <a:noAutofit/>
          </a:bodyPr>
          <a:lstStyle/>
          <a:p>
            <a:pPr algn="l">
              <a:lnSpc>
                <a:spcPct val="100000"/>
              </a:lnSpc>
            </a:pPr>
            <a:r>
              <a:rPr sz="1800" b="1" spc="144">
                <a:solidFill>
                  <a:srgbClr val="B4442A"/>
                </a:solidFill>
                <a:latin typeface="Yu Gothic"/>
                <a:ea typeface="Yu Gothic"/>
                <a:cs typeface="Yu Gothic"/>
              </a:rPr>
              <a:t>PHASE 2 ／ 追い湯・高温・短時間</a:t>
            </a:r>
          </a:p>
        </p:txBody>
      </p:sp>
      <p:sp>
        <p:nvSpPr>
          <p:cNvPr id="31" name="TextBox 30"/>
          <p:cNvSpPr txBox="1"/>
          <p:nvPr/>
        </p:nvSpPr>
        <p:spPr>
          <a:xfrm>
            <a:off x="6356350" y="5156200"/>
            <a:ext cx="5010150" cy="952500"/>
          </a:xfrm>
          <a:prstGeom prst="rect">
            <a:avLst/>
          </a:prstGeom>
          <a:noFill/>
        </p:spPr>
        <p:txBody>
          <a:bodyPr wrap="square" lIns="0" rIns="0" tIns="0" bIns="0" anchor="ctr">
            <a:noAutofit/>
          </a:bodyPr>
          <a:lstStyle/>
          <a:p>
            <a:pPr algn="l">
              <a:lnSpc>
                <a:spcPct val="145000"/>
              </a:lnSpc>
            </a:pPr>
            <a:r>
              <a:rPr sz="1600" b="1">
                <a:solidFill>
                  <a:srgbClr val="17372A"/>
                </a:solidFill>
                <a:latin typeface="Yu Gothic"/>
                <a:ea typeface="Yu Gothic"/>
                <a:cs typeface="Yu Gothic"/>
              </a:rPr>
              <a:t>・90℃の湯を加え、急須の中で約84℃に</a:t>
            </a:r>
          </a:p>
          <a:p>
            <a:pPr algn="l">
              <a:lnSpc>
                <a:spcPct val="145000"/>
              </a:lnSpc>
            </a:pPr>
            <a:r>
              <a:rPr sz="1600" b="1">
                <a:solidFill>
                  <a:srgbClr val="17372A"/>
                </a:solidFill>
                <a:latin typeface="Yu Gothic"/>
                <a:ea typeface="Yu Gothic"/>
                <a:cs typeface="Yu Gothic"/>
              </a:rPr>
              <a:t>・爽やかな渋みを後から立ち上げる</a:t>
            </a:r>
          </a:p>
          <a:p>
            <a:pPr algn="l">
              <a:lnSpc>
                <a:spcPct val="145000"/>
              </a:lnSpc>
            </a:pPr>
            <a:r>
              <a:rPr sz="1600" b="1">
                <a:solidFill>
                  <a:srgbClr val="17372A"/>
                </a:solidFill>
                <a:latin typeface="Yu Gothic"/>
                <a:ea typeface="Yu Gothic"/>
                <a:cs typeface="Yu Gothic"/>
              </a:rPr>
              <a:t>・10秒で切り、苦味・重い苦渋味の出過ぎを避ける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3E8"/>
        </a:solidFill>
        <a:effectLst/>
      </p:bgPr>
    </p:bg>
    <p:spTree>
      <p:nvGrpSpPr>
        <p:cNvPr id="1" name=""/>
        <p:cNvGrpSpPr/>
        <p:nvPr/>
      </p:nvGrpSpPr>
      <p:grpSpPr/>
      <p:sp>
        <p:nvSpPr>
          <p:cNvPr id="2" name="Rectangle 1"/>
          <p:cNvSpPr/>
          <p:nvPr/>
        </p:nvSpPr>
        <p:spPr>
          <a:xfrm>
            <a:off x="292100" y="292100"/>
            <a:ext cx="11607800" cy="6184900"/>
          </a:xfrm>
          <a:prstGeom prst="rect">
            <a:avLst/>
          </a:prstGeom>
          <a:noFill/>
          <a:ln w="12700">
            <a:solidFill>
              <a:srgbClr val="CBB5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60400" y="469900"/>
            <a:ext cx="10871200" cy="304800"/>
          </a:xfrm>
          <a:prstGeom prst="rect">
            <a:avLst/>
          </a:prstGeom>
          <a:noFill/>
        </p:spPr>
        <p:txBody>
          <a:bodyPr wrap="square" lIns="0" rIns="0" tIns="0" bIns="0" anchor="ctr">
            <a:noAutofit/>
          </a:bodyPr>
          <a:lstStyle/>
          <a:p>
            <a:pPr algn="l">
              <a:lnSpc>
                <a:spcPct val="100000"/>
              </a:lnSpc>
            </a:pPr>
            <a:r>
              <a:rPr sz="1900" b="1" spc="836">
                <a:solidFill>
                  <a:srgbClr val="9A7430"/>
                </a:solidFill>
                <a:latin typeface="Yu Gothic"/>
                <a:ea typeface="Yu Gothic"/>
                <a:cs typeface="Yu Gothic"/>
              </a:rPr>
              <a:t>THE SENSORY</a:t>
            </a:r>
          </a:p>
        </p:txBody>
      </p:sp>
      <p:sp>
        <p:nvSpPr>
          <p:cNvPr id="4" name="TextBox 3"/>
          <p:cNvSpPr txBox="1"/>
          <p:nvPr/>
        </p:nvSpPr>
        <p:spPr>
          <a:xfrm>
            <a:off x="660400" y="914400"/>
            <a:ext cx="10871200" cy="670560"/>
          </a:xfrm>
          <a:prstGeom prst="rect">
            <a:avLst/>
          </a:prstGeom>
          <a:noFill/>
        </p:spPr>
        <p:txBody>
          <a:bodyPr wrap="square" lIns="0" rIns="0" tIns="0" bIns="0" anchor="ctr">
            <a:noAutofit/>
          </a:bodyPr>
          <a:lstStyle/>
          <a:p>
            <a:pPr algn="l">
              <a:lnSpc>
                <a:spcPct val="120000"/>
              </a:lnSpc>
            </a:pPr>
            <a:r>
              <a:rPr sz="4400" b="1">
                <a:solidFill>
                  <a:srgbClr val="17372A"/>
                </a:solidFill>
                <a:latin typeface="Yu Gothic"/>
                <a:ea typeface="Yu Gothic"/>
                <a:cs typeface="Yu Gothic"/>
              </a:rPr>
              <a:t>一杯の中に、二つの表情</a:t>
            </a:r>
          </a:p>
        </p:txBody>
      </p:sp>
      <p:sp>
        <p:nvSpPr>
          <p:cNvPr id="5" name="Rectangle 4"/>
          <p:cNvSpPr/>
          <p:nvPr/>
        </p:nvSpPr>
        <p:spPr>
          <a:xfrm>
            <a:off x="660400" y="1724660"/>
            <a:ext cx="1270000" cy="25400"/>
          </a:xfrm>
          <a:prstGeom prst="rect">
            <a:avLst/>
          </a:prstGeom>
          <a:solidFill>
            <a:srgbClr val="9A7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930400" y="1724660"/>
            <a:ext cx="9601200" cy="25400"/>
          </a:xfrm>
          <a:prstGeom prst="rect">
            <a:avLst/>
          </a:prstGeom>
          <a:solidFill>
            <a:srgbClr val="8A9A90">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660400" y="1917700"/>
            <a:ext cx="5080000" cy="1270000"/>
          </a:xfrm>
          <a:prstGeom prst="roundRect">
            <a:avLst>
              <a:gd name="adj" fmla="val 6000"/>
            </a:avLst>
          </a:prstGeom>
          <a:solidFill>
            <a:srgbClr val="FFFFFF"/>
          </a:solidFill>
          <a:ln w="31750">
            <a:solidFill>
              <a:srgbClr val="5C8A4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12800" y="1917700"/>
            <a:ext cx="4775200" cy="1270000"/>
          </a:xfrm>
          <a:prstGeom prst="rect">
            <a:avLst/>
          </a:prstGeom>
          <a:noFill/>
        </p:spPr>
        <p:txBody>
          <a:bodyPr wrap="square" lIns="0" rIns="0" tIns="0" bIns="0" anchor="ctr">
            <a:noAutofit/>
          </a:bodyPr>
          <a:lstStyle/>
          <a:p>
            <a:pPr algn="ctr">
              <a:lnSpc>
                <a:spcPct val="145000"/>
              </a:lnSpc>
            </a:pPr>
            <a:r>
              <a:rPr sz="2300" b="1">
                <a:solidFill>
                  <a:srgbClr val="17372A"/>
                </a:solidFill>
                <a:latin typeface="Yu Gothic"/>
                <a:ea typeface="Yu Gothic"/>
                <a:cs typeface="Yu Gothic"/>
              </a:rPr>
              <a:t>若草のような爽やかな香り</a:t>
            </a:r>
          </a:p>
          <a:p>
            <a:pPr algn="ctr">
              <a:lnSpc>
                <a:spcPct val="145000"/>
              </a:lnSpc>
            </a:pPr>
            <a:r>
              <a:rPr sz="2300" b="1">
                <a:solidFill>
                  <a:srgbClr val="17372A"/>
                </a:solidFill>
                <a:latin typeface="Yu Gothic"/>
                <a:ea typeface="Yu Gothic"/>
                <a:cs typeface="Yu Gothic"/>
              </a:rPr>
              <a:t>煎茶らしいキレのある渋み</a:t>
            </a:r>
          </a:p>
        </p:txBody>
      </p:sp>
      <p:sp>
        <p:nvSpPr>
          <p:cNvPr id="9" name="Rounded Rectangle 8"/>
          <p:cNvSpPr/>
          <p:nvPr/>
        </p:nvSpPr>
        <p:spPr>
          <a:xfrm>
            <a:off x="6451600" y="1917700"/>
            <a:ext cx="5080000" cy="1270000"/>
          </a:xfrm>
          <a:prstGeom prst="roundRect">
            <a:avLst>
              <a:gd name="adj" fmla="val 6000"/>
            </a:avLst>
          </a:prstGeom>
          <a:solidFill>
            <a:srgbClr val="FFFFFF"/>
          </a:solidFill>
          <a:ln w="31750">
            <a:solidFill>
              <a:srgbClr val="C189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604000" y="1917700"/>
            <a:ext cx="4775200" cy="1270000"/>
          </a:xfrm>
          <a:prstGeom prst="rect">
            <a:avLst/>
          </a:prstGeom>
          <a:noFill/>
        </p:spPr>
        <p:txBody>
          <a:bodyPr wrap="square" lIns="0" rIns="0" tIns="0" bIns="0" anchor="ctr">
            <a:noAutofit/>
          </a:bodyPr>
          <a:lstStyle/>
          <a:p>
            <a:pPr algn="ctr">
              <a:lnSpc>
                <a:spcPct val="145000"/>
              </a:lnSpc>
            </a:pPr>
            <a:r>
              <a:rPr sz="2300" b="1">
                <a:solidFill>
                  <a:srgbClr val="17372A"/>
                </a:solidFill>
                <a:latin typeface="Yu Gothic"/>
                <a:ea typeface="Yu Gothic"/>
                <a:cs typeface="Yu Gothic"/>
              </a:rPr>
              <a:t>瓜のような</a:t>
            </a:r>
          </a:p>
          <a:p>
            <a:pPr algn="ctr">
              <a:lnSpc>
                <a:spcPct val="145000"/>
              </a:lnSpc>
            </a:pPr>
            <a:r>
              <a:rPr sz="2300" b="1">
                <a:solidFill>
                  <a:srgbClr val="17372A"/>
                </a:solidFill>
                <a:latin typeface="Yu Gothic"/>
                <a:ea typeface="Yu Gothic"/>
                <a:cs typeface="Yu Gothic"/>
              </a:rPr>
              <a:t>瑞々しい甘みと香り</a:t>
            </a:r>
          </a:p>
        </p:txBody>
      </p:sp>
      <p:cxnSp>
        <p:nvCxnSpPr>
          <p:cNvPr id="11" name="Connector 10"/>
          <p:cNvCxnSpPr/>
          <p:nvPr/>
        </p:nvCxnSpPr>
        <p:spPr>
          <a:xfrm>
            <a:off x="3200400" y="3251200"/>
            <a:ext cx="1765300" cy="457200"/>
          </a:xfrm>
          <a:prstGeom prst="line">
            <a:avLst/>
          </a:prstGeom>
          <a:ln w="38100">
            <a:solidFill>
              <a:srgbClr val="8A9A90"/>
            </a:solidFill>
            <a:prstDash val="sysDot"/>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7226300" y="3251200"/>
            <a:ext cx="1765300" cy="457200"/>
          </a:xfrm>
          <a:prstGeom prst="line">
            <a:avLst/>
          </a:prstGeom>
          <a:ln w="38100">
            <a:solidFill>
              <a:srgbClr val="8A9A90"/>
            </a:solidFill>
            <a:prstDash val="sysDot"/>
          </a:ln>
        </p:spPr>
        <p:style>
          <a:lnRef idx="2">
            <a:schemeClr val="accent1"/>
          </a:lnRef>
          <a:fillRef idx="0">
            <a:schemeClr val="accent1"/>
          </a:fillRef>
          <a:effectRef idx="1">
            <a:schemeClr val="accent1"/>
          </a:effectRef>
          <a:fontRef idx="minor">
            <a:schemeClr val="tx1"/>
          </a:fontRef>
        </p:style>
      </p:cxnSp>
      <p:sp>
        <p:nvSpPr>
          <p:cNvPr id="13" name="Pie 12"/>
          <p:cNvSpPr/>
          <p:nvPr/>
        </p:nvSpPr>
        <p:spPr>
          <a:xfrm>
            <a:off x="5143500" y="2825750"/>
            <a:ext cx="1905000" cy="1841500"/>
          </a:xfrm>
          <a:prstGeom prst="pie">
            <a:avLst>
              <a:gd name="adj1" fmla="val 0"/>
              <a:gd name="adj2" fmla="val 10800000"/>
            </a:avLst>
          </a:prstGeom>
          <a:gradFill rotWithShape="1">
            <a:gsLst>
              <a:gs pos="0">
                <a:srgbClr val="5C8A46"/>
              </a:gs>
              <a:gs pos="100000">
                <a:srgbClr val="D9A03A"/>
              </a:gs>
            </a:gsLst>
            <a:lin scaled="0" ang="5400000"/>
          </a:gradFill>
          <a:ln w="31750">
            <a:solidFill>
              <a:srgbClr val="1737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080000" y="3727450"/>
            <a:ext cx="2032000" cy="31750"/>
          </a:xfrm>
          <a:prstGeom prst="rect">
            <a:avLst/>
          </a:prstGeom>
          <a:solidFill>
            <a:srgbClr val="173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575300" y="4641850"/>
            <a:ext cx="50800" cy="152400"/>
          </a:xfrm>
          <a:prstGeom prst="rect">
            <a:avLst/>
          </a:prstGeom>
          <a:solidFill>
            <a:srgbClr val="173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565900" y="4641850"/>
            <a:ext cx="50800" cy="152400"/>
          </a:xfrm>
          <a:prstGeom prst="rect">
            <a:avLst/>
          </a:prstGeom>
          <a:solidFill>
            <a:srgbClr val="173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524500" y="4781550"/>
            <a:ext cx="1143000" cy="38100"/>
          </a:xfrm>
          <a:prstGeom prst="rect">
            <a:avLst/>
          </a:prstGeom>
          <a:solidFill>
            <a:srgbClr val="173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60400" y="5429250"/>
            <a:ext cx="10871200" cy="342900"/>
          </a:xfrm>
          <a:prstGeom prst="rect">
            <a:avLst/>
          </a:prstGeom>
          <a:noFill/>
        </p:spPr>
        <p:txBody>
          <a:bodyPr wrap="square" lIns="0" rIns="0" tIns="0" bIns="0" anchor="ctr">
            <a:noAutofit/>
          </a:bodyPr>
          <a:lstStyle/>
          <a:p>
            <a:pPr algn="ctr">
              <a:lnSpc>
                <a:spcPct val="150000"/>
              </a:lnSpc>
            </a:pPr>
            <a:r>
              <a:rPr sz="1800" b="1">
                <a:solidFill>
                  <a:srgbClr val="4A6154"/>
                </a:solidFill>
                <a:latin typeface="Yu Gothic"/>
                <a:ea typeface="Yu Gothic"/>
                <a:cs typeface="Yu Gothic"/>
              </a:rPr>
              <a:t>茶師に伺った設計は、川根本町の</a:t>
            </a:r>
            <a:r>
              <a:rPr sz="1800" b="1">
                <a:solidFill>
                  <a:srgbClr val="9A7430"/>
                </a:solidFill>
                <a:latin typeface="Yu Gothic"/>
                <a:ea typeface="Yu Gothic"/>
                <a:cs typeface="Yu Gothic"/>
              </a:rPr>
              <a:t>「山の香気」</a:t>
            </a:r>
            <a:r>
              <a:rPr sz="1800" b="1">
                <a:solidFill>
                  <a:srgbClr val="4A6154"/>
                </a:solidFill>
                <a:latin typeface="Yu Gothic"/>
                <a:ea typeface="Yu Gothic"/>
                <a:cs typeface="Yu Gothic"/>
              </a:rPr>
              <a:t>に、鹿児島県産の</a:t>
            </a:r>
            <a:r>
              <a:rPr sz="1800" b="1">
                <a:solidFill>
                  <a:srgbClr val="9A7430"/>
                </a:solidFill>
                <a:latin typeface="Yu Gothic"/>
                <a:ea typeface="Yu Gothic"/>
                <a:cs typeface="Yu Gothic"/>
              </a:rPr>
              <a:t>「穏やかな甘み」</a:t>
            </a:r>
            <a:r>
              <a:rPr sz="1800" b="1">
                <a:solidFill>
                  <a:srgbClr val="4A6154"/>
                </a:solidFill>
                <a:latin typeface="Yu Gothic"/>
                <a:ea typeface="Yu Gothic"/>
                <a:cs typeface="Yu Gothic"/>
              </a:rPr>
              <a:t>を合わせたもの。</a:t>
            </a:r>
          </a:p>
        </p:txBody>
      </p:sp>
      <p:sp>
        <p:nvSpPr>
          <p:cNvPr id="19" name="TextBox 18"/>
          <p:cNvSpPr txBox="1"/>
          <p:nvPr/>
        </p:nvSpPr>
        <p:spPr>
          <a:xfrm>
            <a:off x="660400" y="5822950"/>
            <a:ext cx="10871200" cy="266700"/>
          </a:xfrm>
          <a:prstGeom prst="rect">
            <a:avLst/>
          </a:prstGeom>
          <a:noFill/>
        </p:spPr>
        <p:txBody>
          <a:bodyPr wrap="square" lIns="0" rIns="0" tIns="0" bIns="0" anchor="ctr">
            <a:noAutofit/>
          </a:bodyPr>
          <a:lstStyle/>
          <a:p>
            <a:pPr algn="ctr">
              <a:lnSpc>
                <a:spcPct val="150000"/>
              </a:lnSpc>
            </a:pPr>
            <a:r>
              <a:rPr sz="1400" b="0">
                <a:solidFill>
                  <a:srgbClr val="4A6154"/>
                </a:solidFill>
                <a:latin typeface="Yu Gothic"/>
                <a:ea typeface="Yu Gothic"/>
                <a:cs typeface="Yu Gothic"/>
              </a:rPr>
              <a:t>※ 図の二つは私自身の官能表現です。どちらの香味がどの産地に由来するか、という対応づけではありません。</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3E8"/>
        </a:solidFill>
        <a:effectLst/>
      </p:bgPr>
    </p:bg>
    <p:spTree>
      <p:nvGrpSpPr>
        <p:cNvPr id="1" name=""/>
        <p:cNvGrpSpPr/>
        <p:nvPr/>
      </p:nvGrpSpPr>
      <p:grpSpPr/>
      <p:sp>
        <p:nvSpPr>
          <p:cNvPr id="2" name="Rectangle 1"/>
          <p:cNvSpPr/>
          <p:nvPr/>
        </p:nvSpPr>
        <p:spPr>
          <a:xfrm>
            <a:off x="292100" y="292100"/>
            <a:ext cx="11607800" cy="6184900"/>
          </a:xfrm>
          <a:prstGeom prst="rect">
            <a:avLst/>
          </a:prstGeom>
          <a:noFill/>
          <a:ln w="12700">
            <a:solidFill>
              <a:srgbClr val="CBB5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60400" y="469900"/>
            <a:ext cx="10871200" cy="304800"/>
          </a:xfrm>
          <a:prstGeom prst="rect">
            <a:avLst/>
          </a:prstGeom>
          <a:noFill/>
        </p:spPr>
        <p:txBody>
          <a:bodyPr wrap="square" lIns="0" rIns="0" tIns="0" bIns="0" anchor="ctr">
            <a:noAutofit/>
          </a:bodyPr>
          <a:lstStyle/>
          <a:p>
            <a:pPr algn="l">
              <a:lnSpc>
                <a:spcPct val="100000"/>
              </a:lnSpc>
            </a:pPr>
            <a:r>
              <a:rPr sz="1900" b="1" spc="836">
                <a:solidFill>
                  <a:srgbClr val="9A7430"/>
                </a:solidFill>
                <a:latin typeface="Yu Gothic"/>
                <a:ea typeface="Yu Gothic"/>
                <a:cs typeface="Yu Gothic"/>
              </a:rPr>
              <a:t>THE SECOND BREW</a:t>
            </a:r>
          </a:p>
        </p:txBody>
      </p:sp>
      <p:sp>
        <p:nvSpPr>
          <p:cNvPr id="4" name="TextBox 3"/>
          <p:cNvSpPr txBox="1"/>
          <p:nvPr/>
        </p:nvSpPr>
        <p:spPr>
          <a:xfrm>
            <a:off x="660400" y="914400"/>
            <a:ext cx="10871200" cy="670560"/>
          </a:xfrm>
          <a:prstGeom prst="rect">
            <a:avLst/>
          </a:prstGeom>
          <a:noFill/>
        </p:spPr>
        <p:txBody>
          <a:bodyPr wrap="square" lIns="0" rIns="0" tIns="0" bIns="0" anchor="ctr">
            <a:noAutofit/>
          </a:bodyPr>
          <a:lstStyle/>
          <a:p>
            <a:pPr algn="l">
              <a:lnSpc>
                <a:spcPct val="120000"/>
              </a:lnSpc>
            </a:pPr>
            <a:r>
              <a:rPr sz="4400" b="1">
                <a:solidFill>
                  <a:srgbClr val="17372A"/>
                </a:solidFill>
                <a:latin typeface="Yu Gothic"/>
                <a:ea typeface="Yu Gothic"/>
                <a:cs typeface="Yu Gothic"/>
              </a:rPr>
              <a:t>二煎目</a:t>
            </a:r>
          </a:p>
        </p:txBody>
      </p:sp>
      <p:sp>
        <p:nvSpPr>
          <p:cNvPr id="5" name="Rectangle 4"/>
          <p:cNvSpPr/>
          <p:nvPr/>
        </p:nvSpPr>
        <p:spPr>
          <a:xfrm>
            <a:off x="660400" y="1724660"/>
            <a:ext cx="1270000" cy="25400"/>
          </a:xfrm>
          <a:prstGeom prst="rect">
            <a:avLst/>
          </a:prstGeom>
          <a:solidFill>
            <a:srgbClr val="9A7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930400" y="1724660"/>
            <a:ext cx="9601200" cy="25400"/>
          </a:xfrm>
          <a:prstGeom prst="rect">
            <a:avLst/>
          </a:prstGeom>
          <a:solidFill>
            <a:srgbClr val="8A9A90">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1943100"/>
            <a:ext cx="10871200" cy="457200"/>
          </a:xfrm>
          <a:prstGeom prst="rect">
            <a:avLst/>
          </a:prstGeom>
          <a:noFill/>
        </p:spPr>
        <p:txBody>
          <a:bodyPr wrap="square" lIns="0" rIns="0" tIns="0" bIns="0" anchor="ctr">
            <a:noAutofit/>
          </a:bodyPr>
          <a:lstStyle/>
          <a:p>
            <a:pPr algn="ctr">
              <a:lnSpc>
                <a:spcPct val="120000"/>
              </a:lnSpc>
            </a:pPr>
            <a:r>
              <a:rPr sz="2400" b="1">
                <a:solidFill>
                  <a:srgbClr val="17372A"/>
                </a:solidFill>
                <a:latin typeface="Yu Gothic"/>
                <a:ea typeface="Yu Gothic"/>
                <a:cs typeface="Yu Gothic"/>
              </a:rPr>
              <a:t>茶葉は同じ。条件だけを変える。</a:t>
            </a:r>
          </a:p>
        </p:txBody>
      </p:sp>
      <p:sp>
        <p:nvSpPr>
          <p:cNvPr id="8" name="Rectangle 7"/>
          <p:cNvSpPr/>
          <p:nvPr/>
        </p:nvSpPr>
        <p:spPr>
          <a:xfrm>
            <a:off x="660400" y="2774950"/>
            <a:ext cx="10871200" cy="3321050"/>
          </a:xfrm>
          <a:prstGeom prst="rect">
            <a:avLst/>
          </a:prstGeom>
          <a:solidFill>
            <a:srgbClr val="F2D6CC"/>
          </a:solidFill>
          <a:ln w="38100">
            <a:solidFill>
              <a:srgbClr val="B444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60400" y="3028950"/>
            <a:ext cx="10871200" cy="438150"/>
          </a:xfrm>
          <a:prstGeom prst="rect">
            <a:avLst/>
          </a:prstGeom>
          <a:noFill/>
        </p:spPr>
        <p:txBody>
          <a:bodyPr wrap="square" lIns="0" rIns="0" tIns="0" bIns="0" anchor="ctr">
            <a:noAutofit/>
          </a:bodyPr>
          <a:lstStyle/>
          <a:p>
            <a:pPr algn="ctr">
              <a:lnSpc>
                <a:spcPct val="100000"/>
              </a:lnSpc>
            </a:pPr>
            <a:r>
              <a:rPr sz="2300" b="1" spc="460">
                <a:solidFill>
                  <a:srgbClr val="B4442A"/>
                </a:solidFill>
                <a:latin typeface="Yu Gothic"/>
                <a:ea typeface="Yu Gothic"/>
                <a:cs typeface="Yu Gothic"/>
              </a:rPr>
              <a:t>高温・短時間</a:t>
            </a:r>
          </a:p>
        </p:txBody>
      </p:sp>
      <p:sp>
        <p:nvSpPr>
          <p:cNvPr id="10" name="TextBox 9"/>
          <p:cNvSpPr txBox="1"/>
          <p:nvPr/>
        </p:nvSpPr>
        <p:spPr>
          <a:xfrm>
            <a:off x="660400" y="3657600"/>
            <a:ext cx="10871200" cy="1092200"/>
          </a:xfrm>
          <a:prstGeom prst="rect">
            <a:avLst/>
          </a:prstGeom>
          <a:noFill/>
        </p:spPr>
        <p:txBody>
          <a:bodyPr wrap="none" lIns="0" rIns="0" tIns="0" bIns="0" anchor="ctr">
            <a:noAutofit/>
          </a:bodyPr>
          <a:lstStyle/>
          <a:p>
            <a:pPr algn="ctr">
              <a:lnSpc>
                <a:spcPct val="100000"/>
              </a:lnSpc>
            </a:pPr>
            <a:r>
              <a:rPr sz="8600" b="1">
                <a:solidFill>
                  <a:srgbClr val="17372A"/>
                </a:solidFill>
                <a:latin typeface="Yu Gothic"/>
                <a:ea typeface="Yu Gothic"/>
                <a:cs typeface="Yu Gothic"/>
              </a:rPr>
              <a:t>90</a:t>
            </a:r>
            <a:r>
              <a:rPr sz="3870" b="1">
                <a:solidFill>
                  <a:srgbClr val="17372A"/>
                </a:solidFill>
                <a:latin typeface="Yu Gothic"/>
                <a:ea typeface="Yu Gothic"/>
                <a:cs typeface="Yu Gothic"/>
              </a:rPr>
              <a:t>℃</a:t>
            </a:r>
            <a:r>
              <a:rPr sz="8600" b="1">
                <a:solidFill>
                  <a:srgbClr val="17372A"/>
                </a:solidFill>
                <a:latin typeface="Yu Gothic"/>
                <a:ea typeface="Yu Gothic"/>
                <a:cs typeface="Yu Gothic"/>
              </a:rPr>
              <a:t>　　200</a:t>
            </a:r>
            <a:r>
              <a:rPr sz="3870" b="1">
                <a:solidFill>
                  <a:srgbClr val="17372A"/>
                </a:solidFill>
                <a:latin typeface="Yu Gothic"/>
                <a:ea typeface="Yu Gothic"/>
                <a:cs typeface="Yu Gothic"/>
              </a:rPr>
              <a:t>mL</a:t>
            </a:r>
            <a:r>
              <a:rPr sz="8600" b="1">
                <a:solidFill>
                  <a:srgbClr val="17372A"/>
                </a:solidFill>
                <a:latin typeface="Yu Gothic"/>
                <a:ea typeface="Yu Gothic"/>
                <a:cs typeface="Yu Gothic"/>
              </a:rPr>
              <a:t>　　10</a:t>
            </a:r>
            <a:r>
              <a:rPr sz="3870" b="1">
                <a:solidFill>
                  <a:srgbClr val="17372A"/>
                </a:solidFill>
                <a:latin typeface="Yu Gothic"/>
                <a:ea typeface="Yu Gothic"/>
                <a:cs typeface="Yu Gothic"/>
              </a:rPr>
              <a:t>秒</a:t>
            </a:r>
          </a:p>
        </p:txBody>
      </p:sp>
      <p:sp>
        <p:nvSpPr>
          <p:cNvPr id="11" name="TextBox 10"/>
          <p:cNvSpPr txBox="1"/>
          <p:nvPr/>
        </p:nvSpPr>
        <p:spPr>
          <a:xfrm>
            <a:off x="1295400" y="5003800"/>
            <a:ext cx="9601200" cy="393700"/>
          </a:xfrm>
          <a:prstGeom prst="rect">
            <a:avLst/>
          </a:prstGeom>
          <a:noFill/>
        </p:spPr>
        <p:txBody>
          <a:bodyPr wrap="square" lIns="0" rIns="0" tIns="0" bIns="0" anchor="ctr">
            <a:noAutofit/>
          </a:bodyPr>
          <a:lstStyle/>
          <a:p>
            <a:pPr algn="ctr">
              <a:lnSpc>
                <a:spcPct val="130000"/>
              </a:lnSpc>
            </a:pPr>
            <a:r>
              <a:rPr sz="2200" b="1">
                <a:solidFill>
                  <a:srgbClr val="4A6154"/>
                </a:solidFill>
                <a:latin typeface="Yu Gothic"/>
                <a:ea typeface="Yu Gothic"/>
                <a:cs typeface="Yu Gothic"/>
              </a:rPr>
              <a:t>一煎目で十分に吸水した茶葉は、一煎目よりも成分が溶出しやすい</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3E8"/>
        </a:solidFill>
        <a:effectLst/>
      </p:bgPr>
    </p:bg>
    <p:spTree>
      <p:nvGrpSpPr>
        <p:cNvPr id="1" name=""/>
        <p:cNvGrpSpPr/>
        <p:nvPr/>
      </p:nvGrpSpPr>
      <p:grpSpPr/>
      <p:sp>
        <p:nvSpPr>
          <p:cNvPr id="2" name="Rectangle 1"/>
          <p:cNvSpPr/>
          <p:nvPr/>
        </p:nvSpPr>
        <p:spPr>
          <a:xfrm>
            <a:off x="292100" y="292100"/>
            <a:ext cx="11607800" cy="6184900"/>
          </a:xfrm>
          <a:prstGeom prst="rect">
            <a:avLst/>
          </a:prstGeom>
          <a:noFill/>
          <a:ln w="12700">
            <a:solidFill>
              <a:srgbClr val="CBB5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60400" y="1949450"/>
            <a:ext cx="10871200" cy="304800"/>
          </a:xfrm>
          <a:prstGeom prst="rect">
            <a:avLst/>
          </a:prstGeom>
          <a:noFill/>
        </p:spPr>
        <p:txBody>
          <a:bodyPr wrap="square" lIns="0" rIns="0" tIns="0" bIns="0" anchor="ctr">
            <a:noAutofit/>
          </a:bodyPr>
          <a:lstStyle/>
          <a:p>
            <a:pPr algn="ctr">
              <a:lnSpc>
                <a:spcPct val="100000"/>
              </a:lnSpc>
            </a:pPr>
            <a:r>
              <a:rPr sz="1900" b="1" spc="836">
                <a:solidFill>
                  <a:srgbClr val="9A7430"/>
                </a:solidFill>
                <a:latin typeface="Yu Gothic"/>
                <a:ea typeface="Yu Gothic"/>
                <a:cs typeface="Yu Gothic"/>
              </a:rPr>
              <a:t>THE SECOND BREW</a:t>
            </a:r>
          </a:p>
        </p:txBody>
      </p:sp>
      <p:sp>
        <p:nvSpPr>
          <p:cNvPr id="4" name="TextBox 3"/>
          <p:cNvSpPr txBox="1"/>
          <p:nvPr/>
        </p:nvSpPr>
        <p:spPr>
          <a:xfrm>
            <a:off x="660400" y="2393950"/>
            <a:ext cx="10871200" cy="952500"/>
          </a:xfrm>
          <a:prstGeom prst="rect">
            <a:avLst/>
          </a:prstGeom>
          <a:noFill/>
        </p:spPr>
        <p:txBody>
          <a:bodyPr wrap="square" lIns="0" rIns="0" tIns="0" bIns="0" anchor="ctr">
            <a:noAutofit/>
          </a:bodyPr>
          <a:lstStyle/>
          <a:p>
            <a:pPr algn="ctr">
              <a:lnSpc>
                <a:spcPct val="125000"/>
              </a:lnSpc>
            </a:pPr>
            <a:r>
              <a:rPr sz="6000" b="1">
                <a:solidFill>
                  <a:srgbClr val="17372A"/>
                </a:solidFill>
                <a:latin typeface="Yu Gothic"/>
                <a:ea typeface="Yu Gothic"/>
                <a:cs typeface="Yu Gothic"/>
              </a:rPr>
              <a:t>爽快に、</a:t>
            </a:r>
            <a:r>
              <a:rPr sz="6000" b="1">
                <a:solidFill>
                  <a:srgbClr val="17372A"/>
                </a:solidFill>
                <a:highlight>
                  <a:srgbClr val="D9C79B"/>
                </a:highlight>
                <a:latin typeface="Yu Gothic"/>
                <a:ea typeface="Yu Gothic"/>
                <a:cs typeface="Yu Gothic"/>
              </a:rPr>
              <a:t>さっぱりと。</a:t>
            </a:r>
          </a:p>
        </p:txBody>
      </p:sp>
      <p:sp>
        <p:nvSpPr>
          <p:cNvPr id="5" name="TextBox 4"/>
          <p:cNvSpPr txBox="1"/>
          <p:nvPr/>
        </p:nvSpPr>
        <p:spPr>
          <a:xfrm>
            <a:off x="660400" y="3625850"/>
            <a:ext cx="10871200" cy="1143000"/>
          </a:xfrm>
          <a:prstGeom prst="rect">
            <a:avLst/>
          </a:prstGeom>
          <a:noFill/>
        </p:spPr>
        <p:txBody>
          <a:bodyPr wrap="square" lIns="0" rIns="0" tIns="0" bIns="0" anchor="ctr">
            <a:noAutofit/>
          </a:bodyPr>
          <a:lstStyle/>
          <a:p>
            <a:pPr algn="ctr">
              <a:lnSpc>
                <a:spcPct val="150000"/>
              </a:lnSpc>
            </a:pPr>
            <a:r>
              <a:rPr sz="3000" b="1">
                <a:solidFill>
                  <a:srgbClr val="4A6154"/>
                </a:solidFill>
                <a:latin typeface="Yu Gothic"/>
                <a:ea typeface="Yu Gothic"/>
                <a:cs typeface="Yu Gothic"/>
              </a:rPr>
              <a:t>一煎目で残ったものを、</a:t>
            </a:r>
          </a:p>
          <a:p>
            <a:pPr algn="ctr">
              <a:lnSpc>
                <a:spcPct val="150000"/>
              </a:lnSpc>
            </a:pPr>
            <a:r>
              <a:rPr sz="3000" b="1">
                <a:solidFill>
                  <a:srgbClr val="4A6154"/>
                </a:solidFill>
                <a:latin typeface="Yu Gothic"/>
                <a:ea typeface="Yu Gothic"/>
                <a:cs typeface="Yu Gothic"/>
              </a:rPr>
              <a:t>高温・短時間で引き出す。</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3E8"/>
        </a:solidFill>
        <a:effectLst/>
      </p:bgPr>
    </p:bg>
    <p:spTree>
      <p:nvGrpSpPr>
        <p:cNvPr id="1" name=""/>
        <p:cNvGrpSpPr/>
        <p:nvPr/>
      </p:nvGrpSpPr>
      <p:grpSpPr/>
      <p:sp>
        <p:nvSpPr>
          <p:cNvPr id="2" name="Rectangle 1"/>
          <p:cNvSpPr/>
          <p:nvPr/>
        </p:nvSpPr>
        <p:spPr>
          <a:xfrm>
            <a:off x="292100" y="292100"/>
            <a:ext cx="11607800" cy="6184900"/>
          </a:xfrm>
          <a:prstGeom prst="rect">
            <a:avLst/>
          </a:prstGeom>
          <a:noFill/>
          <a:ln w="12700">
            <a:solidFill>
              <a:srgbClr val="CBB5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60400" y="469900"/>
            <a:ext cx="10871200" cy="304800"/>
          </a:xfrm>
          <a:prstGeom prst="rect">
            <a:avLst/>
          </a:prstGeom>
          <a:noFill/>
        </p:spPr>
        <p:txBody>
          <a:bodyPr wrap="square" lIns="0" rIns="0" tIns="0" bIns="0" anchor="ctr">
            <a:noAutofit/>
          </a:bodyPr>
          <a:lstStyle/>
          <a:p>
            <a:pPr algn="l">
              <a:lnSpc>
                <a:spcPct val="100000"/>
              </a:lnSpc>
            </a:pPr>
            <a:r>
              <a:rPr sz="1900" b="1" spc="836">
                <a:solidFill>
                  <a:srgbClr val="9A7430"/>
                </a:solidFill>
                <a:latin typeface="Yu Gothic"/>
                <a:ea typeface="Yu Gothic"/>
                <a:cs typeface="Yu Gothic"/>
              </a:rPr>
              <a:t>SYNTHESIS</a:t>
            </a:r>
          </a:p>
        </p:txBody>
      </p:sp>
      <p:sp>
        <p:nvSpPr>
          <p:cNvPr id="4" name="TextBox 3"/>
          <p:cNvSpPr txBox="1"/>
          <p:nvPr/>
        </p:nvSpPr>
        <p:spPr>
          <a:xfrm>
            <a:off x="660400" y="914400"/>
            <a:ext cx="10871200" cy="670560"/>
          </a:xfrm>
          <a:prstGeom prst="rect">
            <a:avLst/>
          </a:prstGeom>
          <a:noFill/>
        </p:spPr>
        <p:txBody>
          <a:bodyPr wrap="square" lIns="0" rIns="0" tIns="0" bIns="0" anchor="ctr">
            <a:noAutofit/>
          </a:bodyPr>
          <a:lstStyle/>
          <a:p>
            <a:pPr algn="l">
              <a:lnSpc>
                <a:spcPct val="120000"/>
              </a:lnSpc>
            </a:pPr>
            <a:r>
              <a:rPr sz="4400" b="1">
                <a:solidFill>
                  <a:srgbClr val="17372A"/>
                </a:solidFill>
                <a:latin typeface="Yu Gothic"/>
                <a:ea typeface="Yu Gothic"/>
                <a:cs typeface="Yu Gothic"/>
              </a:rPr>
              <a:t>同じ茶葉、異なる表情</a:t>
            </a:r>
          </a:p>
        </p:txBody>
      </p:sp>
      <p:sp>
        <p:nvSpPr>
          <p:cNvPr id="5" name="Rectangle 4"/>
          <p:cNvSpPr/>
          <p:nvPr/>
        </p:nvSpPr>
        <p:spPr>
          <a:xfrm>
            <a:off x="660400" y="1724660"/>
            <a:ext cx="1270000" cy="25400"/>
          </a:xfrm>
          <a:prstGeom prst="rect">
            <a:avLst/>
          </a:prstGeom>
          <a:solidFill>
            <a:srgbClr val="9A7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930400" y="1724660"/>
            <a:ext cx="9601200" cy="25400"/>
          </a:xfrm>
          <a:prstGeom prst="rect">
            <a:avLst/>
          </a:prstGeom>
          <a:solidFill>
            <a:srgbClr val="8A9A90">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5657850"/>
            <a:ext cx="10871200" cy="590550"/>
          </a:xfrm>
          <a:prstGeom prst="rect">
            <a:avLst/>
          </a:prstGeom>
          <a:noFill/>
        </p:spPr>
        <p:txBody>
          <a:bodyPr wrap="square" lIns="0" rIns="0" tIns="0" bIns="0" anchor="ctr">
            <a:noAutofit/>
          </a:bodyPr>
          <a:lstStyle/>
          <a:p>
            <a:pPr algn="ctr">
              <a:lnSpc>
                <a:spcPct val="145000"/>
              </a:lnSpc>
            </a:pPr>
            <a:r>
              <a:rPr sz="3200" b="1">
                <a:solidFill>
                  <a:srgbClr val="17372A"/>
                </a:solidFill>
                <a:latin typeface="Yu Gothic"/>
                <a:ea typeface="Yu Gothic"/>
                <a:cs typeface="Yu Gothic"/>
              </a:rPr>
              <a:t>どちらが好きかは、</a:t>
            </a:r>
            <a:r>
              <a:rPr sz="3200" b="1">
                <a:solidFill>
                  <a:srgbClr val="17372A"/>
                </a:solidFill>
                <a:highlight>
                  <a:srgbClr val="D9C79B"/>
                </a:highlight>
                <a:latin typeface="Yu Gothic"/>
                <a:ea typeface="Yu Gothic"/>
                <a:cs typeface="Yu Gothic"/>
              </a:rPr>
              <a:t>人によって違っていい。</a:t>
            </a:r>
          </a:p>
        </p:txBody>
      </p:sp>
      <p:sp>
        <p:nvSpPr>
          <p:cNvPr id="8" name="Rectangle 7"/>
          <p:cNvSpPr/>
          <p:nvPr/>
        </p:nvSpPr>
        <p:spPr>
          <a:xfrm>
            <a:off x="660400" y="2133600"/>
            <a:ext cx="10871200" cy="25400"/>
          </a:xfrm>
          <a:prstGeom prst="rect">
            <a:avLst/>
          </a:prstGeom>
          <a:solidFill>
            <a:srgbClr val="173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2438400" y="2159000"/>
            <a:ext cx="9093200" cy="571500"/>
          </a:xfrm>
          <a:prstGeom prst="rect">
            <a:avLst/>
          </a:prstGeom>
          <a:solidFill>
            <a:srgbClr val="9A7430">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2438400" y="2159000"/>
            <a:ext cx="4546600" cy="571500"/>
          </a:xfrm>
          <a:prstGeom prst="rect">
            <a:avLst/>
          </a:prstGeom>
          <a:noFill/>
        </p:spPr>
        <p:txBody>
          <a:bodyPr wrap="square" lIns="0" rIns="0" tIns="0" bIns="0" anchor="ctr">
            <a:noAutofit/>
          </a:bodyPr>
          <a:lstStyle/>
          <a:p>
            <a:pPr algn="ctr">
              <a:lnSpc>
                <a:spcPct val="100000"/>
              </a:lnSpc>
            </a:pPr>
            <a:r>
              <a:rPr sz="2700" b="1">
                <a:solidFill>
                  <a:srgbClr val="17372A"/>
                </a:solidFill>
                <a:latin typeface="Yu Gothic"/>
                <a:ea typeface="Yu Gothic"/>
                <a:cs typeface="Yu Gothic"/>
              </a:rPr>
              <a:t>一煎目</a:t>
            </a:r>
          </a:p>
        </p:txBody>
      </p:sp>
      <p:sp>
        <p:nvSpPr>
          <p:cNvPr id="11" name="TextBox 10"/>
          <p:cNvSpPr txBox="1"/>
          <p:nvPr/>
        </p:nvSpPr>
        <p:spPr>
          <a:xfrm>
            <a:off x="6985000" y="2159000"/>
            <a:ext cx="4546600" cy="571500"/>
          </a:xfrm>
          <a:prstGeom prst="rect">
            <a:avLst/>
          </a:prstGeom>
          <a:noFill/>
        </p:spPr>
        <p:txBody>
          <a:bodyPr wrap="square" lIns="0" rIns="0" tIns="0" bIns="0" anchor="ctr">
            <a:noAutofit/>
          </a:bodyPr>
          <a:lstStyle/>
          <a:p>
            <a:pPr algn="ctr">
              <a:lnSpc>
                <a:spcPct val="100000"/>
              </a:lnSpc>
            </a:pPr>
            <a:r>
              <a:rPr sz="2700" b="1">
                <a:solidFill>
                  <a:srgbClr val="17372A"/>
                </a:solidFill>
                <a:latin typeface="Yu Gothic"/>
                <a:ea typeface="Yu Gothic"/>
                <a:cs typeface="Yu Gothic"/>
              </a:rPr>
              <a:t>二煎目</a:t>
            </a:r>
          </a:p>
        </p:txBody>
      </p:sp>
      <p:sp>
        <p:nvSpPr>
          <p:cNvPr id="12" name="TextBox 11"/>
          <p:cNvSpPr txBox="1"/>
          <p:nvPr/>
        </p:nvSpPr>
        <p:spPr>
          <a:xfrm>
            <a:off x="812800" y="2730500"/>
            <a:ext cx="1473200" cy="952500"/>
          </a:xfrm>
          <a:prstGeom prst="rect">
            <a:avLst/>
          </a:prstGeom>
          <a:noFill/>
        </p:spPr>
        <p:txBody>
          <a:bodyPr wrap="square" lIns="0" rIns="0" tIns="0" bIns="0" anchor="ctr">
            <a:noAutofit/>
          </a:bodyPr>
          <a:lstStyle/>
          <a:p>
            <a:pPr algn="l">
              <a:lnSpc>
                <a:spcPct val="130000"/>
              </a:lnSpc>
            </a:pPr>
            <a:r>
              <a:rPr sz="2000" b="1">
                <a:solidFill>
                  <a:srgbClr val="4A6154"/>
                </a:solidFill>
                <a:latin typeface="Yu Gothic"/>
                <a:ea typeface="Yu Gothic"/>
                <a:cs typeface="Yu Gothic"/>
              </a:rPr>
              <a:t>条件</a:t>
            </a:r>
          </a:p>
        </p:txBody>
      </p:sp>
      <p:sp>
        <p:nvSpPr>
          <p:cNvPr id="13" name="TextBox 12"/>
          <p:cNvSpPr txBox="1"/>
          <p:nvPr/>
        </p:nvSpPr>
        <p:spPr>
          <a:xfrm>
            <a:off x="2438400" y="2730500"/>
            <a:ext cx="4546600" cy="952500"/>
          </a:xfrm>
          <a:prstGeom prst="rect">
            <a:avLst/>
          </a:prstGeom>
          <a:noFill/>
        </p:spPr>
        <p:txBody>
          <a:bodyPr wrap="square" lIns="0" rIns="0" tIns="0" bIns="0" anchor="ctr">
            <a:noAutofit/>
          </a:bodyPr>
          <a:lstStyle/>
          <a:p>
            <a:pPr algn="ctr">
              <a:lnSpc>
                <a:spcPct val="130000"/>
              </a:lnSpc>
            </a:pPr>
            <a:r>
              <a:rPr sz="2300" b="1">
                <a:solidFill>
                  <a:srgbClr val="17372A"/>
                </a:solidFill>
                <a:latin typeface="Yu Gothic"/>
                <a:ea typeface="Yu Gothic"/>
                <a:cs typeface="Yu Gothic"/>
              </a:rPr>
              <a:t>50℃</a:t>
            </a:r>
            <a:r>
              <a:rPr sz="2300" b="1">
                <a:solidFill>
                  <a:srgbClr val="17372A"/>
                </a:solidFill>
                <a:latin typeface="Yu Gothic"/>
                <a:ea typeface="Yu Gothic"/>
                <a:cs typeface="Yu Gothic"/>
              </a:rPr>
              <a:t> 30mL 60秒</a:t>
            </a:r>
          </a:p>
          <a:p>
            <a:pPr algn="ctr">
              <a:lnSpc>
                <a:spcPct val="130000"/>
              </a:lnSpc>
            </a:pPr>
            <a:r>
              <a:rPr sz="2300" b="1">
                <a:solidFill>
                  <a:srgbClr val="17372A"/>
                </a:solidFill>
                <a:latin typeface="Yu Gothic"/>
                <a:ea typeface="Yu Gothic"/>
                <a:cs typeface="Yu Gothic"/>
              </a:rPr>
              <a:t>→ </a:t>
            </a:r>
            <a:r>
              <a:rPr sz="2300" b="1">
                <a:solidFill>
                  <a:srgbClr val="17372A"/>
                </a:solidFill>
                <a:latin typeface="Yu Gothic"/>
                <a:ea typeface="Yu Gothic"/>
                <a:cs typeface="Yu Gothic"/>
              </a:rPr>
              <a:t>90℃</a:t>
            </a:r>
            <a:r>
              <a:rPr sz="2300" b="1">
                <a:solidFill>
                  <a:srgbClr val="17372A"/>
                </a:solidFill>
                <a:latin typeface="Yu Gothic"/>
                <a:ea typeface="Yu Gothic"/>
                <a:cs typeface="Yu Gothic"/>
              </a:rPr>
              <a:t> 170mL 10秒</a:t>
            </a:r>
          </a:p>
        </p:txBody>
      </p:sp>
      <p:sp>
        <p:nvSpPr>
          <p:cNvPr id="14" name="TextBox 13"/>
          <p:cNvSpPr txBox="1"/>
          <p:nvPr/>
        </p:nvSpPr>
        <p:spPr>
          <a:xfrm>
            <a:off x="6985000" y="2730500"/>
            <a:ext cx="4546600" cy="952500"/>
          </a:xfrm>
          <a:prstGeom prst="rect">
            <a:avLst/>
          </a:prstGeom>
          <a:noFill/>
        </p:spPr>
        <p:txBody>
          <a:bodyPr wrap="square" lIns="0" rIns="0" tIns="0" bIns="0" anchor="ctr">
            <a:noAutofit/>
          </a:bodyPr>
          <a:lstStyle/>
          <a:p>
            <a:pPr algn="ctr">
              <a:lnSpc>
                <a:spcPct val="130000"/>
              </a:lnSpc>
            </a:pPr>
            <a:r>
              <a:rPr sz="2300" b="1">
                <a:solidFill>
                  <a:srgbClr val="17372A"/>
                </a:solidFill>
                <a:latin typeface="Yu Gothic"/>
                <a:ea typeface="Yu Gothic"/>
                <a:cs typeface="Yu Gothic"/>
              </a:rPr>
              <a:t>90℃</a:t>
            </a:r>
            <a:r>
              <a:rPr sz="2300" b="1">
                <a:solidFill>
                  <a:srgbClr val="17372A"/>
                </a:solidFill>
                <a:latin typeface="Yu Gothic"/>
                <a:ea typeface="Yu Gothic"/>
                <a:cs typeface="Yu Gothic"/>
              </a:rPr>
              <a:t> 200mL 10秒</a:t>
            </a:r>
          </a:p>
        </p:txBody>
      </p:sp>
      <p:sp>
        <p:nvSpPr>
          <p:cNvPr id="15" name="Rectangle 14"/>
          <p:cNvSpPr/>
          <p:nvPr/>
        </p:nvSpPr>
        <p:spPr>
          <a:xfrm>
            <a:off x="660400" y="3683000"/>
            <a:ext cx="10871200" cy="19050"/>
          </a:xfrm>
          <a:prstGeom prst="rect">
            <a:avLst/>
          </a:prstGeom>
          <a:solidFill>
            <a:srgbClr val="8A9A9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12800" y="3683000"/>
            <a:ext cx="1473200" cy="762000"/>
          </a:xfrm>
          <a:prstGeom prst="rect">
            <a:avLst/>
          </a:prstGeom>
          <a:noFill/>
        </p:spPr>
        <p:txBody>
          <a:bodyPr wrap="square" lIns="0" rIns="0" tIns="0" bIns="0" anchor="ctr">
            <a:noAutofit/>
          </a:bodyPr>
          <a:lstStyle/>
          <a:p>
            <a:pPr algn="l">
              <a:lnSpc>
                <a:spcPct val="130000"/>
              </a:lnSpc>
            </a:pPr>
            <a:r>
              <a:rPr sz="2000" b="1">
                <a:solidFill>
                  <a:srgbClr val="4A6154"/>
                </a:solidFill>
                <a:latin typeface="Yu Gothic"/>
                <a:ea typeface="Yu Gothic"/>
                <a:cs typeface="Yu Gothic"/>
              </a:rPr>
              <a:t>狙い</a:t>
            </a:r>
          </a:p>
        </p:txBody>
      </p:sp>
      <p:sp>
        <p:nvSpPr>
          <p:cNvPr id="17" name="TextBox 16"/>
          <p:cNvSpPr txBox="1"/>
          <p:nvPr/>
        </p:nvSpPr>
        <p:spPr>
          <a:xfrm>
            <a:off x="2438400" y="3683000"/>
            <a:ext cx="4546600" cy="762000"/>
          </a:xfrm>
          <a:prstGeom prst="rect">
            <a:avLst/>
          </a:prstGeom>
          <a:noFill/>
        </p:spPr>
        <p:txBody>
          <a:bodyPr wrap="square" lIns="0" rIns="0" tIns="0" bIns="0" anchor="ctr">
            <a:noAutofit/>
          </a:bodyPr>
          <a:lstStyle/>
          <a:p>
            <a:pPr algn="ctr">
              <a:lnSpc>
                <a:spcPct val="130000"/>
              </a:lnSpc>
            </a:pPr>
            <a:r>
              <a:rPr sz="2300" b="1">
                <a:solidFill>
                  <a:srgbClr val="17372A"/>
                </a:solidFill>
                <a:latin typeface="Yu Gothic"/>
                <a:ea typeface="Yu Gothic"/>
                <a:cs typeface="Yu Gothic"/>
              </a:rPr>
              <a:t>低温で時間を取り、</a:t>
            </a:r>
          </a:p>
          <a:p>
            <a:pPr algn="ctr">
              <a:lnSpc>
                <a:spcPct val="130000"/>
              </a:lnSpc>
            </a:pPr>
            <a:r>
              <a:rPr sz="2300" b="1">
                <a:solidFill>
                  <a:srgbClr val="17372A"/>
                </a:solidFill>
                <a:latin typeface="Yu Gothic"/>
                <a:ea typeface="Yu Gothic"/>
                <a:cs typeface="Yu Gothic"/>
              </a:rPr>
              <a:t>あとから温度を上げる</a:t>
            </a:r>
          </a:p>
        </p:txBody>
      </p:sp>
      <p:sp>
        <p:nvSpPr>
          <p:cNvPr id="18" name="TextBox 17"/>
          <p:cNvSpPr txBox="1"/>
          <p:nvPr/>
        </p:nvSpPr>
        <p:spPr>
          <a:xfrm>
            <a:off x="6985000" y="3683000"/>
            <a:ext cx="4546600" cy="762000"/>
          </a:xfrm>
          <a:prstGeom prst="rect">
            <a:avLst/>
          </a:prstGeom>
          <a:noFill/>
        </p:spPr>
        <p:txBody>
          <a:bodyPr wrap="square" lIns="0" rIns="0" tIns="0" bIns="0" anchor="ctr">
            <a:noAutofit/>
          </a:bodyPr>
          <a:lstStyle/>
          <a:p>
            <a:pPr algn="ctr">
              <a:lnSpc>
                <a:spcPct val="130000"/>
              </a:lnSpc>
            </a:pPr>
            <a:r>
              <a:rPr sz="2300" b="1">
                <a:solidFill>
                  <a:srgbClr val="17372A"/>
                </a:solidFill>
                <a:latin typeface="Yu Gothic"/>
                <a:ea typeface="Yu Gothic"/>
                <a:cs typeface="Yu Gothic"/>
              </a:rPr>
              <a:t>吸水済みの茶葉に</a:t>
            </a:r>
          </a:p>
          <a:p>
            <a:pPr algn="ctr">
              <a:lnSpc>
                <a:spcPct val="130000"/>
              </a:lnSpc>
            </a:pPr>
            <a:r>
              <a:rPr sz="2300" b="1">
                <a:solidFill>
                  <a:srgbClr val="17372A"/>
                </a:solidFill>
                <a:latin typeface="Yu Gothic"/>
                <a:ea typeface="Yu Gothic"/>
                <a:cs typeface="Yu Gothic"/>
              </a:rPr>
              <a:t>高温を短く当てる</a:t>
            </a:r>
          </a:p>
        </p:txBody>
      </p:sp>
      <p:sp>
        <p:nvSpPr>
          <p:cNvPr id="19" name="Rectangle 18"/>
          <p:cNvSpPr/>
          <p:nvPr/>
        </p:nvSpPr>
        <p:spPr>
          <a:xfrm>
            <a:off x="660400" y="4445000"/>
            <a:ext cx="10871200" cy="19050"/>
          </a:xfrm>
          <a:prstGeom prst="rect">
            <a:avLst/>
          </a:prstGeom>
          <a:solidFill>
            <a:srgbClr val="8A9A9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12800" y="4445000"/>
            <a:ext cx="1473200" cy="825500"/>
          </a:xfrm>
          <a:prstGeom prst="rect">
            <a:avLst/>
          </a:prstGeom>
          <a:noFill/>
        </p:spPr>
        <p:txBody>
          <a:bodyPr wrap="square" lIns="0" rIns="0" tIns="0" bIns="0" anchor="ctr">
            <a:noAutofit/>
          </a:bodyPr>
          <a:lstStyle/>
          <a:p>
            <a:pPr algn="l">
              <a:lnSpc>
                <a:spcPct val="130000"/>
              </a:lnSpc>
            </a:pPr>
            <a:r>
              <a:rPr sz="2000" b="1">
                <a:solidFill>
                  <a:srgbClr val="4A6154"/>
                </a:solidFill>
                <a:latin typeface="Yu Gothic"/>
                <a:ea typeface="Yu Gothic"/>
                <a:cs typeface="Yu Gothic"/>
              </a:rPr>
              <a:t>味わい</a:t>
            </a:r>
          </a:p>
        </p:txBody>
      </p:sp>
      <p:sp>
        <p:nvSpPr>
          <p:cNvPr id="21" name="TextBox 20"/>
          <p:cNvSpPr txBox="1"/>
          <p:nvPr/>
        </p:nvSpPr>
        <p:spPr>
          <a:xfrm>
            <a:off x="2438400" y="4445000"/>
            <a:ext cx="4546600" cy="825500"/>
          </a:xfrm>
          <a:prstGeom prst="rect">
            <a:avLst/>
          </a:prstGeom>
          <a:noFill/>
        </p:spPr>
        <p:txBody>
          <a:bodyPr wrap="square" lIns="0" rIns="0" tIns="0" bIns="0" anchor="ctr">
            <a:noAutofit/>
          </a:bodyPr>
          <a:lstStyle/>
          <a:p>
            <a:pPr algn="ctr">
              <a:lnSpc>
                <a:spcPct val="130000"/>
              </a:lnSpc>
            </a:pPr>
            <a:r>
              <a:rPr sz="2300" b="1">
                <a:solidFill>
                  <a:srgbClr val="17372A"/>
                </a:solidFill>
                <a:latin typeface="Yu Gothic"/>
                <a:ea typeface="Yu Gothic"/>
                <a:cs typeface="Yu Gothic"/>
              </a:rPr>
              <a:t>複層的</a:t>
            </a:r>
          </a:p>
          <a:p>
            <a:pPr algn="ctr">
              <a:lnSpc>
                <a:spcPct val="130000"/>
              </a:lnSpc>
            </a:pPr>
            <a:r>
              <a:rPr sz="1900" b="1">
                <a:solidFill>
                  <a:srgbClr val="4A6154"/>
                </a:solidFill>
                <a:latin typeface="Yu Gothic"/>
                <a:ea typeface="Yu Gothic"/>
                <a:cs typeface="Yu Gothic"/>
              </a:rPr>
              <a:t>爽やかな香りと渋み＋瑞々しい甘み</a:t>
            </a:r>
          </a:p>
        </p:txBody>
      </p:sp>
      <p:sp>
        <p:nvSpPr>
          <p:cNvPr id="22" name="TextBox 21"/>
          <p:cNvSpPr txBox="1"/>
          <p:nvPr/>
        </p:nvSpPr>
        <p:spPr>
          <a:xfrm>
            <a:off x="6985000" y="4445000"/>
            <a:ext cx="4546600" cy="825500"/>
          </a:xfrm>
          <a:prstGeom prst="rect">
            <a:avLst/>
          </a:prstGeom>
          <a:noFill/>
        </p:spPr>
        <p:txBody>
          <a:bodyPr wrap="square" lIns="0" rIns="0" tIns="0" bIns="0" anchor="ctr">
            <a:noAutofit/>
          </a:bodyPr>
          <a:lstStyle/>
          <a:p>
            <a:pPr algn="ctr">
              <a:lnSpc>
                <a:spcPct val="130000"/>
              </a:lnSpc>
            </a:pPr>
            <a:r>
              <a:rPr sz="2300" b="1">
                <a:solidFill>
                  <a:srgbClr val="17372A"/>
                </a:solidFill>
                <a:latin typeface="Yu Gothic"/>
                <a:ea typeface="Yu Gothic"/>
                <a:cs typeface="Yu Gothic"/>
              </a:rPr>
              <a:t>爽快・さっぱり</a:t>
            </a:r>
          </a:p>
          <a:p>
            <a:pPr algn="ctr">
              <a:lnSpc>
                <a:spcPct val="130000"/>
              </a:lnSpc>
            </a:pPr>
            <a:r>
              <a:rPr sz="1900" b="1">
                <a:solidFill>
                  <a:srgbClr val="4A6154"/>
                </a:solidFill>
                <a:latin typeface="Yu Gothic"/>
                <a:ea typeface="Yu Gothic"/>
                <a:cs typeface="Yu Gothic"/>
              </a:rPr>
              <a:t>そのお茶らしいキレ</a:t>
            </a:r>
          </a:p>
        </p:txBody>
      </p:sp>
      <p:sp>
        <p:nvSpPr>
          <p:cNvPr id="23" name="Rectangle 22"/>
          <p:cNvSpPr/>
          <p:nvPr/>
        </p:nvSpPr>
        <p:spPr>
          <a:xfrm>
            <a:off x="660400" y="5270500"/>
            <a:ext cx="10871200" cy="19050"/>
          </a:xfrm>
          <a:prstGeom prst="rect">
            <a:avLst/>
          </a:prstGeom>
          <a:solidFill>
            <a:srgbClr val="8A9A9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3E8"/>
        </a:solidFill>
        <a:effectLst/>
      </p:bgPr>
    </p:bg>
    <p:spTree>
      <p:nvGrpSpPr>
        <p:cNvPr id="1" name=""/>
        <p:cNvGrpSpPr/>
        <p:nvPr/>
      </p:nvGrpSpPr>
      <p:grpSpPr/>
      <p:sp>
        <p:nvSpPr>
          <p:cNvPr id="2" name="Rectangle 1"/>
          <p:cNvSpPr/>
          <p:nvPr/>
        </p:nvSpPr>
        <p:spPr>
          <a:xfrm>
            <a:off x="292100" y="292100"/>
            <a:ext cx="11607800" cy="6184900"/>
          </a:xfrm>
          <a:prstGeom prst="rect">
            <a:avLst/>
          </a:prstGeom>
          <a:noFill/>
          <a:ln w="12700">
            <a:solidFill>
              <a:srgbClr val="CBB5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60400" y="469900"/>
            <a:ext cx="10871200" cy="1341120"/>
          </a:xfrm>
          <a:prstGeom prst="rect">
            <a:avLst/>
          </a:prstGeom>
          <a:noFill/>
        </p:spPr>
        <p:txBody>
          <a:bodyPr wrap="square" lIns="0" rIns="0" tIns="0" bIns="0" anchor="ctr">
            <a:noAutofit/>
          </a:bodyPr>
          <a:lstStyle/>
          <a:p>
            <a:pPr algn="ctr">
              <a:lnSpc>
                <a:spcPct val="120000"/>
              </a:lnSpc>
            </a:pPr>
            <a:r>
              <a:rPr sz="4400" b="1">
                <a:solidFill>
                  <a:srgbClr val="17372A"/>
                </a:solidFill>
                <a:latin typeface="Yu Gothic"/>
                <a:ea typeface="Yu Gothic"/>
                <a:cs typeface="Yu Gothic"/>
              </a:rPr>
              <a:t>これは「正解の淹れ方」ではなく、</a:t>
            </a:r>
          </a:p>
          <a:p>
            <a:pPr algn="ctr">
              <a:lnSpc>
                <a:spcPct val="120000"/>
              </a:lnSpc>
            </a:pPr>
            <a:r>
              <a:rPr sz="4400" b="1">
                <a:solidFill>
                  <a:srgbClr val="17372A"/>
                </a:solidFill>
                <a:highlight>
                  <a:srgbClr val="D9C79B"/>
                </a:highlight>
                <a:latin typeface="Yu Gothic"/>
                <a:ea typeface="Yu Gothic"/>
                <a:cs typeface="Yu Gothic"/>
              </a:rPr>
              <a:t>一つの仮説</a:t>
            </a:r>
            <a:r>
              <a:rPr sz="4400" b="1">
                <a:solidFill>
                  <a:srgbClr val="17372A"/>
                </a:solidFill>
                <a:latin typeface="Yu Gothic"/>
                <a:ea typeface="Yu Gothic"/>
                <a:cs typeface="Yu Gothic"/>
              </a:rPr>
              <a:t>です。</a:t>
            </a:r>
          </a:p>
        </p:txBody>
      </p:sp>
      <p:sp>
        <p:nvSpPr>
          <p:cNvPr id="4" name="Rectangle 3"/>
          <p:cNvSpPr/>
          <p:nvPr/>
        </p:nvSpPr>
        <p:spPr>
          <a:xfrm>
            <a:off x="660400" y="1950720"/>
            <a:ext cx="1270000" cy="25400"/>
          </a:xfrm>
          <a:prstGeom prst="rect">
            <a:avLst/>
          </a:prstGeom>
          <a:solidFill>
            <a:srgbClr val="9A7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930400" y="1950720"/>
            <a:ext cx="9601200" cy="25400"/>
          </a:xfrm>
          <a:prstGeom prst="rect">
            <a:avLst/>
          </a:prstGeom>
          <a:solidFill>
            <a:srgbClr val="8A9A90">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676400" y="2635250"/>
            <a:ext cx="1562100" cy="1562100"/>
          </a:xfrm>
          <a:prstGeom prst="ellipse">
            <a:avLst/>
          </a:prstGeom>
          <a:solidFill>
            <a:srgbClr val="173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676400" y="2984500"/>
            <a:ext cx="1562100" cy="596900"/>
          </a:xfrm>
          <a:prstGeom prst="rect">
            <a:avLst/>
          </a:prstGeom>
          <a:noFill/>
        </p:spPr>
        <p:txBody>
          <a:bodyPr wrap="square" lIns="0" rIns="0" tIns="0" bIns="0" anchor="ctr">
            <a:noAutofit/>
          </a:bodyPr>
          <a:lstStyle/>
          <a:p>
            <a:pPr algn="ctr">
              <a:lnSpc>
                <a:spcPct val="100000"/>
              </a:lnSpc>
            </a:pPr>
            <a:r>
              <a:rPr sz="3100" b="1">
                <a:solidFill>
                  <a:srgbClr val="F7F3E8"/>
                </a:solidFill>
                <a:latin typeface="Yu Gothic"/>
                <a:ea typeface="Yu Gothic"/>
                <a:cs typeface="Yu Gothic"/>
              </a:rPr>
              <a:t>知る</a:t>
            </a:r>
          </a:p>
        </p:txBody>
      </p:sp>
      <p:sp>
        <p:nvSpPr>
          <p:cNvPr id="8" name="TextBox 7"/>
          <p:cNvSpPr txBox="1"/>
          <p:nvPr/>
        </p:nvSpPr>
        <p:spPr>
          <a:xfrm>
            <a:off x="1676400" y="3632200"/>
            <a:ext cx="1562100" cy="285750"/>
          </a:xfrm>
          <a:prstGeom prst="rect">
            <a:avLst/>
          </a:prstGeom>
          <a:noFill/>
        </p:spPr>
        <p:txBody>
          <a:bodyPr wrap="square" lIns="0" rIns="0" tIns="0" bIns="0" anchor="ctr">
            <a:noAutofit/>
          </a:bodyPr>
          <a:lstStyle/>
          <a:p>
            <a:pPr algn="ctr">
              <a:lnSpc>
                <a:spcPct val="100000"/>
              </a:lnSpc>
            </a:pPr>
            <a:r>
              <a:rPr sz="1500" b="1" spc="300">
                <a:solidFill>
                  <a:srgbClr val="F7F3E8"/>
                </a:solidFill>
                <a:latin typeface="Yu Gothic"/>
                <a:ea typeface="Yu Gothic"/>
                <a:cs typeface="Yu Gothic"/>
              </a:rPr>
              <a:t>LEARN</a:t>
            </a:r>
          </a:p>
        </p:txBody>
      </p:sp>
      <p:sp>
        <p:nvSpPr>
          <p:cNvPr id="9" name="TextBox 8"/>
          <p:cNvSpPr txBox="1"/>
          <p:nvPr/>
        </p:nvSpPr>
        <p:spPr>
          <a:xfrm>
            <a:off x="3238500" y="3111500"/>
            <a:ext cx="863600" cy="609600"/>
          </a:xfrm>
          <a:prstGeom prst="rect">
            <a:avLst/>
          </a:prstGeom>
          <a:noFill/>
        </p:spPr>
        <p:txBody>
          <a:bodyPr wrap="square" lIns="0" rIns="0" tIns="0" bIns="0" anchor="ctr">
            <a:noAutofit/>
          </a:bodyPr>
          <a:lstStyle/>
          <a:p>
            <a:pPr algn="ctr">
              <a:lnSpc>
                <a:spcPct val="100000"/>
              </a:lnSpc>
            </a:pPr>
            <a:r>
              <a:rPr sz="4800" b="0">
                <a:solidFill>
                  <a:srgbClr val="9A7430"/>
                </a:solidFill>
                <a:latin typeface="Yu Gothic"/>
                <a:ea typeface="Yu Gothic"/>
                <a:cs typeface="Yu Gothic"/>
              </a:rPr>
              <a:t>→</a:t>
            </a:r>
          </a:p>
        </p:txBody>
      </p:sp>
      <p:sp>
        <p:nvSpPr>
          <p:cNvPr id="10" name="Oval 9"/>
          <p:cNvSpPr/>
          <p:nvPr/>
        </p:nvSpPr>
        <p:spPr>
          <a:xfrm>
            <a:off x="4102100" y="2635250"/>
            <a:ext cx="1562100" cy="1562100"/>
          </a:xfrm>
          <a:prstGeom prst="ellipse">
            <a:avLst/>
          </a:prstGeom>
          <a:solidFill>
            <a:srgbClr val="173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102100" y="2984500"/>
            <a:ext cx="1562100" cy="596900"/>
          </a:xfrm>
          <a:prstGeom prst="rect">
            <a:avLst/>
          </a:prstGeom>
          <a:noFill/>
        </p:spPr>
        <p:txBody>
          <a:bodyPr wrap="square" lIns="0" rIns="0" tIns="0" bIns="0" anchor="ctr">
            <a:noAutofit/>
          </a:bodyPr>
          <a:lstStyle/>
          <a:p>
            <a:pPr algn="ctr">
              <a:lnSpc>
                <a:spcPct val="100000"/>
              </a:lnSpc>
            </a:pPr>
            <a:r>
              <a:rPr sz="3100" b="1">
                <a:solidFill>
                  <a:srgbClr val="F7F3E8"/>
                </a:solidFill>
                <a:latin typeface="Yu Gothic"/>
                <a:ea typeface="Yu Gothic"/>
                <a:cs typeface="Yu Gothic"/>
              </a:rPr>
              <a:t>試す</a:t>
            </a:r>
          </a:p>
        </p:txBody>
      </p:sp>
      <p:sp>
        <p:nvSpPr>
          <p:cNvPr id="12" name="TextBox 11"/>
          <p:cNvSpPr txBox="1"/>
          <p:nvPr/>
        </p:nvSpPr>
        <p:spPr>
          <a:xfrm>
            <a:off x="4102100" y="3632200"/>
            <a:ext cx="1562100" cy="285750"/>
          </a:xfrm>
          <a:prstGeom prst="rect">
            <a:avLst/>
          </a:prstGeom>
          <a:noFill/>
        </p:spPr>
        <p:txBody>
          <a:bodyPr wrap="square" lIns="0" rIns="0" tIns="0" bIns="0" anchor="ctr">
            <a:noAutofit/>
          </a:bodyPr>
          <a:lstStyle/>
          <a:p>
            <a:pPr algn="ctr">
              <a:lnSpc>
                <a:spcPct val="100000"/>
              </a:lnSpc>
            </a:pPr>
            <a:r>
              <a:rPr sz="1500" b="1" spc="300">
                <a:solidFill>
                  <a:srgbClr val="F7F3E8"/>
                </a:solidFill>
                <a:latin typeface="Yu Gothic"/>
                <a:ea typeface="Yu Gothic"/>
                <a:cs typeface="Yu Gothic"/>
              </a:rPr>
              <a:t>TRY</a:t>
            </a:r>
          </a:p>
        </p:txBody>
      </p:sp>
      <p:sp>
        <p:nvSpPr>
          <p:cNvPr id="13" name="TextBox 12"/>
          <p:cNvSpPr txBox="1"/>
          <p:nvPr/>
        </p:nvSpPr>
        <p:spPr>
          <a:xfrm>
            <a:off x="5664200" y="3111500"/>
            <a:ext cx="863600" cy="609600"/>
          </a:xfrm>
          <a:prstGeom prst="rect">
            <a:avLst/>
          </a:prstGeom>
          <a:noFill/>
        </p:spPr>
        <p:txBody>
          <a:bodyPr wrap="square" lIns="0" rIns="0" tIns="0" bIns="0" anchor="ctr">
            <a:noAutofit/>
          </a:bodyPr>
          <a:lstStyle/>
          <a:p>
            <a:pPr algn="ctr">
              <a:lnSpc>
                <a:spcPct val="100000"/>
              </a:lnSpc>
            </a:pPr>
            <a:r>
              <a:rPr sz="4800" b="0">
                <a:solidFill>
                  <a:srgbClr val="9A7430"/>
                </a:solidFill>
                <a:latin typeface="Yu Gothic"/>
                <a:ea typeface="Yu Gothic"/>
                <a:cs typeface="Yu Gothic"/>
              </a:rPr>
              <a:t>→</a:t>
            </a:r>
          </a:p>
        </p:txBody>
      </p:sp>
      <p:sp>
        <p:nvSpPr>
          <p:cNvPr id="14" name="Oval 13"/>
          <p:cNvSpPr/>
          <p:nvPr/>
        </p:nvSpPr>
        <p:spPr>
          <a:xfrm>
            <a:off x="6527800" y="2635250"/>
            <a:ext cx="1562100" cy="1562100"/>
          </a:xfrm>
          <a:prstGeom prst="ellipse">
            <a:avLst/>
          </a:prstGeom>
          <a:solidFill>
            <a:srgbClr val="173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527800" y="2984500"/>
            <a:ext cx="1562100" cy="596900"/>
          </a:xfrm>
          <a:prstGeom prst="rect">
            <a:avLst/>
          </a:prstGeom>
          <a:noFill/>
        </p:spPr>
        <p:txBody>
          <a:bodyPr wrap="square" lIns="0" rIns="0" tIns="0" bIns="0" anchor="ctr">
            <a:noAutofit/>
          </a:bodyPr>
          <a:lstStyle/>
          <a:p>
            <a:pPr algn="ctr">
              <a:lnSpc>
                <a:spcPct val="100000"/>
              </a:lnSpc>
            </a:pPr>
            <a:r>
              <a:rPr sz="3100" b="1">
                <a:solidFill>
                  <a:srgbClr val="F7F3E8"/>
                </a:solidFill>
                <a:latin typeface="Yu Gothic"/>
                <a:ea typeface="Yu Gothic"/>
                <a:cs typeface="Yu Gothic"/>
              </a:rPr>
              <a:t>味わう</a:t>
            </a:r>
          </a:p>
        </p:txBody>
      </p:sp>
      <p:sp>
        <p:nvSpPr>
          <p:cNvPr id="16" name="TextBox 15"/>
          <p:cNvSpPr txBox="1"/>
          <p:nvPr/>
        </p:nvSpPr>
        <p:spPr>
          <a:xfrm>
            <a:off x="6527800" y="3632200"/>
            <a:ext cx="1562100" cy="285750"/>
          </a:xfrm>
          <a:prstGeom prst="rect">
            <a:avLst/>
          </a:prstGeom>
          <a:noFill/>
        </p:spPr>
        <p:txBody>
          <a:bodyPr wrap="square" lIns="0" rIns="0" tIns="0" bIns="0" anchor="ctr">
            <a:noAutofit/>
          </a:bodyPr>
          <a:lstStyle/>
          <a:p>
            <a:pPr algn="ctr">
              <a:lnSpc>
                <a:spcPct val="100000"/>
              </a:lnSpc>
            </a:pPr>
            <a:r>
              <a:rPr sz="1500" b="1" spc="300">
                <a:solidFill>
                  <a:srgbClr val="F7F3E8"/>
                </a:solidFill>
                <a:latin typeface="Yu Gothic"/>
                <a:ea typeface="Yu Gothic"/>
                <a:cs typeface="Yu Gothic"/>
              </a:rPr>
              <a:t>TASTE</a:t>
            </a:r>
          </a:p>
        </p:txBody>
      </p:sp>
      <p:sp>
        <p:nvSpPr>
          <p:cNvPr id="17" name="TextBox 16"/>
          <p:cNvSpPr txBox="1"/>
          <p:nvPr/>
        </p:nvSpPr>
        <p:spPr>
          <a:xfrm>
            <a:off x="8089900" y="3111500"/>
            <a:ext cx="863600" cy="609600"/>
          </a:xfrm>
          <a:prstGeom prst="rect">
            <a:avLst/>
          </a:prstGeom>
          <a:noFill/>
        </p:spPr>
        <p:txBody>
          <a:bodyPr wrap="square" lIns="0" rIns="0" tIns="0" bIns="0" anchor="ctr">
            <a:noAutofit/>
          </a:bodyPr>
          <a:lstStyle/>
          <a:p>
            <a:pPr algn="ctr">
              <a:lnSpc>
                <a:spcPct val="100000"/>
              </a:lnSpc>
            </a:pPr>
            <a:r>
              <a:rPr sz="4800" b="0">
                <a:solidFill>
                  <a:srgbClr val="9A7430"/>
                </a:solidFill>
                <a:latin typeface="Yu Gothic"/>
                <a:ea typeface="Yu Gothic"/>
                <a:cs typeface="Yu Gothic"/>
              </a:rPr>
              <a:t>→</a:t>
            </a:r>
          </a:p>
        </p:txBody>
      </p:sp>
      <p:sp>
        <p:nvSpPr>
          <p:cNvPr id="18" name="Oval 17"/>
          <p:cNvSpPr/>
          <p:nvPr/>
        </p:nvSpPr>
        <p:spPr>
          <a:xfrm>
            <a:off x="8953500" y="2635250"/>
            <a:ext cx="1562100" cy="1562100"/>
          </a:xfrm>
          <a:prstGeom prst="ellipse">
            <a:avLst/>
          </a:prstGeom>
          <a:solidFill>
            <a:srgbClr val="9A7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953500" y="2984500"/>
            <a:ext cx="1562100" cy="596900"/>
          </a:xfrm>
          <a:prstGeom prst="rect">
            <a:avLst/>
          </a:prstGeom>
          <a:noFill/>
        </p:spPr>
        <p:txBody>
          <a:bodyPr wrap="square" lIns="0" rIns="0" tIns="0" bIns="0" anchor="ctr">
            <a:noAutofit/>
          </a:bodyPr>
          <a:lstStyle/>
          <a:p>
            <a:pPr algn="ctr">
              <a:lnSpc>
                <a:spcPct val="100000"/>
              </a:lnSpc>
            </a:pPr>
            <a:r>
              <a:rPr sz="3100" b="1">
                <a:solidFill>
                  <a:srgbClr val="F7F3E8"/>
                </a:solidFill>
                <a:latin typeface="Yu Gothic"/>
                <a:ea typeface="Yu Gothic"/>
                <a:cs typeface="Yu Gothic"/>
              </a:rPr>
              <a:t>調整</a:t>
            </a:r>
          </a:p>
        </p:txBody>
      </p:sp>
      <p:sp>
        <p:nvSpPr>
          <p:cNvPr id="20" name="TextBox 19"/>
          <p:cNvSpPr txBox="1"/>
          <p:nvPr/>
        </p:nvSpPr>
        <p:spPr>
          <a:xfrm>
            <a:off x="8953500" y="3632200"/>
            <a:ext cx="1562100" cy="285750"/>
          </a:xfrm>
          <a:prstGeom prst="rect">
            <a:avLst/>
          </a:prstGeom>
          <a:noFill/>
        </p:spPr>
        <p:txBody>
          <a:bodyPr wrap="square" lIns="0" rIns="0" tIns="0" bIns="0" anchor="ctr">
            <a:noAutofit/>
          </a:bodyPr>
          <a:lstStyle/>
          <a:p>
            <a:pPr algn="ctr">
              <a:lnSpc>
                <a:spcPct val="100000"/>
              </a:lnSpc>
            </a:pPr>
            <a:r>
              <a:rPr sz="1500" b="1" spc="300">
                <a:solidFill>
                  <a:srgbClr val="F7F3E8"/>
                </a:solidFill>
                <a:latin typeface="Yu Gothic"/>
                <a:ea typeface="Yu Gothic"/>
                <a:cs typeface="Yu Gothic"/>
              </a:rPr>
              <a:t>ADJUST</a:t>
            </a:r>
          </a:p>
        </p:txBody>
      </p:sp>
      <p:sp>
        <p:nvSpPr>
          <p:cNvPr id="21" name="TextBox 20"/>
          <p:cNvSpPr txBox="1"/>
          <p:nvPr/>
        </p:nvSpPr>
        <p:spPr>
          <a:xfrm>
            <a:off x="660400" y="4241800"/>
            <a:ext cx="330200" cy="400050"/>
          </a:xfrm>
          <a:prstGeom prst="rect">
            <a:avLst/>
          </a:prstGeom>
          <a:noFill/>
        </p:spPr>
        <p:txBody>
          <a:bodyPr wrap="square" lIns="0" rIns="0" tIns="0" bIns="0" anchor="ctr">
            <a:noAutofit/>
          </a:bodyPr>
          <a:lstStyle/>
          <a:p>
            <a:pPr algn="ctr">
              <a:lnSpc>
                <a:spcPct val="100000"/>
              </a:lnSpc>
            </a:pPr>
            <a:r>
              <a:rPr sz="2600" b="0">
                <a:solidFill>
                  <a:srgbClr val="9A7430"/>
                </a:solidFill>
                <a:latin typeface="Yu Gothic"/>
                <a:ea typeface="Yu Gothic"/>
                <a:cs typeface="Yu Gothic"/>
              </a:rPr>
              <a:t>◀</a:t>
            </a:r>
          </a:p>
        </p:txBody>
      </p:sp>
      <p:sp>
        <p:nvSpPr>
          <p:cNvPr id="22" name="Rectangle 21"/>
          <p:cNvSpPr/>
          <p:nvPr/>
        </p:nvSpPr>
        <p:spPr>
          <a:xfrm>
            <a:off x="952500" y="4406900"/>
            <a:ext cx="1841500" cy="38100"/>
          </a:xfrm>
          <a:prstGeom prst="rect">
            <a:avLst/>
          </a:prstGeom>
          <a:solidFill>
            <a:srgbClr val="9A7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2794000" y="4241800"/>
            <a:ext cx="3429000" cy="400050"/>
          </a:xfrm>
          <a:prstGeom prst="rect">
            <a:avLst/>
          </a:prstGeom>
          <a:noFill/>
        </p:spPr>
        <p:txBody>
          <a:bodyPr wrap="square" lIns="0" rIns="0" tIns="0" bIns="0" anchor="ctr">
            <a:noAutofit/>
          </a:bodyPr>
          <a:lstStyle/>
          <a:p>
            <a:pPr algn="ctr">
              <a:lnSpc>
                <a:spcPct val="100000"/>
              </a:lnSpc>
            </a:pPr>
            <a:r>
              <a:rPr sz="2100" b="1">
                <a:solidFill>
                  <a:srgbClr val="9A7430"/>
                </a:solidFill>
                <a:latin typeface="Yu Gothic"/>
                <a:ea typeface="Yu Gothic"/>
                <a:cs typeface="Yu Gothic"/>
              </a:rPr>
              <a:t>また、次の一杯へ</a:t>
            </a:r>
          </a:p>
        </p:txBody>
      </p:sp>
      <p:sp>
        <p:nvSpPr>
          <p:cNvPr id="24" name="Rectangle 23"/>
          <p:cNvSpPr/>
          <p:nvPr/>
        </p:nvSpPr>
        <p:spPr>
          <a:xfrm>
            <a:off x="6223000" y="4406900"/>
            <a:ext cx="5308600" cy="38100"/>
          </a:xfrm>
          <a:prstGeom prst="rect">
            <a:avLst/>
          </a:prstGeom>
          <a:solidFill>
            <a:srgbClr val="9A7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60400" y="5232400"/>
            <a:ext cx="10871200" cy="1016000"/>
          </a:xfrm>
          <a:prstGeom prst="rect">
            <a:avLst/>
          </a:prstGeom>
          <a:noFill/>
        </p:spPr>
        <p:txBody>
          <a:bodyPr wrap="square" lIns="0" rIns="0" tIns="0" bIns="0" anchor="ctr">
            <a:noAutofit/>
          </a:bodyPr>
          <a:lstStyle/>
          <a:p>
            <a:pPr algn="ctr">
              <a:lnSpc>
                <a:spcPct val="145000"/>
              </a:lnSpc>
            </a:pPr>
            <a:r>
              <a:rPr sz="3200" b="1">
                <a:solidFill>
                  <a:srgbClr val="17372A"/>
                </a:solidFill>
                <a:latin typeface="Yu Gothic"/>
                <a:ea typeface="Yu Gothic"/>
                <a:cs typeface="Yu Gothic"/>
              </a:rPr>
              <a:t>知識は正解ではなく、</a:t>
            </a:r>
            <a:r>
              <a:rPr sz="3200" b="1">
                <a:solidFill>
                  <a:srgbClr val="17372A"/>
                </a:solidFill>
                <a:highlight>
                  <a:srgbClr val="D9C79B"/>
                </a:highlight>
                <a:latin typeface="Yu Gothic"/>
                <a:ea typeface="Yu Gothic"/>
                <a:cs typeface="Yu Gothic"/>
              </a:rPr>
              <a:t>自分で考えるための材料</a:t>
            </a:r>
            <a:r>
              <a:rPr sz="3200" b="1">
                <a:solidFill>
                  <a:srgbClr val="17372A"/>
                </a:solidFill>
                <a:latin typeface="Yu Gothic"/>
                <a:ea typeface="Yu Gothic"/>
                <a:cs typeface="Yu Gothic"/>
              </a:rPr>
              <a:t>。</a:t>
            </a:r>
          </a:p>
          <a:p>
            <a:pPr algn="ctr">
              <a:lnSpc>
                <a:spcPct val="145000"/>
              </a:lnSpc>
            </a:pPr>
            <a:r>
              <a:rPr sz="2200" b="1">
                <a:solidFill>
                  <a:srgbClr val="4A6154"/>
                </a:solidFill>
                <a:latin typeface="Yu Gothic"/>
                <a:ea typeface="Yu Gothic"/>
                <a:cs typeface="Yu Gothic"/>
              </a:rPr>
              <a:t>積み重ねられてきた知見を土台に、そこから一歩だけ踏み出してみた淹れ方です。</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3E8"/>
        </a:solidFill>
        <a:effectLst/>
      </p:bgPr>
    </p:bg>
    <p:spTree>
      <p:nvGrpSpPr>
        <p:cNvPr id="1" name=""/>
        <p:cNvGrpSpPr/>
        <p:nvPr/>
      </p:nvGrpSpPr>
      <p:grpSpPr/>
      <p:sp>
        <p:nvSpPr>
          <p:cNvPr id="2" name="Rectangle 1"/>
          <p:cNvSpPr/>
          <p:nvPr/>
        </p:nvSpPr>
        <p:spPr>
          <a:xfrm>
            <a:off x="292100" y="292100"/>
            <a:ext cx="11607800" cy="6184900"/>
          </a:xfrm>
          <a:prstGeom prst="rect">
            <a:avLst/>
          </a:prstGeom>
          <a:noFill/>
          <a:ln w="12700">
            <a:solidFill>
              <a:srgbClr val="CBB5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60400" y="469900"/>
            <a:ext cx="10871200" cy="304800"/>
          </a:xfrm>
          <a:prstGeom prst="rect">
            <a:avLst/>
          </a:prstGeom>
          <a:noFill/>
        </p:spPr>
        <p:txBody>
          <a:bodyPr wrap="square" lIns="0" rIns="0" tIns="0" bIns="0" anchor="ctr">
            <a:noAutofit/>
          </a:bodyPr>
          <a:lstStyle/>
          <a:p>
            <a:pPr algn="l">
              <a:lnSpc>
                <a:spcPct val="100000"/>
              </a:lnSpc>
            </a:pPr>
            <a:r>
              <a:rPr sz="1900" b="1" spc="836">
                <a:solidFill>
                  <a:srgbClr val="9A7430"/>
                </a:solidFill>
                <a:latin typeface="Yu Gothic"/>
                <a:ea typeface="Yu Gothic"/>
                <a:cs typeface="Yu Gothic"/>
              </a:rPr>
              <a:t>EPILOGUE ／ 一人の飲み手として</a:t>
            </a:r>
          </a:p>
        </p:txBody>
      </p:sp>
      <p:sp>
        <p:nvSpPr>
          <p:cNvPr id="4" name="TextBox 3"/>
          <p:cNvSpPr txBox="1"/>
          <p:nvPr/>
        </p:nvSpPr>
        <p:spPr>
          <a:xfrm>
            <a:off x="660400" y="914400"/>
            <a:ext cx="10871200" cy="518160"/>
          </a:xfrm>
          <a:prstGeom prst="rect">
            <a:avLst/>
          </a:prstGeom>
          <a:noFill/>
        </p:spPr>
        <p:txBody>
          <a:bodyPr wrap="square" lIns="0" rIns="0" tIns="0" bIns="0" anchor="ctr">
            <a:noAutofit/>
          </a:bodyPr>
          <a:lstStyle/>
          <a:p>
            <a:pPr algn="l">
              <a:lnSpc>
                <a:spcPct val="120000"/>
              </a:lnSpc>
            </a:pPr>
            <a:r>
              <a:rPr sz="3400" b="1">
                <a:solidFill>
                  <a:srgbClr val="17372A"/>
                </a:solidFill>
                <a:latin typeface="Yu Gothic"/>
                <a:ea typeface="Yu Gothic"/>
                <a:cs typeface="Yu Gothic"/>
              </a:rPr>
              <a:t>日本茶は、何も知らなくても美味しく飲めます。</a:t>
            </a:r>
          </a:p>
        </p:txBody>
      </p:sp>
      <p:sp>
        <p:nvSpPr>
          <p:cNvPr id="5" name="Rectangle 4"/>
          <p:cNvSpPr/>
          <p:nvPr/>
        </p:nvSpPr>
        <p:spPr>
          <a:xfrm>
            <a:off x="660400" y="1572260"/>
            <a:ext cx="1270000" cy="25400"/>
          </a:xfrm>
          <a:prstGeom prst="rect">
            <a:avLst/>
          </a:prstGeom>
          <a:solidFill>
            <a:srgbClr val="9A7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930400" y="1572260"/>
            <a:ext cx="9601200" cy="25400"/>
          </a:xfrm>
          <a:prstGeom prst="rect">
            <a:avLst/>
          </a:prstGeom>
          <a:solidFill>
            <a:srgbClr val="8A9A90">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2019300"/>
            <a:ext cx="10871200" cy="495300"/>
          </a:xfrm>
          <a:prstGeom prst="rect">
            <a:avLst/>
          </a:prstGeom>
          <a:noFill/>
        </p:spPr>
        <p:txBody>
          <a:bodyPr wrap="square" lIns="0" rIns="0" tIns="0" bIns="0" anchor="ctr">
            <a:noAutofit/>
          </a:bodyPr>
          <a:lstStyle/>
          <a:p>
            <a:pPr algn="ctr">
              <a:lnSpc>
                <a:spcPct val="150000"/>
              </a:lnSpc>
            </a:pPr>
            <a:r>
              <a:rPr sz="2600" b="1">
                <a:solidFill>
                  <a:srgbClr val="4A6154"/>
                </a:solidFill>
                <a:latin typeface="Yu Gothic"/>
                <a:ea typeface="Yu Gothic"/>
                <a:cs typeface="Yu Gothic"/>
              </a:rPr>
              <a:t>その上で、</a:t>
            </a:r>
          </a:p>
        </p:txBody>
      </p:sp>
      <p:sp>
        <p:nvSpPr>
          <p:cNvPr id="8" name="Rectangle 7"/>
          <p:cNvSpPr/>
          <p:nvPr/>
        </p:nvSpPr>
        <p:spPr>
          <a:xfrm>
            <a:off x="660400" y="2743200"/>
            <a:ext cx="5308600" cy="1397000"/>
          </a:xfrm>
          <a:prstGeom prst="rect">
            <a:avLst/>
          </a:prstGeom>
          <a:solidFill>
            <a:srgbClr val="FFFFFF"/>
          </a:solidFill>
          <a:ln w="31750">
            <a:solidFill>
              <a:srgbClr val="8A9A9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38200" y="2743200"/>
            <a:ext cx="4953000" cy="1397000"/>
          </a:xfrm>
          <a:prstGeom prst="rect">
            <a:avLst/>
          </a:prstGeom>
          <a:noFill/>
        </p:spPr>
        <p:txBody>
          <a:bodyPr wrap="square" lIns="0" rIns="0" tIns="0" bIns="0" anchor="ctr">
            <a:noAutofit/>
          </a:bodyPr>
          <a:lstStyle/>
          <a:p>
            <a:pPr algn="ctr">
              <a:lnSpc>
                <a:spcPct val="135000"/>
              </a:lnSpc>
            </a:pPr>
            <a:r>
              <a:rPr sz="2700" b="1">
                <a:solidFill>
                  <a:srgbClr val="17372A"/>
                </a:solidFill>
                <a:latin typeface="Yu Gothic"/>
                <a:ea typeface="Yu Gothic"/>
                <a:cs typeface="Yu Gothic"/>
              </a:rPr>
              <a:t>「このお茶は、</a:t>
            </a:r>
          </a:p>
          <a:p>
            <a:pPr algn="ctr">
              <a:lnSpc>
                <a:spcPct val="135000"/>
              </a:lnSpc>
            </a:pPr>
            <a:r>
              <a:rPr sz="2700" b="1">
                <a:solidFill>
                  <a:srgbClr val="17372A"/>
                </a:solidFill>
                <a:latin typeface="Yu Gothic"/>
                <a:ea typeface="Yu Gothic"/>
                <a:cs typeface="Yu Gothic"/>
              </a:rPr>
              <a:t>どんなお茶だろう」</a:t>
            </a:r>
          </a:p>
        </p:txBody>
      </p:sp>
      <p:sp>
        <p:nvSpPr>
          <p:cNvPr id="10" name="Rectangle 9"/>
          <p:cNvSpPr/>
          <p:nvPr/>
        </p:nvSpPr>
        <p:spPr>
          <a:xfrm>
            <a:off x="6223000" y="2743200"/>
            <a:ext cx="5308600" cy="1397000"/>
          </a:xfrm>
          <a:prstGeom prst="rect">
            <a:avLst/>
          </a:prstGeom>
          <a:solidFill>
            <a:srgbClr val="FFFFFF"/>
          </a:solidFill>
          <a:ln w="31750">
            <a:solidFill>
              <a:srgbClr val="8A9A9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00800" y="2743200"/>
            <a:ext cx="4953000" cy="1397000"/>
          </a:xfrm>
          <a:prstGeom prst="rect">
            <a:avLst/>
          </a:prstGeom>
          <a:noFill/>
        </p:spPr>
        <p:txBody>
          <a:bodyPr wrap="square" lIns="0" rIns="0" tIns="0" bIns="0" anchor="ctr">
            <a:noAutofit/>
          </a:bodyPr>
          <a:lstStyle/>
          <a:p>
            <a:pPr algn="ctr">
              <a:lnSpc>
                <a:spcPct val="135000"/>
              </a:lnSpc>
            </a:pPr>
            <a:r>
              <a:rPr sz="2700" b="1">
                <a:solidFill>
                  <a:srgbClr val="17372A"/>
                </a:solidFill>
                <a:latin typeface="Yu Gothic"/>
                <a:ea typeface="Yu Gothic"/>
                <a:cs typeface="Yu Gothic"/>
              </a:rPr>
              <a:t>「どうやって</a:t>
            </a:r>
          </a:p>
          <a:p>
            <a:pPr algn="ctr">
              <a:lnSpc>
                <a:spcPct val="135000"/>
              </a:lnSpc>
            </a:pPr>
            <a:r>
              <a:rPr sz="2700" b="1">
                <a:solidFill>
                  <a:srgbClr val="17372A"/>
                </a:solidFill>
                <a:latin typeface="Yu Gothic"/>
                <a:ea typeface="Yu Gothic"/>
                <a:cs typeface="Yu Gothic"/>
              </a:rPr>
              <a:t>淹れてみよう」</a:t>
            </a:r>
          </a:p>
        </p:txBody>
      </p:sp>
      <p:sp>
        <p:nvSpPr>
          <p:cNvPr id="12" name="TextBox 11"/>
          <p:cNvSpPr txBox="1"/>
          <p:nvPr/>
        </p:nvSpPr>
        <p:spPr>
          <a:xfrm>
            <a:off x="660400" y="4368800"/>
            <a:ext cx="10871200" cy="1181100"/>
          </a:xfrm>
          <a:prstGeom prst="rect">
            <a:avLst/>
          </a:prstGeom>
          <a:noFill/>
        </p:spPr>
        <p:txBody>
          <a:bodyPr wrap="square" lIns="0" rIns="0" tIns="0" bIns="0" anchor="ctr">
            <a:noAutofit/>
          </a:bodyPr>
          <a:lstStyle/>
          <a:p>
            <a:pPr algn="ctr">
              <a:lnSpc>
                <a:spcPct val="145000"/>
              </a:lnSpc>
            </a:pPr>
            <a:r>
              <a:rPr sz="3200" b="1">
                <a:solidFill>
                  <a:srgbClr val="17372A"/>
                </a:solidFill>
                <a:latin typeface="Yu Gothic"/>
                <a:ea typeface="Yu Gothic"/>
                <a:cs typeface="Yu Gothic"/>
              </a:rPr>
              <a:t>そう思ったなら、その時点で、</a:t>
            </a:r>
          </a:p>
          <a:p>
            <a:pPr algn="ctr">
              <a:lnSpc>
                <a:spcPct val="145000"/>
              </a:lnSpc>
            </a:pPr>
            <a:r>
              <a:rPr sz="3200" b="1">
                <a:solidFill>
                  <a:srgbClr val="17372A"/>
                </a:solidFill>
                <a:highlight>
                  <a:srgbClr val="D9C79B"/>
                </a:highlight>
                <a:latin typeface="Yu Gothic"/>
                <a:ea typeface="Yu Gothic"/>
                <a:cs typeface="Yu Gothic"/>
              </a:rPr>
              <a:t>その一杯を自分で考え始めている。</a:t>
            </a:r>
          </a:p>
        </p:txBody>
      </p:sp>
      <p:sp>
        <p:nvSpPr>
          <p:cNvPr id="13" name="TextBox 12"/>
          <p:cNvSpPr txBox="1"/>
          <p:nvPr/>
        </p:nvSpPr>
        <p:spPr>
          <a:xfrm>
            <a:off x="660400" y="5734050"/>
            <a:ext cx="10871200" cy="514350"/>
          </a:xfrm>
          <a:prstGeom prst="rect">
            <a:avLst/>
          </a:prstGeom>
          <a:noFill/>
        </p:spPr>
        <p:txBody>
          <a:bodyPr wrap="square" lIns="0" rIns="0" tIns="0" bIns="0" anchor="ctr">
            <a:noAutofit/>
          </a:bodyPr>
          <a:lstStyle/>
          <a:p>
            <a:pPr algn="ctr">
              <a:lnSpc>
                <a:spcPct val="145000"/>
              </a:lnSpc>
            </a:pPr>
            <a:r>
              <a:rPr sz="2800" b="1">
                <a:solidFill>
                  <a:srgbClr val="17372A"/>
                </a:solidFill>
                <a:latin typeface="Yu Gothic"/>
                <a:ea typeface="Yu Gothic"/>
                <a:cs typeface="Yu Gothic"/>
              </a:rPr>
              <a:t>私が伝えたいのは、まさにその</a:t>
            </a:r>
            <a:r>
              <a:rPr sz="2800" b="1">
                <a:solidFill>
                  <a:srgbClr val="17372A"/>
                </a:solidFill>
                <a:highlight>
                  <a:srgbClr val="D9C79B"/>
                </a:highlight>
                <a:latin typeface="Yu Gothic"/>
                <a:ea typeface="Yu Gothic"/>
                <a:cs typeface="Yu Gothic"/>
              </a:rPr>
              <a:t>楽しさ</a:t>
            </a:r>
            <a:r>
              <a:rPr sz="2800" b="1">
                <a:solidFill>
                  <a:srgbClr val="17372A"/>
                </a:solidFill>
                <a:latin typeface="Yu Gothic"/>
                <a:ea typeface="Yu Gothic"/>
                <a:cs typeface="Yu Gothic"/>
              </a:rPr>
              <a:t>です。</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3E8"/>
        </a:solidFill>
        <a:effectLst/>
      </p:bgPr>
    </p:bg>
    <p:spTree>
      <p:nvGrpSpPr>
        <p:cNvPr id="1" name=""/>
        <p:cNvGrpSpPr/>
        <p:nvPr/>
      </p:nvGrpSpPr>
      <p:grpSpPr/>
      <p:sp>
        <p:nvSpPr>
          <p:cNvPr id="2" name="Rectangle 1"/>
          <p:cNvSpPr/>
          <p:nvPr/>
        </p:nvSpPr>
        <p:spPr>
          <a:xfrm>
            <a:off x="292100" y="292100"/>
            <a:ext cx="11607800" cy="6184900"/>
          </a:xfrm>
          <a:prstGeom prst="rect">
            <a:avLst/>
          </a:prstGeom>
          <a:noFill/>
          <a:ln w="19050">
            <a:solidFill>
              <a:srgbClr val="D9C79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55600" y="355600"/>
            <a:ext cx="11480800" cy="6057900"/>
          </a:xfrm>
          <a:prstGeom prst="rect">
            <a:avLst/>
          </a:prstGeom>
          <a:noFill/>
          <a:ln w="19050">
            <a:solidFill>
              <a:srgbClr val="D9C79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60400" y="1739900"/>
            <a:ext cx="10871200" cy="990600"/>
          </a:xfrm>
          <a:prstGeom prst="rect">
            <a:avLst/>
          </a:prstGeom>
          <a:noFill/>
        </p:spPr>
        <p:txBody>
          <a:bodyPr wrap="square" lIns="0" rIns="0" tIns="0" bIns="0" anchor="ctr">
            <a:noAutofit/>
          </a:bodyPr>
          <a:lstStyle/>
          <a:p>
            <a:pPr algn="ctr">
              <a:lnSpc>
                <a:spcPct val="150000"/>
              </a:lnSpc>
            </a:pPr>
            <a:r>
              <a:rPr sz="2600" b="1">
                <a:solidFill>
                  <a:srgbClr val="4A6154"/>
                </a:solidFill>
                <a:latin typeface="Yu Gothic"/>
                <a:ea typeface="Yu Gothic"/>
                <a:cs typeface="Yu Gothic"/>
              </a:rPr>
              <a:t>10年、20年経てば、また次の世代が日本茶に出会い、</a:t>
            </a:r>
          </a:p>
          <a:p>
            <a:pPr algn="ctr">
              <a:lnSpc>
                <a:spcPct val="150000"/>
              </a:lnSpc>
            </a:pPr>
            <a:r>
              <a:rPr sz="2600" b="1">
                <a:solidFill>
                  <a:srgbClr val="4A6154"/>
                </a:solidFill>
                <a:latin typeface="Yu Gothic"/>
                <a:ea typeface="Yu Gothic"/>
                <a:cs typeface="Yu Gothic"/>
              </a:rPr>
              <a:t>何度でも再発見される。</a:t>
            </a:r>
          </a:p>
        </p:txBody>
      </p:sp>
      <p:sp>
        <p:nvSpPr>
          <p:cNvPr id="5" name="TextBox 4"/>
          <p:cNvSpPr txBox="1"/>
          <p:nvPr/>
        </p:nvSpPr>
        <p:spPr>
          <a:xfrm>
            <a:off x="660400" y="3060700"/>
            <a:ext cx="10871200" cy="1917700"/>
          </a:xfrm>
          <a:prstGeom prst="rect">
            <a:avLst/>
          </a:prstGeom>
          <a:noFill/>
        </p:spPr>
        <p:txBody>
          <a:bodyPr wrap="square" lIns="0" rIns="0" tIns="0" bIns="0" anchor="ctr">
            <a:noAutofit/>
          </a:bodyPr>
          <a:lstStyle/>
          <a:p>
            <a:pPr algn="ctr">
              <a:lnSpc>
                <a:spcPct val="140000"/>
              </a:lnSpc>
            </a:pPr>
            <a:r>
              <a:rPr sz="5400" b="1">
                <a:solidFill>
                  <a:srgbClr val="17372A"/>
                </a:solidFill>
                <a:latin typeface="Yu Mincho"/>
                <a:ea typeface="Yu Mincho"/>
                <a:cs typeface="Yu Mincho"/>
              </a:rPr>
              <a:t>飲む人が、</a:t>
            </a:r>
          </a:p>
          <a:p>
            <a:pPr algn="ctr">
              <a:lnSpc>
                <a:spcPct val="140000"/>
              </a:lnSpc>
            </a:pPr>
            <a:r>
              <a:rPr sz="5400" b="1">
                <a:solidFill>
                  <a:srgbClr val="17372A"/>
                </a:solidFill>
                <a:highlight>
                  <a:srgbClr val="D9C79B"/>
                </a:highlight>
                <a:latin typeface="Yu Mincho"/>
                <a:ea typeface="Yu Mincho"/>
                <a:cs typeface="Yu Mincho"/>
              </a:rPr>
              <a:t>日本茶を面白がり続けること。</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3E8"/>
        </a:solidFill>
        <a:effectLst/>
      </p:bgPr>
    </p:bg>
    <p:spTree>
      <p:nvGrpSpPr>
        <p:cNvPr id="1" name=""/>
        <p:cNvGrpSpPr/>
        <p:nvPr/>
      </p:nvGrpSpPr>
      <p:grpSpPr/>
      <p:sp>
        <p:nvSpPr>
          <p:cNvPr id="2" name="Rectangle 1"/>
          <p:cNvSpPr/>
          <p:nvPr/>
        </p:nvSpPr>
        <p:spPr>
          <a:xfrm>
            <a:off x="292100" y="292100"/>
            <a:ext cx="11607800" cy="6184900"/>
          </a:xfrm>
          <a:prstGeom prst="rect">
            <a:avLst/>
          </a:prstGeom>
          <a:noFill/>
          <a:ln w="12700">
            <a:solidFill>
              <a:srgbClr val="CBB5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60400" y="1955800"/>
            <a:ext cx="10871200" cy="304800"/>
          </a:xfrm>
          <a:prstGeom prst="rect">
            <a:avLst/>
          </a:prstGeom>
          <a:noFill/>
        </p:spPr>
        <p:txBody>
          <a:bodyPr wrap="square" lIns="0" rIns="0" tIns="0" bIns="0" anchor="ctr">
            <a:noAutofit/>
          </a:bodyPr>
          <a:lstStyle/>
          <a:p>
            <a:pPr algn="ctr">
              <a:lnSpc>
                <a:spcPct val="100000"/>
              </a:lnSpc>
            </a:pPr>
            <a:r>
              <a:rPr sz="1900" b="1" spc="836">
                <a:solidFill>
                  <a:srgbClr val="9A7430"/>
                </a:solidFill>
                <a:latin typeface="Yu Gothic"/>
                <a:ea typeface="Yu Gothic"/>
                <a:cs typeface="Yu Gothic"/>
              </a:rPr>
              <a:t>APPENDIX</a:t>
            </a:r>
          </a:p>
        </p:txBody>
      </p:sp>
      <p:sp>
        <p:nvSpPr>
          <p:cNvPr id="4" name="TextBox 3"/>
          <p:cNvSpPr txBox="1"/>
          <p:nvPr/>
        </p:nvSpPr>
        <p:spPr>
          <a:xfrm>
            <a:off x="660400" y="2400300"/>
            <a:ext cx="10871200" cy="1066800"/>
          </a:xfrm>
          <a:prstGeom prst="rect">
            <a:avLst/>
          </a:prstGeom>
          <a:noFill/>
        </p:spPr>
        <p:txBody>
          <a:bodyPr wrap="square" lIns="0" rIns="0" tIns="0" bIns="0" anchor="ctr">
            <a:noAutofit/>
          </a:bodyPr>
          <a:lstStyle/>
          <a:p>
            <a:pPr algn="ctr">
              <a:lnSpc>
                <a:spcPct val="112000"/>
              </a:lnSpc>
            </a:pPr>
            <a:r>
              <a:rPr sz="7500" b="1">
                <a:solidFill>
                  <a:srgbClr val="17372A"/>
                </a:solidFill>
                <a:latin typeface="Yu Mincho"/>
                <a:ea typeface="Yu Mincho"/>
                <a:cs typeface="Yu Mincho"/>
              </a:rPr>
              <a:t>質疑応答用</a:t>
            </a:r>
          </a:p>
        </p:txBody>
      </p:sp>
      <p:sp>
        <p:nvSpPr>
          <p:cNvPr id="5" name="TextBox 4"/>
          <p:cNvSpPr txBox="1"/>
          <p:nvPr/>
        </p:nvSpPr>
        <p:spPr>
          <a:xfrm>
            <a:off x="660400" y="3721100"/>
            <a:ext cx="10871200" cy="1035050"/>
          </a:xfrm>
          <a:prstGeom prst="rect">
            <a:avLst/>
          </a:prstGeom>
          <a:noFill/>
        </p:spPr>
        <p:txBody>
          <a:bodyPr wrap="square" lIns="0" rIns="0" tIns="0" bIns="0" anchor="ctr">
            <a:noAutofit/>
          </a:bodyPr>
          <a:lstStyle/>
          <a:p>
            <a:pPr algn="ctr">
              <a:lnSpc>
                <a:spcPct val="170000"/>
              </a:lnSpc>
            </a:pPr>
            <a:r>
              <a:rPr sz="2400" b="1">
                <a:solidFill>
                  <a:srgbClr val="4A6154"/>
                </a:solidFill>
                <a:latin typeface="Yu Gothic"/>
                <a:ea typeface="Yu Gothic"/>
                <a:cs typeface="Yu Gothic"/>
              </a:rPr>
              <a:t>なぜ50℃・60秒か　／　なぜ30mLか</a:t>
            </a:r>
          </a:p>
          <a:p>
            <a:pPr algn="ctr">
              <a:lnSpc>
                <a:spcPct val="170000"/>
              </a:lnSpc>
            </a:pPr>
            <a:r>
              <a:rPr sz="2400" b="1">
                <a:solidFill>
                  <a:srgbClr val="4A6154"/>
                </a:solidFill>
                <a:latin typeface="Yu Gothic"/>
                <a:ea typeface="Yu Gothic"/>
                <a:cs typeface="Yu Gothic"/>
              </a:rPr>
              <a:t>なぜ90℃・10秒か　／　産地を淹れ分けているのか</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3E8"/>
        </a:solidFill>
        <a:effectLst/>
      </p:bgPr>
    </p:bg>
    <p:spTree>
      <p:nvGrpSpPr>
        <p:cNvPr id="1" name=""/>
        <p:cNvGrpSpPr/>
        <p:nvPr/>
      </p:nvGrpSpPr>
      <p:grpSpPr/>
      <p:sp>
        <p:nvSpPr>
          <p:cNvPr id="2" name="Rectangle 1"/>
          <p:cNvSpPr/>
          <p:nvPr/>
        </p:nvSpPr>
        <p:spPr>
          <a:xfrm>
            <a:off x="292100" y="292100"/>
            <a:ext cx="11607800" cy="6184900"/>
          </a:xfrm>
          <a:prstGeom prst="rect">
            <a:avLst/>
          </a:prstGeom>
          <a:noFill/>
          <a:ln w="12700">
            <a:solidFill>
              <a:srgbClr val="CBB5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60400" y="469900"/>
            <a:ext cx="10871200" cy="304800"/>
          </a:xfrm>
          <a:prstGeom prst="rect">
            <a:avLst/>
          </a:prstGeom>
          <a:noFill/>
        </p:spPr>
        <p:txBody>
          <a:bodyPr wrap="square" lIns="0" rIns="0" tIns="0" bIns="0" anchor="ctr">
            <a:noAutofit/>
          </a:bodyPr>
          <a:lstStyle/>
          <a:p>
            <a:pPr algn="l">
              <a:lnSpc>
                <a:spcPct val="100000"/>
              </a:lnSpc>
            </a:pPr>
            <a:r>
              <a:rPr sz="1900" b="1" spc="836">
                <a:solidFill>
                  <a:srgbClr val="9A7430"/>
                </a:solidFill>
                <a:latin typeface="Yu Gothic"/>
                <a:ea typeface="Yu Gothic"/>
                <a:cs typeface="Yu Gothic"/>
              </a:rPr>
              <a:t>Q&amp;A 01</a:t>
            </a:r>
          </a:p>
        </p:txBody>
      </p:sp>
      <p:sp>
        <p:nvSpPr>
          <p:cNvPr id="4" name="TextBox 3"/>
          <p:cNvSpPr txBox="1"/>
          <p:nvPr/>
        </p:nvSpPr>
        <p:spPr>
          <a:xfrm>
            <a:off x="660400" y="914400"/>
            <a:ext cx="10871200" cy="563880"/>
          </a:xfrm>
          <a:prstGeom prst="rect">
            <a:avLst/>
          </a:prstGeom>
          <a:noFill/>
        </p:spPr>
        <p:txBody>
          <a:bodyPr wrap="square" lIns="0" rIns="0" tIns="0" bIns="0" anchor="ctr">
            <a:noAutofit/>
          </a:bodyPr>
          <a:lstStyle/>
          <a:p>
            <a:pPr algn="l">
              <a:lnSpc>
                <a:spcPct val="120000"/>
              </a:lnSpc>
            </a:pPr>
            <a:r>
              <a:rPr sz="3700" b="1">
                <a:solidFill>
                  <a:srgbClr val="17372A"/>
                </a:solidFill>
                <a:latin typeface="Yu Gothic"/>
                <a:ea typeface="Yu Gothic"/>
                <a:cs typeface="Yu Gothic"/>
              </a:rPr>
              <a:t>なぜ 50℃・60秒 なのか。</a:t>
            </a:r>
          </a:p>
        </p:txBody>
      </p:sp>
      <p:sp>
        <p:nvSpPr>
          <p:cNvPr id="5" name="Rectangle 4"/>
          <p:cNvSpPr/>
          <p:nvPr/>
        </p:nvSpPr>
        <p:spPr>
          <a:xfrm>
            <a:off x="660400" y="1617980"/>
            <a:ext cx="1270000" cy="25400"/>
          </a:xfrm>
          <a:prstGeom prst="rect">
            <a:avLst/>
          </a:prstGeom>
          <a:solidFill>
            <a:srgbClr val="9A7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930400" y="1617980"/>
            <a:ext cx="9601200" cy="25400"/>
          </a:xfrm>
          <a:prstGeom prst="rect">
            <a:avLst/>
          </a:prstGeom>
          <a:solidFill>
            <a:srgbClr val="8A9A90">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1771650"/>
            <a:ext cx="10871200" cy="336550"/>
          </a:xfrm>
          <a:prstGeom prst="rect">
            <a:avLst/>
          </a:prstGeom>
          <a:noFill/>
        </p:spPr>
        <p:txBody>
          <a:bodyPr wrap="square" lIns="0" rIns="0" tIns="0" bIns="0" anchor="ctr">
            <a:noAutofit/>
          </a:bodyPr>
          <a:lstStyle/>
          <a:p>
            <a:pPr algn="ctr">
              <a:lnSpc>
                <a:spcPct val="120000"/>
              </a:lnSpc>
            </a:pPr>
            <a:r>
              <a:rPr sz="1650" b="1">
                <a:solidFill>
                  <a:srgbClr val="4A6154"/>
                </a:solidFill>
                <a:latin typeface="Yu Gothic"/>
                <a:ea typeface="Yu Gothic"/>
                <a:cs typeface="Yu Gothic"/>
              </a:rPr>
              <a:t>同じ茶葉を 60秒 淹れたとき、旨味と重い苦渋味の出方に、どれだけ差がつくか</a:t>
            </a:r>
          </a:p>
        </p:txBody>
      </p:sp>
      <p:sp>
        <p:nvSpPr>
          <p:cNvPr id="8" name="Rounded Rectangle 7"/>
          <p:cNvSpPr/>
          <p:nvPr/>
        </p:nvSpPr>
        <p:spPr>
          <a:xfrm>
            <a:off x="660400" y="2222500"/>
            <a:ext cx="3479800" cy="2476500"/>
          </a:xfrm>
          <a:prstGeom prst="roundRect">
            <a:avLst>
              <a:gd name="adj" fmla="val 2564"/>
            </a:avLst>
          </a:prstGeom>
          <a:noFill/>
          <a:ln w="25400">
            <a:solidFill>
              <a:srgbClr val="8A9A9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60400" y="2489200"/>
            <a:ext cx="3479800" cy="361950"/>
          </a:xfrm>
          <a:prstGeom prst="rect">
            <a:avLst/>
          </a:prstGeom>
          <a:noFill/>
        </p:spPr>
        <p:txBody>
          <a:bodyPr wrap="square" lIns="0" rIns="0" tIns="0" bIns="0" anchor="ctr">
            <a:noAutofit/>
          </a:bodyPr>
          <a:lstStyle/>
          <a:p>
            <a:pPr algn="ctr">
              <a:lnSpc>
                <a:spcPct val="100000"/>
              </a:lnSpc>
            </a:pPr>
            <a:r>
              <a:rPr sz="1900" b="1" spc="227">
                <a:solidFill>
                  <a:srgbClr val="4A6154"/>
                </a:solidFill>
                <a:latin typeface="Yu Gothic"/>
                <a:ea typeface="Yu Gothic"/>
                <a:cs typeface="Yu Gothic"/>
              </a:rPr>
              <a:t>40℃以下</a:t>
            </a:r>
          </a:p>
        </p:txBody>
      </p:sp>
      <p:sp>
        <p:nvSpPr>
          <p:cNvPr id="10" name="TextBox 9"/>
          <p:cNvSpPr txBox="1"/>
          <p:nvPr/>
        </p:nvSpPr>
        <p:spPr>
          <a:xfrm>
            <a:off x="660400" y="2914650"/>
            <a:ext cx="3479800" cy="501650"/>
          </a:xfrm>
          <a:prstGeom prst="rect">
            <a:avLst/>
          </a:prstGeom>
          <a:noFill/>
        </p:spPr>
        <p:txBody>
          <a:bodyPr wrap="square" lIns="0" rIns="0" tIns="0" bIns="0" anchor="ctr">
            <a:noAutofit/>
          </a:bodyPr>
          <a:lstStyle/>
          <a:p>
            <a:pPr algn="ctr">
              <a:lnSpc>
                <a:spcPct val="110000"/>
              </a:lnSpc>
            </a:pPr>
            <a:r>
              <a:rPr sz="3600" b="1">
                <a:solidFill>
                  <a:srgbClr val="4A6154"/>
                </a:solidFill>
                <a:latin typeface="Yu Gothic"/>
                <a:ea typeface="Yu Gothic"/>
                <a:cs typeface="Yu Gothic"/>
              </a:rPr>
              <a:t>時間切れ</a:t>
            </a:r>
          </a:p>
        </p:txBody>
      </p:sp>
      <p:sp>
        <p:nvSpPr>
          <p:cNvPr id="11" name="TextBox 10"/>
          <p:cNvSpPr txBox="1"/>
          <p:nvPr/>
        </p:nvSpPr>
        <p:spPr>
          <a:xfrm>
            <a:off x="825500" y="3556000"/>
            <a:ext cx="3149600" cy="952500"/>
          </a:xfrm>
          <a:prstGeom prst="rect">
            <a:avLst/>
          </a:prstGeom>
          <a:noFill/>
        </p:spPr>
        <p:txBody>
          <a:bodyPr wrap="square" lIns="0" rIns="0" tIns="0" bIns="0" anchor="ctr">
            <a:noAutofit/>
          </a:bodyPr>
          <a:lstStyle/>
          <a:p>
            <a:pPr algn="ctr">
              <a:lnSpc>
                <a:spcPct val="140000"/>
              </a:lnSpc>
            </a:pPr>
            <a:r>
              <a:rPr sz="1650" b="1">
                <a:solidFill>
                  <a:srgbClr val="4A6154"/>
                </a:solidFill>
                <a:latin typeface="Yu Gothic"/>
                <a:ea typeface="Yu Gothic"/>
                <a:cs typeface="Yu Gothic"/>
              </a:rPr>
              <a:t>低いほど差は開くが、</a:t>
            </a:r>
          </a:p>
          <a:p>
            <a:pPr algn="ctr">
              <a:lnSpc>
                <a:spcPct val="140000"/>
              </a:lnSpc>
            </a:pPr>
            <a:r>
              <a:rPr sz="1650" b="1">
                <a:solidFill>
                  <a:srgbClr val="4A6154"/>
                </a:solidFill>
                <a:latin typeface="Yu Gothic"/>
                <a:ea typeface="Yu Gothic"/>
                <a:cs typeface="Yu Gothic"/>
              </a:rPr>
              <a:t>必要な浸出時間が延び、</a:t>
            </a:r>
          </a:p>
          <a:p>
            <a:pPr algn="ctr">
              <a:lnSpc>
                <a:spcPct val="140000"/>
              </a:lnSpc>
            </a:pPr>
            <a:r>
              <a:rPr sz="1650" b="1">
                <a:solidFill>
                  <a:srgbClr val="4A6154"/>
                </a:solidFill>
                <a:latin typeface="Yu Gothic"/>
                <a:ea typeface="Yu Gothic"/>
                <a:cs typeface="Yu Gothic"/>
              </a:rPr>
              <a:t>10分のプレゼンに収まらない</a:t>
            </a:r>
          </a:p>
        </p:txBody>
      </p:sp>
      <p:sp>
        <p:nvSpPr>
          <p:cNvPr id="12" name="Rounded Rectangle 11"/>
          <p:cNvSpPr/>
          <p:nvPr/>
        </p:nvSpPr>
        <p:spPr>
          <a:xfrm>
            <a:off x="4356100" y="2222500"/>
            <a:ext cx="3479800" cy="2476500"/>
          </a:xfrm>
          <a:prstGeom prst="roundRect">
            <a:avLst>
              <a:gd name="adj" fmla="val 2564"/>
            </a:avLst>
          </a:prstGeom>
          <a:solidFill>
            <a:srgbClr val="FFFFFF"/>
          </a:solidFill>
          <a:ln w="38100">
            <a:solidFill>
              <a:srgbClr val="9A743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356100" y="2489200"/>
            <a:ext cx="3479800" cy="361950"/>
          </a:xfrm>
          <a:prstGeom prst="rect">
            <a:avLst/>
          </a:prstGeom>
          <a:noFill/>
        </p:spPr>
        <p:txBody>
          <a:bodyPr wrap="square" lIns="0" rIns="0" tIns="0" bIns="0" anchor="ctr">
            <a:noAutofit/>
          </a:bodyPr>
          <a:lstStyle/>
          <a:p>
            <a:pPr algn="ctr">
              <a:lnSpc>
                <a:spcPct val="100000"/>
              </a:lnSpc>
            </a:pPr>
            <a:r>
              <a:rPr sz="1900" b="1" spc="227">
                <a:solidFill>
                  <a:srgbClr val="9A7430"/>
                </a:solidFill>
                <a:latin typeface="Yu Gothic"/>
                <a:ea typeface="Yu Gothic"/>
                <a:cs typeface="Yu Gothic"/>
              </a:rPr>
              <a:t>50℃（採用）</a:t>
            </a:r>
          </a:p>
        </p:txBody>
      </p:sp>
      <p:sp>
        <p:nvSpPr>
          <p:cNvPr id="14" name="TextBox 13"/>
          <p:cNvSpPr txBox="1"/>
          <p:nvPr/>
        </p:nvSpPr>
        <p:spPr>
          <a:xfrm>
            <a:off x="4356100" y="2914650"/>
            <a:ext cx="3479800" cy="501650"/>
          </a:xfrm>
          <a:prstGeom prst="rect">
            <a:avLst/>
          </a:prstGeom>
          <a:noFill/>
        </p:spPr>
        <p:txBody>
          <a:bodyPr wrap="square" lIns="0" rIns="0" tIns="0" bIns="0" anchor="ctr">
            <a:noAutofit/>
          </a:bodyPr>
          <a:lstStyle/>
          <a:p>
            <a:pPr algn="ctr">
              <a:lnSpc>
                <a:spcPct val="110000"/>
              </a:lnSpc>
            </a:pPr>
            <a:r>
              <a:rPr sz="3600" b="1">
                <a:solidFill>
                  <a:srgbClr val="9A7430"/>
                </a:solidFill>
                <a:latin typeface="Yu Gothic"/>
                <a:ea typeface="Yu Gothic"/>
                <a:cs typeface="Yu Gothic"/>
              </a:rPr>
              <a:t>差が残る</a:t>
            </a:r>
          </a:p>
        </p:txBody>
      </p:sp>
      <p:sp>
        <p:nvSpPr>
          <p:cNvPr id="15" name="TextBox 14"/>
          <p:cNvSpPr txBox="1"/>
          <p:nvPr/>
        </p:nvSpPr>
        <p:spPr>
          <a:xfrm>
            <a:off x="4521200" y="3556000"/>
            <a:ext cx="3149600" cy="952500"/>
          </a:xfrm>
          <a:prstGeom prst="rect">
            <a:avLst/>
          </a:prstGeom>
          <a:noFill/>
        </p:spPr>
        <p:txBody>
          <a:bodyPr wrap="square" lIns="0" rIns="0" tIns="0" bIns="0" anchor="ctr">
            <a:noAutofit/>
          </a:bodyPr>
          <a:lstStyle/>
          <a:p>
            <a:pPr algn="ctr">
              <a:lnSpc>
                <a:spcPct val="140000"/>
              </a:lnSpc>
            </a:pPr>
            <a:r>
              <a:rPr sz="1650" b="1">
                <a:solidFill>
                  <a:srgbClr val="4A6154"/>
                </a:solidFill>
                <a:latin typeface="Yu Gothic"/>
                <a:ea typeface="Yu Gothic"/>
                <a:cs typeface="Yu Gothic"/>
              </a:rPr>
              <a:t>旨味は出ているのに、</a:t>
            </a:r>
          </a:p>
          <a:p>
            <a:pPr algn="ctr">
              <a:lnSpc>
                <a:spcPct val="140000"/>
              </a:lnSpc>
            </a:pPr>
            <a:r>
              <a:rPr sz="1650" b="1">
                <a:solidFill>
                  <a:srgbClr val="4A6154"/>
                </a:solidFill>
                <a:latin typeface="Yu Gothic"/>
                <a:ea typeface="Yu Gothic"/>
                <a:cs typeface="Yu Gothic"/>
              </a:rPr>
              <a:t>重い苦渋味は</a:t>
            </a:r>
          </a:p>
          <a:p>
            <a:pPr algn="ctr">
              <a:lnSpc>
                <a:spcPct val="140000"/>
              </a:lnSpc>
            </a:pPr>
            <a:r>
              <a:rPr sz="1650" b="1">
                <a:solidFill>
                  <a:srgbClr val="4A6154"/>
                </a:solidFill>
                <a:latin typeface="Yu Gothic"/>
                <a:ea typeface="Yu Gothic"/>
                <a:cs typeface="Yu Gothic"/>
              </a:rPr>
              <a:t>まだ大きく出ていない</a:t>
            </a:r>
          </a:p>
        </p:txBody>
      </p:sp>
      <p:sp>
        <p:nvSpPr>
          <p:cNvPr id="16" name="Rounded Rectangle 15"/>
          <p:cNvSpPr/>
          <p:nvPr/>
        </p:nvSpPr>
        <p:spPr>
          <a:xfrm>
            <a:off x="8051800" y="2222500"/>
            <a:ext cx="3479800" cy="2476500"/>
          </a:xfrm>
          <a:prstGeom prst="roundRect">
            <a:avLst>
              <a:gd name="adj" fmla="val 2564"/>
            </a:avLst>
          </a:prstGeom>
          <a:noFill/>
          <a:ln w="25400">
            <a:solidFill>
              <a:srgbClr val="8A9A9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51800" y="2489200"/>
            <a:ext cx="3479800" cy="361950"/>
          </a:xfrm>
          <a:prstGeom prst="rect">
            <a:avLst/>
          </a:prstGeom>
          <a:noFill/>
        </p:spPr>
        <p:txBody>
          <a:bodyPr wrap="square" lIns="0" rIns="0" tIns="0" bIns="0" anchor="ctr">
            <a:noAutofit/>
          </a:bodyPr>
          <a:lstStyle/>
          <a:p>
            <a:pPr algn="ctr">
              <a:lnSpc>
                <a:spcPct val="100000"/>
              </a:lnSpc>
            </a:pPr>
            <a:r>
              <a:rPr sz="1900" b="1" spc="227">
                <a:solidFill>
                  <a:srgbClr val="4A6154"/>
                </a:solidFill>
                <a:latin typeface="Yu Gothic"/>
                <a:ea typeface="Yu Gothic"/>
                <a:cs typeface="Yu Gothic"/>
              </a:rPr>
              <a:t>70℃</a:t>
            </a:r>
          </a:p>
        </p:txBody>
      </p:sp>
      <p:sp>
        <p:nvSpPr>
          <p:cNvPr id="18" name="TextBox 17"/>
          <p:cNvSpPr txBox="1"/>
          <p:nvPr/>
        </p:nvSpPr>
        <p:spPr>
          <a:xfrm>
            <a:off x="8051800" y="2914650"/>
            <a:ext cx="3479800" cy="501650"/>
          </a:xfrm>
          <a:prstGeom prst="rect">
            <a:avLst/>
          </a:prstGeom>
          <a:noFill/>
        </p:spPr>
        <p:txBody>
          <a:bodyPr wrap="square" lIns="0" rIns="0" tIns="0" bIns="0" anchor="ctr">
            <a:noAutofit/>
          </a:bodyPr>
          <a:lstStyle/>
          <a:p>
            <a:pPr algn="ctr">
              <a:lnSpc>
                <a:spcPct val="110000"/>
              </a:lnSpc>
            </a:pPr>
            <a:r>
              <a:rPr sz="3600" b="1">
                <a:solidFill>
                  <a:srgbClr val="4A6154"/>
                </a:solidFill>
                <a:latin typeface="Yu Gothic"/>
                <a:ea typeface="Yu Gothic"/>
                <a:cs typeface="Yu Gothic"/>
              </a:rPr>
              <a:t>差が縮む</a:t>
            </a:r>
          </a:p>
        </p:txBody>
      </p:sp>
      <p:sp>
        <p:nvSpPr>
          <p:cNvPr id="19" name="TextBox 18"/>
          <p:cNvSpPr txBox="1"/>
          <p:nvPr/>
        </p:nvSpPr>
        <p:spPr>
          <a:xfrm>
            <a:off x="8216900" y="3556000"/>
            <a:ext cx="3149600" cy="952500"/>
          </a:xfrm>
          <a:prstGeom prst="rect">
            <a:avLst/>
          </a:prstGeom>
          <a:noFill/>
        </p:spPr>
        <p:txBody>
          <a:bodyPr wrap="square" lIns="0" rIns="0" tIns="0" bIns="0" anchor="ctr">
            <a:noAutofit/>
          </a:bodyPr>
          <a:lstStyle/>
          <a:p>
            <a:pPr algn="ctr">
              <a:lnSpc>
                <a:spcPct val="140000"/>
              </a:lnSpc>
            </a:pPr>
            <a:r>
              <a:rPr sz="1650" b="1">
                <a:solidFill>
                  <a:srgbClr val="4A6154"/>
                </a:solidFill>
                <a:latin typeface="Yu Gothic"/>
                <a:ea typeface="Yu Gothic"/>
                <a:cs typeface="Yu Gothic"/>
              </a:rPr>
              <a:t>旨味も増えるが、</a:t>
            </a:r>
          </a:p>
          <a:p>
            <a:pPr algn="ctr">
              <a:lnSpc>
                <a:spcPct val="140000"/>
              </a:lnSpc>
            </a:pPr>
            <a:r>
              <a:rPr sz="1650" b="1">
                <a:solidFill>
                  <a:srgbClr val="4A6154"/>
                </a:solidFill>
                <a:latin typeface="Yu Gothic"/>
                <a:ea typeface="Yu Gothic"/>
                <a:cs typeface="Yu Gothic"/>
              </a:rPr>
              <a:t>重い苦渋味の</a:t>
            </a:r>
          </a:p>
          <a:p>
            <a:pPr algn="ctr">
              <a:lnSpc>
                <a:spcPct val="140000"/>
              </a:lnSpc>
            </a:pPr>
            <a:r>
              <a:rPr sz="1650" b="1">
                <a:solidFill>
                  <a:srgbClr val="4A6154"/>
                </a:solidFill>
                <a:latin typeface="Yu Gothic"/>
                <a:ea typeface="Yu Gothic"/>
                <a:cs typeface="Yu Gothic"/>
              </a:rPr>
              <a:t>増え方が上回る</a:t>
            </a:r>
          </a:p>
        </p:txBody>
      </p:sp>
      <p:sp>
        <p:nvSpPr>
          <p:cNvPr id="20" name="TextBox 19"/>
          <p:cNvSpPr txBox="1"/>
          <p:nvPr/>
        </p:nvSpPr>
        <p:spPr>
          <a:xfrm>
            <a:off x="660400" y="4749800"/>
            <a:ext cx="10871200" cy="558800"/>
          </a:xfrm>
          <a:prstGeom prst="rect">
            <a:avLst/>
          </a:prstGeom>
          <a:noFill/>
        </p:spPr>
        <p:txBody>
          <a:bodyPr wrap="square" lIns="0" rIns="0" tIns="0" bIns="0" anchor="ctr">
            <a:noAutofit/>
          </a:bodyPr>
          <a:lstStyle/>
          <a:p>
            <a:pPr algn="ctr">
              <a:lnSpc>
                <a:spcPct val="150000"/>
              </a:lnSpc>
            </a:pPr>
            <a:r>
              <a:rPr sz="1450" b="0">
                <a:solidFill>
                  <a:srgbClr val="4A6154"/>
                </a:solidFill>
                <a:latin typeface="Yu Gothic"/>
                <a:ea typeface="Yu Gothic"/>
                <a:cs typeface="Yu Gothic"/>
              </a:rPr>
              <a:t>坂本ら（2002）表2・表3（p.49）／深蒸し上級煎茶4g・湯120mL・1煎目60秒。50℃：テアニン40.5%／EGCg 6.9%　→　70℃：テアニン49.3%／EGCg 17.1%。40℃条件は論文になく、傾向からの判断。</a:t>
            </a:r>
          </a:p>
        </p:txBody>
      </p:sp>
      <p:sp>
        <p:nvSpPr>
          <p:cNvPr id="21" name="Rectangle 20"/>
          <p:cNvSpPr/>
          <p:nvPr/>
        </p:nvSpPr>
        <p:spPr>
          <a:xfrm>
            <a:off x="660400" y="5359400"/>
            <a:ext cx="10871200" cy="889000"/>
          </a:xfrm>
          <a:prstGeom prst="rect">
            <a:avLst/>
          </a:prstGeom>
          <a:solidFill>
            <a:srgbClr val="B4442A">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60400" y="5359400"/>
            <a:ext cx="63500" cy="889000"/>
          </a:xfrm>
          <a:prstGeom prst="rect">
            <a:avLst/>
          </a:prstGeom>
          <a:solidFill>
            <a:srgbClr val="B44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50900" y="5473700"/>
            <a:ext cx="10490200" cy="660400"/>
          </a:xfrm>
          <a:prstGeom prst="rect">
            <a:avLst/>
          </a:prstGeom>
          <a:noFill/>
        </p:spPr>
        <p:txBody>
          <a:bodyPr wrap="square" lIns="0" rIns="0" tIns="0" bIns="0" anchor="ctr">
            <a:noAutofit/>
          </a:bodyPr>
          <a:lstStyle/>
          <a:p>
            <a:pPr algn="l">
              <a:lnSpc>
                <a:spcPct val="145000"/>
              </a:lnSpc>
            </a:pPr>
            <a:r>
              <a:rPr sz="1800" b="0">
                <a:solidFill>
                  <a:srgbClr val="17372A"/>
                </a:solidFill>
                <a:latin typeface="Yu Gothic"/>
                <a:ea typeface="Yu Gothic"/>
                <a:cs typeface="Yu Gothic"/>
              </a:rPr>
              <a:t>言い方の境界：「50℃なら旨味だけが出る」とは言わない。低温でも溶出しやすい成分と、低温では溶出が遅い成分の差を利用している、と説明する。</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3E8"/>
        </a:solidFill>
        <a:effectLst/>
      </p:bgPr>
    </p:bg>
    <p:spTree>
      <p:nvGrpSpPr>
        <p:cNvPr id="1" name=""/>
        <p:cNvGrpSpPr/>
        <p:nvPr/>
      </p:nvGrpSpPr>
      <p:grpSpPr/>
      <p:sp>
        <p:nvSpPr>
          <p:cNvPr id="2" name="Rectangle 1"/>
          <p:cNvSpPr/>
          <p:nvPr/>
        </p:nvSpPr>
        <p:spPr>
          <a:xfrm>
            <a:off x="292100" y="292100"/>
            <a:ext cx="11607800" cy="6184900"/>
          </a:xfrm>
          <a:prstGeom prst="rect">
            <a:avLst/>
          </a:prstGeom>
          <a:noFill/>
          <a:ln w="12700">
            <a:solidFill>
              <a:srgbClr val="CBB5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60400" y="469900"/>
            <a:ext cx="10871200" cy="304800"/>
          </a:xfrm>
          <a:prstGeom prst="rect">
            <a:avLst/>
          </a:prstGeom>
          <a:noFill/>
        </p:spPr>
        <p:txBody>
          <a:bodyPr wrap="square" lIns="0" rIns="0" tIns="0" bIns="0" anchor="ctr">
            <a:noAutofit/>
          </a:bodyPr>
          <a:lstStyle/>
          <a:p>
            <a:pPr algn="l">
              <a:lnSpc>
                <a:spcPct val="100000"/>
              </a:lnSpc>
            </a:pPr>
            <a:r>
              <a:rPr sz="1900" b="1" spc="836">
                <a:solidFill>
                  <a:srgbClr val="9A7430"/>
                </a:solidFill>
                <a:latin typeface="Yu Gothic"/>
                <a:ea typeface="Yu Gothic"/>
                <a:cs typeface="Yu Gothic"/>
              </a:rPr>
              <a:t>Q&amp;A 02</a:t>
            </a:r>
          </a:p>
        </p:txBody>
      </p:sp>
      <p:sp>
        <p:nvSpPr>
          <p:cNvPr id="4" name="TextBox 3"/>
          <p:cNvSpPr txBox="1"/>
          <p:nvPr/>
        </p:nvSpPr>
        <p:spPr>
          <a:xfrm>
            <a:off x="660400" y="914400"/>
            <a:ext cx="10871200" cy="563880"/>
          </a:xfrm>
          <a:prstGeom prst="rect">
            <a:avLst/>
          </a:prstGeom>
          <a:noFill/>
        </p:spPr>
        <p:txBody>
          <a:bodyPr wrap="square" lIns="0" rIns="0" tIns="0" bIns="0" anchor="ctr">
            <a:noAutofit/>
          </a:bodyPr>
          <a:lstStyle/>
          <a:p>
            <a:pPr algn="l">
              <a:lnSpc>
                <a:spcPct val="120000"/>
              </a:lnSpc>
            </a:pPr>
            <a:r>
              <a:rPr sz="3700" b="1">
                <a:solidFill>
                  <a:srgbClr val="17372A"/>
                </a:solidFill>
                <a:latin typeface="Yu Gothic"/>
                <a:ea typeface="Yu Gothic"/>
                <a:cs typeface="Yu Gothic"/>
              </a:rPr>
              <a:t>なぜ最初の湯は 30mL なのか。</a:t>
            </a:r>
          </a:p>
        </p:txBody>
      </p:sp>
      <p:sp>
        <p:nvSpPr>
          <p:cNvPr id="5" name="Rectangle 4"/>
          <p:cNvSpPr/>
          <p:nvPr/>
        </p:nvSpPr>
        <p:spPr>
          <a:xfrm>
            <a:off x="660400" y="1617980"/>
            <a:ext cx="1270000" cy="25400"/>
          </a:xfrm>
          <a:prstGeom prst="rect">
            <a:avLst/>
          </a:prstGeom>
          <a:solidFill>
            <a:srgbClr val="9A7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930400" y="1617980"/>
            <a:ext cx="9601200" cy="25400"/>
          </a:xfrm>
          <a:prstGeom prst="rect">
            <a:avLst/>
          </a:prstGeom>
          <a:solidFill>
            <a:srgbClr val="8A9A90">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660400" y="2349500"/>
            <a:ext cx="3479800" cy="2476500"/>
          </a:xfrm>
          <a:prstGeom prst="roundRect">
            <a:avLst>
              <a:gd name="adj" fmla="val 2564"/>
            </a:avLst>
          </a:prstGeom>
          <a:noFill/>
          <a:ln w="25400">
            <a:solidFill>
              <a:srgbClr val="8A9A9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60400" y="2616200"/>
            <a:ext cx="3479800" cy="361950"/>
          </a:xfrm>
          <a:prstGeom prst="rect">
            <a:avLst/>
          </a:prstGeom>
          <a:noFill/>
        </p:spPr>
        <p:txBody>
          <a:bodyPr wrap="square" lIns="0" rIns="0" tIns="0" bIns="0" anchor="ctr">
            <a:noAutofit/>
          </a:bodyPr>
          <a:lstStyle/>
          <a:p>
            <a:pPr algn="ctr">
              <a:lnSpc>
                <a:spcPct val="100000"/>
              </a:lnSpc>
            </a:pPr>
            <a:r>
              <a:rPr sz="1900" b="1" spc="227">
                <a:solidFill>
                  <a:srgbClr val="4A6154"/>
                </a:solidFill>
                <a:latin typeface="Yu Gothic"/>
                <a:ea typeface="Yu Gothic"/>
                <a:cs typeface="Yu Gothic"/>
              </a:rPr>
              <a:t>20mL</a:t>
            </a:r>
          </a:p>
        </p:txBody>
      </p:sp>
      <p:sp>
        <p:nvSpPr>
          <p:cNvPr id="9" name="TextBox 8"/>
          <p:cNvSpPr txBox="1"/>
          <p:nvPr/>
        </p:nvSpPr>
        <p:spPr>
          <a:xfrm>
            <a:off x="660400" y="3041650"/>
            <a:ext cx="3479800" cy="615950"/>
          </a:xfrm>
          <a:prstGeom prst="rect">
            <a:avLst/>
          </a:prstGeom>
          <a:noFill/>
        </p:spPr>
        <p:txBody>
          <a:bodyPr wrap="square" lIns="0" rIns="0" tIns="0" bIns="0" anchor="ctr">
            <a:noAutofit/>
          </a:bodyPr>
          <a:lstStyle/>
          <a:p>
            <a:pPr algn="ctr">
              <a:lnSpc>
                <a:spcPct val="110000"/>
              </a:lnSpc>
            </a:pPr>
            <a:r>
              <a:rPr sz="4400" b="1">
                <a:solidFill>
                  <a:srgbClr val="4A6154"/>
                </a:solidFill>
                <a:latin typeface="Yu Gothic"/>
                <a:ea typeface="Yu Gothic"/>
                <a:cs typeface="Yu Gothic"/>
              </a:rPr>
              <a:t>約86℃</a:t>
            </a:r>
          </a:p>
        </p:txBody>
      </p:sp>
      <p:sp>
        <p:nvSpPr>
          <p:cNvPr id="10" name="TextBox 9"/>
          <p:cNvSpPr txBox="1"/>
          <p:nvPr/>
        </p:nvSpPr>
        <p:spPr>
          <a:xfrm>
            <a:off x="762000" y="3733800"/>
            <a:ext cx="3276600" cy="698500"/>
          </a:xfrm>
          <a:prstGeom prst="rect">
            <a:avLst/>
          </a:prstGeom>
          <a:noFill/>
        </p:spPr>
        <p:txBody>
          <a:bodyPr wrap="square" lIns="0" rIns="0" tIns="0" bIns="0" anchor="ctr">
            <a:noAutofit/>
          </a:bodyPr>
          <a:lstStyle/>
          <a:p>
            <a:pPr algn="ctr">
              <a:lnSpc>
                <a:spcPct val="140000"/>
              </a:lnSpc>
            </a:pPr>
            <a:r>
              <a:rPr sz="1500" b="1">
                <a:solidFill>
                  <a:srgbClr val="4A6154"/>
                </a:solidFill>
                <a:latin typeface="Yu Gothic"/>
                <a:ea typeface="Yu Gothic"/>
                <a:cs typeface="Yu Gothic"/>
              </a:rPr>
              <a:t>7gの茶葉を</a:t>
            </a:r>
          </a:p>
          <a:p>
            <a:pPr algn="ctr">
              <a:lnSpc>
                <a:spcPct val="140000"/>
              </a:lnSpc>
            </a:pPr>
            <a:r>
              <a:rPr sz="1500" b="1">
                <a:solidFill>
                  <a:srgbClr val="4A6154"/>
                </a:solidFill>
                <a:latin typeface="Yu Gothic"/>
                <a:ea typeface="Yu Gothic"/>
                <a:cs typeface="Yu Gothic"/>
              </a:rPr>
              <a:t>均一に濡らせない恐れ</a:t>
            </a:r>
          </a:p>
        </p:txBody>
      </p:sp>
      <p:sp>
        <p:nvSpPr>
          <p:cNvPr id="11" name="Rounded Rectangle 10"/>
          <p:cNvSpPr/>
          <p:nvPr/>
        </p:nvSpPr>
        <p:spPr>
          <a:xfrm>
            <a:off x="4356100" y="2349500"/>
            <a:ext cx="3479800" cy="2476500"/>
          </a:xfrm>
          <a:prstGeom prst="roundRect">
            <a:avLst>
              <a:gd name="adj" fmla="val 2564"/>
            </a:avLst>
          </a:prstGeom>
          <a:solidFill>
            <a:srgbClr val="FFFFFF"/>
          </a:solidFill>
          <a:ln w="38100">
            <a:solidFill>
              <a:srgbClr val="9A743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356100" y="2616200"/>
            <a:ext cx="3479800" cy="361950"/>
          </a:xfrm>
          <a:prstGeom prst="rect">
            <a:avLst/>
          </a:prstGeom>
          <a:noFill/>
        </p:spPr>
        <p:txBody>
          <a:bodyPr wrap="square" lIns="0" rIns="0" tIns="0" bIns="0" anchor="ctr">
            <a:noAutofit/>
          </a:bodyPr>
          <a:lstStyle/>
          <a:p>
            <a:pPr algn="ctr">
              <a:lnSpc>
                <a:spcPct val="100000"/>
              </a:lnSpc>
            </a:pPr>
            <a:r>
              <a:rPr sz="1900" b="1" spc="227">
                <a:solidFill>
                  <a:srgbClr val="9A7430"/>
                </a:solidFill>
                <a:latin typeface="Yu Gothic"/>
                <a:ea typeface="Yu Gothic"/>
                <a:cs typeface="Yu Gothic"/>
              </a:rPr>
              <a:t>30mL（採用）</a:t>
            </a:r>
          </a:p>
        </p:txBody>
      </p:sp>
      <p:sp>
        <p:nvSpPr>
          <p:cNvPr id="13" name="TextBox 12"/>
          <p:cNvSpPr txBox="1"/>
          <p:nvPr/>
        </p:nvSpPr>
        <p:spPr>
          <a:xfrm>
            <a:off x="4356100" y="3041650"/>
            <a:ext cx="3479800" cy="615950"/>
          </a:xfrm>
          <a:prstGeom prst="rect">
            <a:avLst/>
          </a:prstGeom>
          <a:noFill/>
        </p:spPr>
        <p:txBody>
          <a:bodyPr wrap="square" lIns="0" rIns="0" tIns="0" bIns="0" anchor="ctr">
            <a:noAutofit/>
          </a:bodyPr>
          <a:lstStyle/>
          <a:p>
            <a:pPr algn="ctr">
              <a:lnSpc>
                <a:spcPct val="110000"/>
              </a:lnSpc>
            </a:pPr>
            <a:r>
              <a:rPr sz="4400" b="1">
                <a:solidFill>
                  <a:srgbClr val="9A7430"/>
                </a:solidFill>
                <a:latin typeface="Yu Gothic"/>
                <a:ea typeface="Yu Gothic"/>
                <a:cs typeface="Yu Gothic"/>
              </a:rPr>
              <a:t>約84℃</a:t>
            </a:r>
          </a:p>
        </p:txBody>
      </p:sp>
      <p:sp>
        <p:nvSpPr>
          <p:cNvPr id="14" name="TextBox 13"/>
          <p:cNvSpPr txBox="1"/>
          <p:nvPr/>
        </p:nvSpPr>
        <p:spPr>
          <a:xfrm>
            <a:off x="4457700" y="3733800"/>
            <a:ext cx="3276600" cy="698500"/>
          </a:xfrm>
          <a:prstGeom prst="rect">
            <a:avLst/>
          </a:prstGeom>
          <a:noFill/>
        </p:spPr>
        <p:txBody>
          <a:bodyPr wrap="square" lIns="0" rIns="0" tIns="0" bIns="0" anchor="ctr">
            <a:noAutofit/>
          </a:bodyPr>
          <a:lstStyle/>
          <a:p>
            <a:pPr algn="ctr">
              <a:lnSpc>
                <a:spcPct val="140000"/>
              </a:lnSpc>
            </a:pPr>
            <a:r>
              <a:rPr sz="1500" b="1">
                <a:solidFill>
                  <a:srgbClr val="4A6154"/>
                </a:solidFill>
                <a:latin typeface="Yu Gothic"/>
                <a:ea typeface="Yu Gothic"/>
                <a:cs typeface="Yu Gothic"/>
              </a:rPr>
              <a:t>ひたひたに濡らす実用性と、</a:t>
            </a:r>
          </a:p>
          <a:p>
            <a:pPr algn="ctr">
              <a:lnSpc>
                <a:spcPct val="140000"/>
              </a:lnSpc>
            </a:pPr>
            <a:r>
              <a:rPr sz="1500" b="1">
                <a:solidFill>
                  <a:srgbClr val="4A6154"/>
                </a:solidFill>
                <a:latin typeface="Yu Gothic"/>
                <a:ea typeface="Yu Gothic"/>
                <a:cs typeface="Yu Gothic"/>
              </a:rPr>
              <a:t>追い湯後の温度の立ち上がりを両立</a:t>
            </a:r>
          </a:p>
        </p:txBody>
      </p:sp>
      <p:sp>
        <p:nvSpPr>
          <p:cNvPr id="15" name="Rounded Rectangle 14"/>
          <p:cNvSpPr/>
          <p:nvPr/>
        </p:nvSpPr>
        <p:spPr>
          <a:xfrm>
            <a:off x="8051800" y="2349500"/>
            <a:ext cx="3479800" cy="2476500"/>
          </a:xfrm>
          <a:prstGeom prst="roundRect">
            <a:avLst>
              <a:gd name="adj" fmla="val 2564"/>
            </a:avLst>
          </a:prstGeom>
          <a:noFill/>
          <a:ln w="25400">
            <a:solidFill>
              <a:srgbClr val="8A9A9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51800" y="2616200"/>
            <a:ext cx="3479800" cy="361950"/>
          </a:xfrm>
          <a:prstGeom prst="rect">
            <a:avLst/>
          </a:prstGeom>
          <a:noFill/>
        </p:spPr>
        <p:txBody>
          <a:bodyPr wrap="square" lIns="0" rIns="0" tIns="0" bIns="0" anchor="ctr">
            <a:noAutofit/>
          </a:bodyPr>
          <a:lstStyle/>
          <a:p>
            <a:pPr algn="ctr">
              <a:lnSpc>
                <a:spcPct val="100000"/>
              </a:lnSpc>
            </a:pPr>
            <a:r>
              <a:rPr sz="1900" b="1" spc="227">
                <a:solidFill>
                  <a:srgbClr val="4A6154"/>
                </a:solidFill>
                <a:latin typeface="Yu Gothic"/>
                <a:ea typeface="Yu Gothic"/>
                <a:cs typeface="Yu Gothic"/>
              </a:rPr>
              <a:t>40mL</a:t>
            </a:r>
          </a:p>
        </p:txBody>
      </p:sp>
      <p:sp>
        <p:nvSpPr>
          <p:cNvPr id="17" name="TextBox 16"/>
          <p:cNvSpPr txBox="1"/>
          <p:nvPr/>
        </p:nvSpPr>
        <p:spPr>
          <a:xfrm>
            <a:off x="8051800" y="3041650"/>
            <a:ext cx="3479800" cy="615950"/>
          </a:xfrm>
          <a:prstGeom prst="rect">
            <a:avLst/>
          </a:prstGeom>
          <a:noFill/>
        </p:spPr>
        <p:txBody>
          <a:bodyPr wrap="square" lIns="0" rIns="0" tIns="0" bIns="0" anchor="ctr">
            <a:noAutofit/>
          </a:bodyPr>
          <a:lstStyle/>
          <a:p>
            <a:pPr algn="ctr">
              <a:lnSpc>
                <a:spcPct val="110000"/>
              </a:lnSpc>
            </a:pPr>
            <a:r>
              <a:rPr sz="4400" b="1">
                <a:solidFill>
                  <a:srgbClr val="4A6154"/>
                </a:solidFill>
                <a:latin typeface="Yu Gothic"/>
                <a:ea typeface="Yu Gothic"/>
                <a:cs typeface="Yu Gothic"/>
              </a:rPr>
              <a:t>約82℃</a:t>
            </a:r>
          </a:p>
        </p:txBody>
      </p:sp>
      <p:sp>
        <p:nvSpPr>
          <p:cNvPr id="18" name="TextBox 17"/>
          <p:cNvSpPr txBox="1"/>
          <p:nvPr/>
        </p:nvSpPr>
        <p:spPr>
          <a:xfrm>
            <a:off x="8153400" y="3733800"/>
            <a:ext cx="3276600" cy="698500"/>
          </a:xfrm>
          <a:prstGeom prst="rect">
            <a:avLst/>
          </a:prstGeom>
          <a:noFill/>
        </p:spPr>
        <p:txBody>
          <a:bodyPr wrap="square" lIns="0" rIns="0" tIns="0" bIns="0" anchor="ctr">
            <a:noAutofit/>
          </a:bodyPr>
          <a:lstStyle/>
          <a:p>
            <a:pPr algn="ctr">
              <a:lnSpc>
                <a:spcPct val="140000"/>
              </a:lnSpc>
            </a:pPr>
            <a:r>
              <a:rPr sz="1500" b="1">
                <a:solidFill>
                  <a:srgbClr val="4A6154"/>
                </a:solidFill>
                <a:latin typeface="Yu Gothic"/>
                <a:ea typeface="Yu Gothic"/>
                <a:cs typeface="Yu Gothic"/>
              </a:rPr>
              <a:t>低温相の液量が増え、</a:t>
            </a:r>
          </a:p>
          <a:p>
            <a:pPr algn="ctr">
              <a:lnSpc>
                <a:spcPct val="140000"/>
              </a:lnSpc>
            </a:pPr>
            <a:r>
              <a:rPr sz="1500" b="1">
                <a:solidFill>
                  <a:srgbClr val="4A6154"/>
                </a:solidFill>
                <a:latin typeface="Yu Gothic"/>
                <a:ea typeface="Yu Gothic"/>
                <a:cs typeface="Yu Gothic"/>
              </a:rPr>
              <a:t>混合温度が下がる</a:t>
            </a:r>
          </a:p>
        </p:txBody>
      </p:sp>
      <p:sp>
        <p:nvSpPr>
          <p:cNvPr id="19" name="TextBox 18"/>
          <p:cNvSpPr txBox="1"/>
          <p:nvPr/>
        </p:nvSpPr>
        <p:spPr>
          <a:xfrm>
            <a:off x="660400" y="4953000"/>
            <a:ext cx="10871200" cy="285750"/>
          </a:xfrm>
          <a:prstGeom prst="rect">
            <a:avLst/>
          </a:prstGeom>
          <a:noFill/>
        </p:spPr>
        <p:txBody>
          <a:bodyPr wrap="square" lIns="0" rIns="0" tIns="0" bIns="0" anchor="ctr">
            <a:noAutofit/>
          </a:bodyPr>
          <a:lstStyle/>
          <a:p>
            <a:pPr algn="ctr">
              <a:lnSpc>
                <a:spcPct val="150000"/>
              </a:lnSpc>
            </a:pPr>
            <a:r>
              <a:rPr sz="1500" b="0">
                <a:solidFill>
                  <a:srgbClr val="4A6154"/>
                </a:solidFill>
                <a:latin typeface="Yu Gothic"/>
                <a:ea typeface="Yu Gothic"/>
                <a:cs typeface="Yu Gothic"/>
              </a:rPr>
              <a:t>※ 90℃の湯を加えたときの、熱損失を無視した単純混合温度。</a:t>
            </a:r>
          </a:p>
        </p:txBody>
      </p:sp>
      <p:sp>
        <p:nvSpPr>
          <p:cNvPr id="20" name="Rectangle 19"/>
          <p:cNvSpPr/>
          <p:nvPr/>
        </p:nvSpPr>
        <p:spPr>
          <a:xfrm>
            <a:off x="660400" y="5359400"/>
            <a:ext cx="10871200" cy="889000"/>
          </a:xfrm>
          <a:prstGeom prst="rect">
            <a:avLst/>
          </a:prstGeom>
          <a:solidFill>
            <a:srgbClr val="B4442A">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60400" y="5359400"/>
            <a:ext cx="63500" cy="889000"/>
          </a:xfrm>
          <a:prstGeom prst="rect">
            <a:avLst/>
          </a:prstGeom>
          <a:solidFill>
            <a:srgbClr val="B44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50900" y="5473700"/>
            <a:ext cx="10490200" cy="660400"/>
          </a:xfrm>
          <a:prstGeom prst="rect">
            <a:avLst/>
          </a:prstGeom>
          <a:noFill/>
        </p:spPr>
        <p:txBody>
          <a:bodyPr wrap="square" lIns="0" rIns="0" tIns="0" bIns="0" anchor="ctr">
            <a:noAutofit/>
          </a:bodyPr>
          <a:lstStyle/>
          <a:p>
            <a:pPr algn="l">
              <a:lnSpc>
                <a:spcPct val="145000"/>
              </a:lnSpc>
            </a:pPr>
            <a:r>
              <a:rPr sz="1800" b="0">
                <a:solidFill>
                  <a:srgbClr val="17372A"/>
                </a:solidFill>
                <a:latin typeface="Yu Gothic"/>
                <a:ea typeface="Yu Gothic"/>
                <a:cs typeface="Yu Gothic"/>
              </a:rPr>
              <a:t>言い方の境界：「30mLは科学的に導出された最適湯量」とは言わない。原理は研究から、具体値は実飲から決めた、と説明する。</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3E8"/>
        </a:solidFill>
        <a:effectLst/>
      </p:bgPr>
    </p:bg>
    <p:spTree>
      <p:nvGrpSpPr>
        <p:cNvPr id="1" name=""/>
        <p:cNvGrpSpPr/>
        <p:nvPr/>
      </p:nvGrpSpPr>
      <p:grpSpPr/>
      <p:sp>
        <p:nvSpPr>
          <p:cNvPr id="2" name="Rectangle 1"/>
          <p:cNvSpPr/>
          <p:nvPr/>
        </p:nvSpPr>
        <p:spPr>
          <a:xfrm>
            <a:off x="292100" y="292100"/>
            <a:ext cx="11607800" cy="6184900"/>
          </a:xfrm>
          <a:prstGeom prst="rect">
            <a:avLst/>
          </a:prstGeom>
          <a:noFill/>
          <a:ln w="12700">
            <a:solidFill>
              <a:srgbClr val="CBB5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60400" y="469900"/>
            <a:ext cx="10871200" cy="304800"/>
          </a:xfrm>
          <a:prstGeom prst="rect">
            <a:avLst/>
          </a:prstGeom>
          <a:noFill/>
        </p:spPr>
        <p:txBody>
          <a:bodyPr wrap="square" lIns="0" rIns="0" tIns="0" bIns="0" anchor="ctr">
            <a:noAutofit/>
          </a:bodyPr>
          <a:lstStyle/>
          <a:p>
            <a:pPr algn="l">
              <a:lnSpc>
                <a:spcPct val="100000"/>
              </a:lnSpc>
            </a:pPr>
            <a:r>
              <a:rPr sz="1900" b="1" spc="836">
                <a:solidFill>
                  <a:srgbClr val="9A7430"/>
                </a:solidFill>
                <a:latin typeface="Yu Gothic"/>
                <a:ea typeface="Yu Gothic"/>
                <a:cs typeface="Yu Gothic"/>
              </a:rPr>
              <a:t>Q&amp;A 03</a:t>
            </a:r>
          </a:p>
        </p:txBody>
      </p:sp>
      <p:sp>
        <p:nvSpPr>
          <p:cNvPr id="4" name="TextBox 3"/>
          <p:cNvSpPr txBox="1"/>
          <p:nvPr/>
        </p:nvSpPr>
        <p:spPr>
          <a:xfrm>
            <a:off x="660400" y="914400"/>
            <a:ext cx="10871200" cy="502920"/>
          </a:xfrm>
          <a:prstGeom prst="rect">
            <a:avLst/>
          </a:prstGeom>
          <a:noFill/>
        </p:spPr>
        <p:txBody>
          <a:bodyPr wrap="square" lIns="0" rIns="0" tIns="0" bIns="0" anchor="ctr">
            <a:noAutofit/>
          </a:bodyPr>
          <a:lstStyle/>
          <a:p>
            <a:pPr algn="l">
              <a:lnSpc>
                <a:spcPct val="120000"/>
              </a:lnSpc>
            </a:pPr>
            <a:r>
              <a:rPr sz="3300" b="1">
                <a:solidFill>
                  <a:srgbClr val="17372A"/>
                </a:solidFill>
                <a:latin typeface="Yu Gothic"/>
                <a:ea typeface="Yu Gothic"/>
                <a:cs typeface="Yu Gothic"/>
              </a:rPr>
              <a:t>なぜ二煎目は 90℃・10秒 なのか。</a:t>
            </a:r>
          </a:p>
        </p:txBody>
      </p:sp>
      <p:sp>
        <p:nvSpPr>
          <p:cNvPr id="5" name="Rectangle 4"/>
          <p:cNvSpPr/>
          <p:nvPr/>
        </p:nvSpPr>
        <p:spPr>
          <a:xfrm>
            <a:off x="660400" y="1557020"/>
            <a:ext cx="1270000" cy="25400"/>
          </a:xfrm>
          <a:prstGeom prst="rect">
            <a:avLst/>
          </a:prstGeom>
          <a:solidFill>
            <a:srgbClr val="9A7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930400" y="1557020"/>
            <a:ext cx="9601200" cy="25400"/>
          </a:xfrm>
          <a:prstGeom prst="rect">
            <a:avLst/>
          </a:prstGeom>
          <a:solidFill>
            <a:srgbClr val="8A9A90">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1708150"/>
            <a:ext cx="10871200" cy="368300"/>
          </a:xfrm>
          <a:prstGeom prst="rect">
            <a:avLst/>
          </a:prstGeom>
          <a:noFill/>
        </p:spPr>
        <p:txBody>
          <a:bodyPr wrap="square" lIns="0" rIns="0" tIns="0" bIns="0" anchor="ctr">
            <a:noAutofit/>
          </a:bodyPr>
          <a:lstStyle/>
          <a:p>
            <a:pPr algn="ctr">
              <a:lnSpc>
                <a:spcPct val="120000"/>
              </a:lnSpc>
            </a:pPr>
            <a:r>
              <a:rPr sz="1800" b="1">
                <a:solidFill>
                  <a:srgbClr val="4A6154"/>
                </a:solidFill>
                <a:latin typeface="Yu Gothic"/>
                <a:ea typeface="Yu Gothic"/>
                <a:cs typeface="Yu Gothic"/>
              </a:rPr>
              <a:t>吸水済みの茶葉なら、90℃・10秒 でもこれだけ追加で出る（同じ茶葉での連続抽出）</a:t>
            </a:r>
          </a:p>
        </p:txBody>
      </p:sp>
      <p:sp>
        <p:nvSpPr>
          <p:cNvPr id="8" name="Rectangle 7"/>
          <p:cNvSpPr/>
          <p:nvPr/>
        </p:nvSpPr>
        <p:spPr>
          <a:xfrm>
            <a:off x="3556000" y="2286000"/>
            <a:ext cx="215900" cy="139700"/>
          </a:xfrm>
          <a:prstGeom prst="rect">
            <a:avLst/>
          </a:prstGeom>
          <a:solidFill>
            <a:srgbClr val="173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848100" y="2178050"/>
            <a:ext cx="2667000" cy="330200"/>
          </a:xfrm>
          <a:prstGeom prst="rect">
            <a:avLst/>
          </a:prstGeom>
          <a:noFill/>
        </p:spPr>
        <p:txBody>
          <a:bodyPr wrap="square" lIns="0" rIns="0" tIns="0" bIns="0" anchor="ctr">
            <a:noAutofit/>
          </a:bodyPr>
          <a:lstStyle/>
          <a:p>
            <a:pPr algn="l">
              <a:lnSpc>
                <a:spcPct val="100000"/>
              </a:lnSpc>
            </a:pPr>
            <a:r>
              <a:rPr sz="1700" b="1">
                <a:solidFill>
                  <a:srgbClr val="17372A"/>
                </a:solidFill>
                <a:latin typeface="Yu Gothic"/>
                <a:ea typeface="Yu Gothic"/>
                <a:cs typeface="Yu Gothic"/>
              </a:rPr>
              <a:t>1煎目 90℃・60秒</a:t>
            </a:r>
          </a:p>
        </p:txBody>
      </p:sp>
      <p:sp>
        <p:nvSpPr>
          <p:cNvPr id="10" name="Rectangle 9"/>
          <p:cNvSpPr/>
          <p:nvPr/>
        </p:nvSpPr>
        <p:spPr>
          <a:xfrm>
            <a:off x="6350000" y="2286000"/>
            <a:ext cx="215900" cy="139700"/>
          </a:xfrm>
          <a:prstGeom prst="rect">
            <a:avLst/>
          </a:prstGeom>
          <a:solidFill>
            <a:srgbClr val="B44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642100" y="2178050"/>
            <a:ext cx="3302000" cy="330200"/>
          </a:xfrm>
          <a:prstGeom prst="rect">
            <a:avLst/>
          </a:prstGeom>
          <a:noFill/>
        </p:spPr>
        <p:txBody>
          <a:bodyPr wrap="square" lIns="0" rIns="0" tIns="0" bIns="0" anchor="ctr">
            <a:noAutofit/>
          </a:bodyPr>
          <a:lstStyle/>
          <a:p>
            <a:pPr algn="l">
              <a:lnSpc>
                <a:spcPct val="100000"/>
              </a:lnSpc>
            </a:pPr>
            <a:r>
              <a:rPr sz="1700" b="1">
                <a:solidFill>
                  <a:srgbClr val="17372A"/>
                </a:solidFill>
                <a:latin typeface="Yu Gothic"/>
                <a:ea typeface="Yu Gothic"/>
                <a:cs typeface="Yu Gothic"/>
              </a:rPr>
              <a:t>2煎目 90℃・10秒の追加分</a:t>
            </a:r>
          </a:p>
        </p:txBody>
      </p:sp>
      <p:sp>
        <p:nvSpPr>
          <p:cNvPr id="12" name="TextBox 11"/>
          <p:cNvSpPr txBox="1"/>
          <p:nvPr/>
        </p:nvSpPr>
        <p:spPr>
          <a:xfrm>
            <a:off x="660400" y="2584450"/>
            <a:ext cx="2730500" cy="533400"/>
          </a:xfrm>
          <a:prstGeom prst="rect">
            <a:avLst/>
          </a:prstGeom>
          <a:noFill/>
        </p:spPr>
        <p:txBody>
          <a:bodyPr wrap="square" lIns="0" rIns="0" tIns="0" bIns="0" anchor="ctr">
            <a:noAutofit/>
          </a:bodyPr>
          <a:lstStyle/>
          <a:p>
            <a:pPr algn="r">
              <a:lnSpc>
                <a:spcPct val="120000"/>
              </a:lnSpc>
            </a:pPr>
            <a:r>
              <a:rPr sz="2200" b="1">
                <a:solidFill>
                  <a:srgbClr val="17372A"/>
                </a:solidFill>
                <a:latin typeface="Yu Gothic"/>
                <a:ea typeface="Yu Gothic"/>
                <a:cs typeface="Yu Gothic"/>
              </a:rPr>
              <a:t>EGC</a:t>
            </a:r>
          </a:p>
          <a:p>
            <a:pPr algn="r">
              <a:lnSpc>
                <a:spcPct val="120000"/>
              </a:lnSpc>
            </a:pPr>
            <a:r>
              <a:rPr sz="1300" b="1">
                <a:solidFill>
                  <a:srgbClr val="4A6154"/>
                </a:solidFill>
                <a:latin typeface="Yu Gothic"/>
                <a:ea typeface="Yu Gothic"/>
                <a:cs typeface="Yu Gothic"/>
              </a:rPr>
              <a:t>遊離型／爽やかな渋み</a:t>
            </a:r>
          </a:p>
        </p:txBody>
      </p:sp>
      <p:sp>
        <p:nvSpPr>
          <p:cNvPr id="13" name="Rectangle 12"/>
          <p:cNvSpPr/>
          <p:nvPr/>
        </p:nvSpPr>
        <p:spPr>
          <a:xfrm>
            <a:off x="3581400" y="2660650"/>
            <a:ext cx="5372100" cy="381000"/>
          </a:xfrm>
          <a:prstGeom prst="rect">
            <a:avLst/>
          </a:prstGeom>
          <a:solidFill>
            <a:srgbClr val="8A9A9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3581400" y="2660650"/>
            <a:ext cx="2368550" cy="381000"/>
          </a:xfrm>
          <a:prstGeom prst="rect">
            <a:avLst/>
          </a:prstGeom>
          <a:solidFill>
            <a:srgbClr val="173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949950" y="2660650"/>
            <a:ext cx="1879600" cy="381000"/>
          </a:xfrm>
          <a:prstGeom prst="rect">
            <a:avLst/>
          </a:prstGeom>
          <a:solidFill>
            <a:srgbClr val="B44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080500" y="2660650"/>
            <a:ext cx="2451100" cy="381000"/>
          </a:xfrm>
          <a:prstGeom prst="rect">
            <a:avLst/>
          </a:prstGeom>
          <a:noFill/>
        </p:spPr>
        <p:txBody>
          <a:bodyPr wrap="none" lIns="0" rIns="0" tIns="0" bIns="0" anchor="ctr">
            <a:noAutofit/>
          </a:bodyPr>
          <a:lstStyle/>
          <a:p>
            <a:pPr algn="l">
              <a:lnSpc>
                <a:spcPct val="100000"/>
              </a:lnSpc>
            </a:pPr>
            <a:r>
              <a:rPr sz="1700" b="1">
                <a:solidFill>
                  <a:srgbClr val="17372A"/>
                </a:solidFill>
                <a:latin typeface="Yu Gothic"/>
                <a:ea typeface="Yu Gothic"/>
                <a:cs typeface="Yu Gothic"/>
              </a:rPr>
              <a:t>44.2% </a:t>
            </a:r>
            <a:r>
              <a:rPr sz="1700" b="1">
                <a:solidFill>
                  <a:srgbClr val="B4442A"/>
                </a:solidFill>
                <a:latin typeface="Yu Gothic"/>
                <a:ea typeface="Yu Gothic"/>
                <a:cs typeface="Yu Gothic"/>
              </a:rPr>
              <a:t>+35.0</a:t>
            </a:r>
            <a:r>
              <a:rPr sz="1700" b="1">
                <a:solidFill>
                  <a:srgbClr val="17372A"/>
                </a:solidFill>
                <a:latin typeface="Yu Gothic"/>
                <a:ea typeface="Yu Gothic"/>
                <a:cs typeface="Yu Gothic"/>
              </a:rPr>
              <a:t> → 79.2%</a:t>
            </a:r>
          </a:p>
        </p:txBody>
      </p:sp>
      <p:sp>
        <p:nvSpPr>
          <p:cNvPr id="17" name="TextBox 16"/>
          <p:cNvSpPr txBox="1"/>
          <p:nvPr/>
        </p:nvSpPr>
        <p:spPr>
          <a:xfrm>
            <a:off x="660400" y="3117850"/>
            <a:ext cx="2730500" cy="533400"/>
          </a:xfrm>
          <a:prstGeom prst="rect">
            <a:avLst/>
          </a:prstGeom>
          <a:noFill/>
        </p:spPr>
        <p:txBody>
          <a:bodyPr wrap="square" lIns="0" rIns="0" tIns="0" bIns="0" anchor="ctr">
            <a:noAutofit/>
          </a:bodyPr>
          <a:lstStyle/>
          <a:p>
            <a:pPr algn="r">
              <a:lnSpc>
                <a:spcPct val="120000"/>
              </a:lnSpc>
            </a:pPr>
            <a:r>
              <a:rPr sz="2200" b="1">
                <a:solidFill>
                  <a:srgbClr val="17372A"/>
                </a:solidFill>
                <a:latin typeface="Yu Gothic"/>
                <a:ea typeface="Yu Gothic"/>
                <a:cs typeface="Yu Gothic"/>
              </a:rPr>
              <a:t>EGCg</a:t>
            </a:r>
          </a:p>
          <a:p>
            <a:pPr algn="r">
              <a:lnSpc>
                <a:spcPct val="120000"/>
              </a:lnSpc>
            </a:pPr>
            <a:r>
              <a:rPr sz="1300" b="1">
                <a:solidFill>
                  <a:srgbClr val="4A6154"/>
                </a:solidFill>
                <a:latin typeface="Yu Gothic"/>
                <a:ea typeface="Yu Gothic"/>
                <a:cs typeface="Yu Gothic"/>
              </a:rPr>
              <a:t>ガレート型／重い苦渋味</a:t>
            </a:r>
          </a:p>
        </p:txBody>
      </p:sp>
      <p:sp>
        <p:nvSpPr>
          <p:cNvPr id="18" name="Rectangle 17"/>
          <p:cNvSpPr/>
          <p:nvPr/>
        </p:nvSpPr>
        <p:spPr>
          <a:xfrm>
            <a:off x="3581400" y="3194050"/>
            <a:ext cx="5372100" cy="381000"/>
          </a:xfrm>
          <a:prstGeom prst="rect">
            <a:avLst/>
          </a:prstGeom>
          <a:solidFill>
            <a:srgbClr val="8A9A9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3581400" y="3194050"/>
            <a:ext cx="1689100" cy="381000"/>
          </a:xfrm>
          <a:prstGeom prst="rect">
            <a:avLst/>
          </a:prstGeom>
          <a:solidFill>
            <a:srgbClr val="173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5270500" y="3194050"/>
            <a:ext cx="825500" cy="381000"/>
          </a:xfrm>
          <a:prstGeom prst="rect">
            <a:avLst/>
          </a:prstGeom>
          <a:solidFill>
            <a:srgbClr val="B44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080500" y="3194050"/>
            <a:ext cx="2451100" cy="381000"/>
          </a:xfrm>
          <a:prstGeom prst="rect">
            <a:avLst/>
          </a:prstGeom>
          <a:noFill/>
        </p:spPr>
        <p:txBody>
          <a:bodyPr wrap="none" lIns="0" rIns="0" tIns="0" bIns="0" anchor="ctr">
            <a:noAutofit/>
          </a:bodyPr>
          <a:lstStyle/>
          <a:p>
            <a:pPr algn="l">
              <a:lnSpc>
                <a:spcPct val="100000"/>
              </a:lnSpc>
            </a:pPr>
            <a:r>
              <a:rPr sz="1700" b="1">
                <a:solidFill>
                  <a:srgbClr val="17372A"/>
                </a:solidFill>
                <a:latin typeface="Yu Gothic"/>
                <a:ea typeface="Yu Gothic"/>
                <a:cs typeface="Yu Gothic"/>
              </a:rPr>
              <a:t>31.5% </a:t>
            </a:r>
            <a:r>
              <a:rPr sz="1700" b="1">
                <a:solidFill>
                  <a:srgbClr val="B4442A"/>
                </a:solidFill>
                <a:latin typeface="Yu Gothic"/>
                <a:ea typeface="Yu Gothic"/>
                <a:cs typeface="Yu Gothic"/>
              </a:rPr>
              <a:t>+15.4</a:t>
            </a:r>
            <a:r>
              <a:rPr sz="1700" b="1">
                <a:solidFill>
                  <a:srgbClr val="17372A"/>
                </a:solidFill>
                <a:latin typeface="Yu Gothic"/>
                <a:ea typeface="Yu Gothic"/>
                <a:cs typeface="Yu Gothic"/>
              </a:rPr>
              <a:t> → 46.9%</a:t>
            </a:r>
          </a:p>
        </p:txBody>
      </p:sp>
      <p:sp>
        <p:nvSpPr>
          <p:cNvPr id="22" name="TextBox 21"/>
          <p:cNvSpPr txBox="1"/>
          <p:nvPr/>
        </p:nvSpPr>
        <p:spPr>
          <a:xfrm>
            <a:off x="660400" y="3651250"/>
            <a:ext cx="2730500" cy="533400"/>
          </a:xfrm>
          <a:prstGeom prst="rect">
            <a:avLst/>
          </a:prstGeom>
          <a:noFill/>
        </p:spPr>
        <p:txBody>
          <a:bodyPr wrap="square" lIns="0" rIns="0" tIns="0" bIns="0" anchor="ctr">
            <a:noAutofit/>
          </a:bodyPr>
          <a:lstStyle/>
          <a:p>
            <a:pPr algn="r">
              <a:lnSpc>
                <a:spcPct val="120000"/>
              </a:lnSpc>
            </a:pPr>
            <a:r>
              <a:rPr sz="2200" b="1">
                <a:solidFill>
                  <a:srgbClr val="17372A"/>
                </a:solidFill>
                <a:latin typeface="Yu Gothic"/>
                <a:ea typeface="Yu Gothic"/>
                <a:cs typeface="Yu Gothic"/>
              </a:rPr>
              <a:t>カフェイン</a:t>
            </a:r>
          </a:p>
          <a:p>
            <a:pPr algn="r">
              <a:lnSpc>
                <a:spcPct val="120000"/>
              </a:lnSpc>
            </a:pPr>
            <a:r>
              <a:rPr sz="1300" b="1">
                <a:solidFill>
                  <a:srgbClr val="4A6154"/>
                </a:solidFill>
                <a:latin typeface="Yu Gothic"/>
                <a:ea typeface="Yu Gothic"/>
                <a:cs typeface="Yu Gothic"/>
              </a:rPr>
              <a:t>苦味</a:t>
            </a:r>
          </a:p>
        </p:txBody>
      </p:sp>
      <p:sp>
        <p:nvSpPr>
          <p:cNvPr id="23" name="Rectangle 22"/>
          <p:cNvSpPr/>
          <p:nvPr/>
        </p:nvSpPr>
        <p:spPr>
          <a:xfrm>
            <a:off x="3581400" y="3727450"/>
            <a:ext cx="5372100" cy="381000"/>
          </a:xfrm>
          <a:prstGeom prst="rect">
            <a:avLst/>
          </a:prstGeom>
          <a:solidFill>
            <a:srgbClr val="8A9A9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3581400" y="3727450"/>
            <a:ext cx="3365500" cy="381000"/>
          </a:xfrm>
          <a:prstGeom prst="rect">
            <a:avLst/>
          </a:prstGeom>
          <a:solidFill>
            <a:srgbClr val="173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946900" y="3727450"/>
            <a:ext cx="1079500" cy="381000"/>
          </a:xfrm>
          <a:prstGeom prst="rect">
            <a:avLst/>
          </a:prstGeom>
          <a:solidFill>
            <a:srgbClr val="B44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080500" y="3727450"/>
            <a:ext cx="2451100" cy="381000"/>
          </a:xfrm>
          <a:prstGeom prst="rect">
            <a:avLst/>
          </a:prstGeom>
          <a:noFill/>
        </p:spPr>
        <p:txBody>
          <a:bodyPr wrap="none" lIns="0" rIns="0" tIns="0" bIns="0" anchor="ctr">
            <a:noAutofit/>
          </a:bodyPr>
          <a:lstStyle/>
          <a:p>
            <a:pPr algn="l">
              <a:lnSpc>
                <a:spcPct val="100000"/>
              </a:lnSpc>
            </a:pPr>
            <a:r>
              <a:rPr sz="1700" b="1">
                <a:solidFill>
                  <a:srgbClr val="17372A"/>
                </a:solidFill>
                <a:latin typeface="Yu Gothic"/>
                <a:ea typeface="Yu Gothic"/>
                <a:cs typeface="Yu Gothic"/>
              </a:rPr>
              <a:t>62.7% </a:t>
            </a:r>
            <a:r>
              <a:rPr sz="1700" b="1">
                <a:solidFill>
                  <a:srgbClr val="B4442A"/>
                </a:solidFill>
                <a:latin typeface="Yu Gothic"/>
                <a:ea typeface="Yu Gothic"/>
                <a:cs typeface="Yu Gothic"/>
              </a:rPr>
              <a:t>+20.1</a:t>
            </a:r>
            <a:r>
              <a:rPr sz="1700" b="1">
                <a:solidFill>
                  <a:srgbClr val="17372A"/>
                </a:solidFill>
                <a:latin typeface="Yu Gothic"/>
                <a:ea typeface="Yu Gothic"/>
                <a:cs typeface="Yu Gothic"/>
              </a:rPr>
              <a:t> → 82.8%</a:t>
            </a:r>
          </a:p>
        </p:txBody>
      </p:sp>
      <p:sp>
        <p:nvSpPr>
          <p:cNvPr id="27" name="TextBox 26"/>
          <p:cNvSpPr txBox="1"/>
          <p:nvPr/>
        </p:nvSpPr>
        <p:spPr>
          <a:xfrm>
            <a:off x="660400" y="4381500"/>
            <a:ext cx="10871200" cy="838200"/>
          </a:xfrm>
          <a:prstGeom prst="rect">
            <a:avLst/>
          </a:prstGeom>
          <a:noFill/>
        </p:spPr>
        <p:txBody>
          <a:bodyPr wrap="square" lIns="0" rIns="0" tIns="0" bIns="0" anchor="ctr">
            <a:noAutofit/>
          </a:bodyPr>
          <a:lstStyle/>
          <a:p>
            <a:pPr algn="l">
              <a:lnSpc>
                <a:spcPct val="150000"/>
              </a:lnSpc>
            </a:pPr>
            <a:r>
              <a:rPr sz="1400" b="0">
                <a:solidFill>
                  <a:srgbClr val="4A6154"/>
                </a:solidFill>
                <a:latin typeface="Yu Gothic"/>
                <a:ea typeface="Yu Gothic"/>
                <a:cs typeface="Yu Gothic"/>
              </a:rPr>
              <a:t>坂本ら（2002）表2（p.49）。EC は 44.6%→79.2%、ECg は 27.6%→41.5%。10秒でも十分に出る。だから長く置かないという設計。ただし研究の1煎目は90℃・60秒であり、今回の一煎目（50℃30mL60秒＋約84℃10秒）とは茶葉の状態が異なるため、この追加分がそのまま拓朗（午）に当てはまるわけではない。</a:t>
            </a:r>
          </a:p>
        </p:txBody>
      </p:sp>
      <p:sp>
        <p:nvSpPr>
          <p:cNvPr id="28" name="Rectangle 27"/>
          <p:cNvSpPr/>
          <p:nvPr/>
        </p:nvSpPr>
        <p:spPr>
          <a:xfrm>
            <a:off x="660400" y="5359400"/>
            <a:ext cx="10871200" cy="889000"/>
          </a:xfrm>
          <a:prstGeom prst="rect">
            <a:avLst/>
          </a:prstGeom>
          <a:solidFill>
            <a:srgbClr val="B4442A">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660400" y="5359400"/>
            <a:ext cx="63500" cy="889000"/>
          </a:xfrm>
          <a:prstGeom prst="rect">
            <a:avLst/>
          </a:prstGeom>
          <a:solidFill>
            <a:srgbClr val="B44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50900" y="5473700"/>
            <a:ext cx="10490200" cy="660400"/>
          </a:xfrm>
          <a:prstGeom prst="rect">
            <a:avLst/>
          </a:prstGeom>
          <a:noFill/>
        </p:spPr>
        <p:txBody>
          <a:bodyPr wrap="square" lIns="0" rIns="0" tIns="0" bIns="0" anchor="ctr">
            <a:noAutofit/>
          </a:bodyPr>
          <a:lstStyle/>
          <a:p>
            <a:pPr algn="l">
              <a:lnSpc>
                <a:spcPct val="145000"/>
              </a:lnSpc>
            </a:pPr>
            <a:r>
              <a:rPr sz="1800" b="0">
                <a:solidFill>
                  <a:srgbClr val="17372A"/>
                </a:solidFill>
                <a:latin typeface="Yu Gothic"/>
                <a:ea typeface="Yu Gothic"/>
                <a:cs typeface="Yu Gothic"/>
              </a:rPr>
              <a:t>言い方の境界：「90℃・10秒が拓朗（午）の科学的最適値」とは言わない。「出し切る」も言わない。既存研究の挙動と実飲目的に整合する実践的な基準値として採用した、と説明する。</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3E8"/>
        </a:solidFill>
        <a:effectLst/>
      </p:bgPr>
    </p:bg>
    <p:spTree>
      <p:nvGrpSpPr>
        <p:cNvPr id="1" name=""/>
        <p:cNvGrpSpPr/>
        <p:nvPr/>
      </p:nvGrpSpPr>
      <p:grpSpPr/>
      <p:sp>
        <p:nvSpPr>
          <p:cNvPr id="2" name="Rectangle 1"/>
          <p:cNvSpPr/>
          <p:nvPr/>
        </p:nvSpPr>
        <p:spPr>
          <a:xfrm>
            <a:off x="292100" y="292100"/>
            <a:ext cx="11607800" cy="6184900"/>
          </a:xfrm>
          <a:prstGeom prst="rect">
            <a:avLst/>
          </a:prstGeom>
          <a:noFill/>
          <a:ln w="12700">
            <a:solidFill>
              <a:srgbClr val="CBB5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60400" y="469900"/>
            <a:ext cx="10871200" cy="304800"/>
          </a:xfrm>
          <a:prstGeom prst="rect">
            <a:avLst/>
          </a:prstGeom>
          <a:noFill/>
        </p:spPr>
        <p:txBody>
          <a:bodyPr wrap="square" lIns="0" rIns="0" tIns="0" bIns="0" anchor="ctr">
            <a:noAutofit/>
          </a:bodyPr>
          <a:lstStyle/>
          <a:p>
            <a:pPr algn="l">
              <a:lnSpc>
                <a:spcPct val="100000"/>
              </a:lnSpc>
            </a:pPr>
            <a:r>
              <a:rPr sz="1900" b="1" spc="836">
                <a:solidFill>
                  <a:srgbClr val="9A7430"/>
                </a:solidFill>
                <a:latin typeface="Yu Gothic"/>
                <a:ea typeface="Yu Gothic"/>
                <a:cs typeface="Yu Gothic"/>
              </a:rPr>
              <a:t>Q&amp;A 04</a:t>
            </a:r>
          </a:p>
        </p:txBody>
      </p:sp>
      <p:sp>
        <p:nvSpPr>
          <p:cNvPr id="4" name="TextBox 3"/>
          <p:cNvSpPr txBox="1"/>
          <p:nvPr/>
        </p:nvSpPr>
        <p:spPr>
          <a:xfrm>
            <a:off x="660400" y="914400"/>
            <a:ext cx="10871200" cy="563880"/>
          </a:xfrm>
          <a:prstGeom prst="rect">
            <a:avLst/>
          </a:prstGeom>
          <a:noFill/>
        </p:spPr>
        <p:txBody>
          <a:bodyPr wrap="square" lIns="0" rIns="0" tIns="0" bIns="0" anchor="ctr">
            <a:noAutofit/>
          </a:bodyPr>
          <a:lstStyle/>
          <a:p>
            <a:pPr algn="l">
              <a:lnSpc>
                <a:spcPct val="120000"/>
              </a:lnSpc>
            </a:pPr>
            <a:r>
              <a:rPr sz="3700" b="1">
                <a:solidFill>
                  <a:srgbClr val="17372A"/>
                </a:solidFill>
                <a:latin typeface="Yu Gothic"/>
                <a:ea typeface="Yu Gothic"/>
                <a:cs typeface="Yu Gothic"/>
              </a:rPr>
              <a:t>川根本町と鹿児島を、淹れ分けているのか。</a:t>
            </a:r>
          </a:p>
        </p:txBody>
      </p:sp>
      <p:sp>
        <p:nvSpPr>
          <p:cNvPr id="5" name="Rectangle 4"/>
          <p:cNvSpPr/>
          <p:nvPr/>
        </p:nvSpPr>
        <p:spPr>
          <a:xfrm>
            <a:off x="660400" y="1617980"/>
            <a:ext cx="1270000" cy="25400"/>
          </a:xfrm>
          <a:prstGeom prst="rect">
            <a:avLst/>
          </a:prstGeom>
          <a:solidFill>
            <a:srgbClr val="9A7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930400" y="1617980"/>
            <a:ext cx="9601200" cy="25400"/>
          </a:xfrm>
          <a:prstGeom prst="rect">
            <a:avLst/>
          </a:prstGeom>
          <a:solidFill>
            <a:srgbClr val="8A9A90">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60400" y="2235200"/>
            <a:ext cx="5308600" cy="2540000"/>
          </a:xfrm>
          <a:prstGeom prst="rect">
            <a:avLst/>
          </a:prstGeom>
          <a:solidFill>
            <a:srgbClr val="B4442A">
              <a:alpha val="6000"/>
            </a:srgbClr>
          </a:solidFill>
          <a:ln w="38100">
            <a:solidFill>
              <a:srgbClr val="B444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60400" y="2489200"/>
            <a:ext cx="5308600" cy="571500"/>
          </a:xfrm>
          <a:prstGeom prst="rect">
            <a:avLst/>
          </a:prstGeom>
          <a:noFill/>
        </p:spPr>
        <p:txBody>
          <a:bodyPr wrap="square" lIns="0" rIns="0" tIns="0" bIns="0" anchor="ctr">
            <a:noAutofit/>
          </a:bodyPr>
          <a:lstStyle/>
          <a:p>
            <a:pPr algn="ctr">
              <a:lnSpc>
                <a:spcPct val="100000"/>
              </a:lnSpc>
            </a:pPr>
            <a:r>
              <a:rPr sz="4500" b="1">
                <a:solidFill>
                  <a:srgbClr val="B4442A"/>
                </a:solidFill>
                <a:latin typeface="Yu Gothic"/>
                <a:ea typeface="Yu Gothic"/>
                <a:cs typeface="Yu Gothic"/>
              </a:rPr>
              <a:t>✕</a:t>
            </a:r>
          </a:p>
        </p:txBody>
      </p:sp>
      <p:sp>
        <p:nvSpPr>
          <p:cNvPr id="9" name="TextBox 8"/>
          <p:cNvSpPr txBox="1"/>
          <p:nvPr/>
        </p:nvSpPr>
        <p:spPr>
          <a:xfrm>
            <a:off x="850900" y="3175000"/>
            <a:ext cx="4927600" cy="889000"/>
          </a:xfrm>
          <a:prstGeom prst="rect">
            <a:avLst/>
          </a:prstGeom>
          <a:noFill/>
        </p:spPr>
        <p:txBody>
          <a:bodyPr wrap="square" lIns="0" rIns="0" tIns="0" bIns="0" anchor="ctr">
            <a:noAutofit/>
          </a:bodyPr>
          <a:lstStyle/>
          <a:p>
            <a:pPr algn="ctr">
              <a:lnSpc>
                <a:spcPct val="135000"/>
              </a:lnSpc>
            </a:pPr>
            <a:r>
              <a:rPr sz="2600" b="1">
                <a:solidFill>
                  <a:srgbClr val="17372A"/>
                </a:solidFill>
                <a:latin typeface="Yu Gothic"/>
                <a:ea typeface="Yu Gothic"/>
                <a:cs typeface="Yu Gothic"/>
              </a:rPr>
              <a:t>産地ごとの成分を</a:t>
            </a:r>
          </a:p>
          <a:p>
            <a:pPr algn="ctr">
              <a:lnSpc>
                <a:spcPct val="135000"/>
              </a:lnSpc>
            </a:pPr>
            <a:r>
              <a:rPr sz="2600" b="1">
                <a:solidFill>
                  <a:srgbClr val="17372A"/>
                </a:solidFill>
                <a:latin typeface="Yu Gothic"/>
                <a:ea typeface="Yu Gothic"/>
                <a:cs typeface="Yu Gothic"/>
              </a:rPr>
              <a:t>分けて抽出している</a:t>
            </a:r>
          </a:p>
        </p:txBody>
      </p:sp>
      <p:sp>
        <p:nvSpPr>
          <p:cNvPr id="10" name="TextBox 9"/>
          <p:cNvSpPr txBox="1"/>
          <p:nvPr/>
        </p:nvSpPr>
        <p:spPr>
          <a:xfrm>
            <a:off x="850900" y="4203700"/>
            <a:ext cx="4927600" cy="330200"/>
          </a:xfrm>
          <a:prstGeom prst="rect">
            <a:avLst/>
          </a:prstGeom>
          <a:noFill/>
        </p:spPr>
        <p:txBody>
          <a:bodyPr wrap="square" lIns="0" rIns="0" tIns="0" bIns="0" anchor="ctr">
            <a:noAutofit/>
          </a:bodyPr>
          <a:lstStyle/>
          <a:p>
            <a:pPr algn="ctr">
              <a:lnSpc>
                <a:spcPct val="120000"/>
              </a:lnSpc>
            </a:pPr>
            <a:r>
              <a:rPr sz="1700" b="1">
                <a:solidFill>
                  <a:srgbClr val="4A6154"/>
                </a:solidFill>
                <a:latin typeface="Yu Gothic"/>
                <a:ea typeface="Yu Gothic"/>
                <a:cs typeface="Yu Gothic"/>
              </a:rPr>
              <a:t>そのような証拠はありません</a:t>
            </a:r>
          </a:p>
        </p:txBody>
      </p:sp>
      <p:sp>
        <p:nvSpPr>
          <p:cNvPr id="11" name="Rectangle 10"/>
          <p:cNvSpPr/>
          <p:nvPr/>
        </p:nvSpPr>
        <p:spPr>
          <a:xfrm>
            <a:off x="6223000" y="2235200"/>
            <a:ext cx="5308600" cy="2540000"/>
          </a:xfrm>
          <a:prstGeom prst="rect">
            <a:avLst/>
          </a:prstGeom>
          <a:solidFill>
            <a:srgbClr val="FFFFFF"/>
          </a:solidFill>
          <a:ln w="38100">
            <a:solidFill>
              <a:srgbClr val="1737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223000" y="2489200"/>
            <a:ext cx="5308600" cy="571500"/>
          </a:xfrm>
          <a:prstGeom prst="rect">
            <a:avLst/>
          </a:prstGeom>
          <a:noFill/>
        </p:spPr>
        <p:txBody>
          <a:bodyPr wrap="square" lIns="0" rIns="0" tIns="0" bIns="0" anchor="ctr">
            <a:noAutofit/>
          </a:bodyPr>
          <a:lstStyle/>
          <a:p>
            <a:pPr algn="ctr">
              <a:lnSpc>
                <a:spcPct val="100000"/>
              </a:lnSpc>
            </a:pPr>
            <a:r>
              <a:rPr sz="4500" b="1">
                <a:solidFill>
                  <a:srgbClr val="17372A"/>
                </a:solidFill>
                <a:latin typeface="Yu Gothic"/>
                <a:ea typeface="Yu Gothic"/>
                <a:cs typeface="Yu Gothic"/>
              </a:rPr>
              <a:t>〇</a:t>
            </a:r>
          </a:p>
        </p:txBody>
      </p:sp>
      <p:sp>
        <p:nvSpPr>
          <p:cNvPr id="13" name="TextBox 12"/>
          <p:cNvSpPr txBox="1"/>
          <p:nvPr/>
        </p:nvSpPr>
        <p:spPr>
          <a:xfrm>
            <a:off x="6413500" y="3175000"/>
            <a:ext cx="4927600" cy="889000"/>
          </a:xfrm>
          <a:prstGeom prst="rect">
            <a:avLst/>
          </a:prstGeom>
          <a:noFill/>
        </p:spPr>
        <p:txBody>
          <a:bodyPr wrap="square" lIns="0" rIns="0" tIns="0" bIns="0" anchor="ctr">
            <a:noAutofit/>
          </a:bodyPr>
          <a:lstStyle/>
          <a:p>
            <a:pPr algn="ctr">
              <a:lnSpc>
                <a:spcPct val="135000"/>
              </a:lnSpc>
            </a:pPr>
            <a:r>
              <a:rPr sz="2600" b="1">
                <a:solidFill>
                  <a:srgbClr val="17372A"/>
                </a:solidFill>
                <a:latin typeface="Yu Gothic"/>
                <a:ea typeface="Yu Gothic"/>
                <a:cs typeface="Yu Gothic"/>
              </a:rPr>
              <a:t>茶師が一つにまとめた茶から</a:t>
            </a:r>
          </a:p>
          <a:p>
            <a:pPr algn="ctr">
              <a:lnSpc>
                <a:spcPct val="135000"/>
              </a:lnSpc>
            </a:pPr>
            <a:r>
              <a:rPr sz="2600" b="1">
                <a:solidFill>
                  <a:srgbClr val="17372A"/>
                </a:solidFill>
                <a:latin typeface="Yu Gothic"/>
                <a:ea typeface="Yu Gothic"/>
                <a:cs typeface="Yu Gothic"/>
              </a:rPr>
              <a:t>異なる側面を表現している</a:t>
            </a:r>
          </a:p>
        </p:txBody>
      </p:sp>
      <p:sp>
        <p:nvSpPr>
          <p:cNvPr id="14" name="TextBox 13"/>
          <p:cNvSpPr txBox="1"/>
          <p:nvPr/>
        </p:nvSpPr>
        <p:spPr>
          <a:xfrm>
            <a:off x="6413500" y="4203700"/>
            <a:ext cx="4927600" cy="330200"/>
          </a:xfrm>
          <a:prstGeom prst="rect">
            <a:avLst/>
          </a:prstGeom>
          <a:noFill/>
        </p:spPr>
        <p:txBody>
          <a:bodyPr wrap="square" lIns="0" rIns="0" tIns="0" bIns="0" anchor="ctr">
            <a:noAutofit/>
          </a:bodyPr>
          <a:lstStyle/>
          <a:p>
            <a:pPr algn="ctr">
              <a:lnSpc>
                <a:spcPct val="120000"/>
              </a:lnSpc>
            </a:pPr>
            <a:r>
              <a:rPr sz="1700" b="1">
                <a:solidFill>
                  <a:srgbClr val="4A6154"/>
                </a:solidFill>
                <a:latin typeface="Yu Gothic"/>
                <a:ea typeface="Yu Gothic"/>
                <a:cs typeface="Yu Gothic"/>
              </a:rPr>
              <a:t>今回行っているのはこちら</a:t>
            </a:r>
          </a:p>
        </p:txBody>
      </p:sp>
      <p:sp>
        <p:nvSpPr>
          <p:cNvPr id="15" name="Rectangle 14"/>
          <p:cNvSpPr/>
          <p:nvPr/>
        </p:nvSpPr>
        <p:spPr>
          <a:xfrm>
            <a:off x="660400" y="5029200"/>
            <a:ext cx="10871200" cy="1219200"/>
          </a:xfrm>
          <a:prstGeom prst="rect">
            <a:avLst/>
          </a:prstGeom>
          <a:solidFill>
            <a:srgbClr val="B4442A">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60400" y="5029200"/>
            <a:ext cx="63500" cy="1219200"/>
          </a:xfrm>
          <a:prstGeom prst="rect">
            <a:avLst/>
          </a:prstGeom>
          <a:solidFill>
            <a:srgbClr val="B44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50900" y="5143500"/>
            <a:ext cx="10490200" cy="990600"/>
          </a:xfrm>
          <a:prstGeom prst="rect">
            <a:avLst/>
          </a:prstGeom>
          <a:noFill/>
        </p:spPr>
        <p:txBody>
          <a:bodyPr wrap="square" lIns="0" rIns="0" tIns="0" bIns="0" anchor="ctr">
            <a:noAutofit/>
          </a:bodyPr>
          <a:lstStyle/>
          <a:p>
            <a:pPr algn="l">
              <a:lnSpc>
                <a:spcPct val="145000"/>
              </a:lnSpc>
            </a:pPr>
            <a:r>
              <a:rPr sz="1800" b="0">
                <a:solidFill>
                  <a:srgbClr val="17372A"/>
                </a:solidFill>
                <a:latin typeface="Yu Gothic"/>
                <a:ea typeface="Yu Gothic"/>
                <a:cs typeface="Yu Gothic"/>
              </a:rPr>
              <a:t>区別する三層：① 文献で確認された事実　② 文献を土台にした今回の設計判断　③ 拓朗（午）での実飲・官能評価。「瓜のような瑞々しい香り」も香気分析はしておらず、あくまで「私はそう感じている」という官能表現。</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3E8"/>
        </a:solidFill>
        <a:effectLst/>
      </p:bgPr>
    </p:bg>
    <p:spTree>
      <p:nvGrpSpPr>
        <p:cNvPr id="1" name=""/>
        <p:cNvGrpSpPr/>
        <p:nvPr/>
      </p:nvGrpSpPr>
      <p:grpSpPr/>
      <p:sp>
        <p:nvSpPr>
          <p:cNvPr id="2" name="Rectangle 1"/>
          <p:cNvSpPr/>
          <p:nvPr/>
        </p:nvSpPr>
        <p:spPr>
          <a:xfrm>
            <a:off x="292100" y="292100"/>
            <a:ext cx="11607800" cy="6184900"/>
          </a:xfrm>
          <a:prstGeom prst="rect">
            <a:avLst/>
          </a:prstGeom>
          <a:noFill/>
          <a:ln w="12700">
            <a:solidFill>
              <a:srgbClr val="CBB5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60400" y="469900"/>
            <a:ext cx="10871200" cy="304800"/>
          </a:xfrm>
          <a:prstGeom prst="rect">
            <a:avLst/>
          </a:prstGeom>
          <a:noFill/>
        </p:spPr>
        <p:txBody>
          <a:bodyPr wrap="square" lIns="0" rIns="0" tIns="0" bIns="0" anchor="ctr">
            <a:noAutofit/>
          </a:bodyPr>
          <a:lstStyle/>
          <a:p>
            <a:pPr algn="l">
              <a:lnSpc>
                <a:spcPct val="100000"/>
              </a:lnSpc>
            </a:pPr>
            <a:r>
              <a:rPr sz="1900" b="1" spc="836">
                <a:solidFill>
                  <a:srgbClr val="9A7430"/>
                </a:solidFill>
                <a:latin typeface="Yu Gothic"/>
                <a:ea typeface="Yu Gothic"/>
                <a:cs typeface="Yu Gothic"/>
              </a:rPr>
              <a:t>REFERENCES</a:t>
            </a:r>
          </a:p>
        </p:txBody>
      </p:sp>
      <p:sp>
        <p:nvSpPr>
          <p:cNvPr id="4" name="TextBox 3"/>
          <p:cNvSpPr txBox="1"/>
          <p:nvPr/>
        </p:nvSpPr>
        <p:spPr>
          <a:xfrm>
            <a:off x="660400" y="914400"/>
            <a:ext cx="10871200" cy="670560"/>
          </a:xfrm>
          <a:prstGeom prst="rect">
            <a:avLst/>
          </a:prstGeom>
          <a:noFill/>
        </p:spPr>
        <p:txBody>
          <a:bodyPr wrap="square" lIns="0" rIns="0" tIns="0" bIns="0" anchor="ctr">
            <a:noAutofit/>
          </a:bodyPr>
          <a:lstStyle/>
          <a:p>
            <a:pPr algn="l">
              <a:lnSpc>
                <a:spcPct val="120000"/>
              </a:lnSpc>
            </a:pPr>
            <a:r>
              <a:rPr sz="4400" b="1">
                <a:solidFill>
                  <a:srgbClr val="17372A"/>
                </a:solidFill>
                <a:latin typeface="Yu Gothic"/>
                <a:ea typeface="Yu Gothic"/>
                <a:cs typeface="Yu Gothic"/>
              </a:rPr>
              <a:t>主要参考文献</a:t>
            </a:r>
          </a:p>
        </p:txBody>
      </p:sp>
      <p:sp>
        <p:nvSpPr>
          <p:cNvPr id="5" name="Rectangle 4"/>
          <p:cNvSpPr/>
          <p:nvPr/>
        </p:nvSpPr>
        <p:spPr>
          <a:xfrm>
            <a:off x="660400" y="1724660"/>
            <a:ext cx="1270000" cy="25400"/>
          </a:xfrm>
          <a:prstGeom prst="rect">
            <a:avLst/>
          </a:prstGeom>
          <a:solidFill>
            <a:srgbClr val="9A7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930400" y="1724660"/>
            <a:ext cx="9601200" cy="25400"/>
          </a:xfrm>
          <a:prstGeom prst="rect">
            <a:avLst/>
          </a:prstGeom>
          <a:solidFill>
            <a:srgbClr val="8A9A90">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39800" y="2006600"/>
            <a:ext cx="10591800" cy="2984500"/>
          </a:xfrm>
          <a:prstGeom prst="rect">
            <a:avLst/>
          </a:prstGeom>
          <a:noFill/>
        </p:spPr>
        <p:txBody>
          <a:bodyPr wrap="square" lIns="0" rIns="0" tIns="0" bIns="0" anchor="ctr">
            <a:noAutofit/>
          </a:bodyPr>
          <a:lstStyle/>
          <a:p>
            <a:pPr algn="l">
              <a:lnSpc>
                <a:spcPct val="162000"/>
              </a:lnSpc>
            </a:pPr>
            <a:r>
              <a:rPr sz="1400" b="0">
                <a:solidFill>
                  <a:srgbClr val="17372A"/>
                </a:solidFill>
                <a:latin typeface="Yu Gothic"/>
                <a:ea typeface="Yu Gothic"/>
                <a:cs typeface="Yu Gothic"/>
              </a:rPr>
              <a:t>・坂本 彬・中川 致之・杉山 弘成・堀江 秀樹（2002）「煎茶の1煎, 2煎, 3煎液の成分組成に基づく溶出特性」茶業研究報告 94:45-55. DOI: 10.5979/cha.2002.94_45</a:t>
            </a:r>
          </a:p>
          <a:p>
            <a:pPr algn="l">
              <a:lnSpc>
                <a:spcPct val="162000"/>
              </a:lnSpc>
            </a:pPr>
            <a:r>
              <a:rPr sz="1400" b="0">
                <a:solidFill>
                  <a:srgbClr val="17372A"/>
                </a:solidFill>
                <a:latin typeface="Yu Gothic"/>
                <a:ea typeface="Yu Gothic"/>
                <a:cs typeface="Yu Gothic"/>
              </a:rPr>
              <a:t>・堀江 秀樹・氏原 ともみ・木幡 勝則（2001）「茶主要成分の茶浸出液への溶出特性」茶業研究報告 91:29-33. DOI: 10.5979/cha.2001.91_29</a:t>
            </a:r>
          </a:p>
          <a:p>
            <a:pPr algn="l">
              <a:lnSpc>
                <a:spcPct val="162000"/>
              </a:lnSpc>
            </a:pPr>
            <a:r>
              <a:rPr sz="1400" b="0">
                <a:solidFill>
                  <a:srgbClr val="17372A"/>
                </a:solidFill>
                <a:latin typeface="Yu Gothic"/>
                <a:ea typeface="Yu Gothic"/>
                <a:cs typeface="Yu Gothic"/>
              </a:rPr>
              <a:t>・池田 重美・中川 致之・岩浅 潔（1972）「煎茶の浸出条件と可溶成分との関係」茶業研究報告 37:69-78. DOI: 10.5979/cha.1972.69</a:t>
            </a:r>
          </a:p>
          <a:p>
            <a:pPr algn="l">
              <a:lnSpc>
                <a:spcPct val="162000"/>
              </a:lnSpc>
            </a:pPr>
            <a:r>
              <a:rPr sz="1400" b="0">
                <a:solidFill>
                  <a:srgbClr val="17372A"/>
                </a:solidFill>
                <a:latin typeface="Yu Gothic"/>
                <a:ea typeface="Yu Gothic"/>
                <a:cs typeface="Yu Gothic"/>
              </a:rPr>
              <a:t>・久保 智子・藤原 孝之・冨澤 代志子（2014）「異なる条件で浸出した緑茶の渋味およびうま味の味覚センサーによる評価」日本食品科学工学会誌 61(5):192-198. DOI: 10.3136/nskkk.61.192</a:t>
            </a:r>
          </a:p>
          <a:p>
            <a:pPr algn="l">
              <a:lnSpc>
                <a:spcPct val="162000"/>
              </a:lnSpc>
            </a:pPr>
            <a:r>
              <a:rPr sz="1400" b="0">
                <a:solidFill>
                  <a:srgbClr val="17372A"/>
                </a:solidFill>
                <a:latin typeface="Yu Gothic"/>
                <a:ea typeface="Yu Gothic"/>
                <a:cs typeface="Yu Gothic"/>
              </a:rPr>
              <a:t>・野村 幸子ほか（2023）「‘やぶきた’二番茶の煎茶および釜炒り茶の冷水浸出液における化学成分の違い」茶業研究報告 135:19-28</a:t>
            </a:r>
          </a:p>
        </p:txBody>
      </p:sp>
      <p:sp>
        <p:nvSpPr>
          <p:cNvPr id="8" name="TextBox 7"/>
          <p:cNvSpPr txBox="1"/>
          <p:nvPr/>
        </p:nvSpPr>
        <p:spPr>
          <a:xfrm>
            <a:off x="660400" y="5080000"/>
            <a:ext cx="10871200" cy="1206500"/>
          </a:xfrm>
          <a:prstGeom prst="rect">
            <a:avLst/>
          </a:prstGeom>
          <a:noFill/>
        </p:spPr>
        <p:txBody>
          <a:bodyPr wrap="square" lIns="0" rIns="0" tIns="0" bIns="0" anchor="ctr">
            <a:noAutofit/>
          </a:bodyPr>
          <a:lstStyle/>
          <a:p>
            <a:pPr algn="l">
              <a:lnSpc>
                <a:spcPct val="150000"/>
              </a:lnSpc>
            </a:pPr>
            <a:r>
              <a:rPr sz="1450" b="0">
                <a:solidFill>
                  <a:srgbClr val="4A6154"/>
                </a:solidFill>
                <a:latin typeface="Yu Gothic"/>
                <a:ea typeface="Yu Gothic"/>
                <a:cs typeface="Yu Gothic"/>
              </a:rPr>
              <a:t>いずれも拓朗（午）を試料とした研究ではありません。原理の理解に用い、具体的な条件は実飲によって決定しています。</a:t>
            </a:r>
          </a:p>
          <a:p>
            <a:pPr algn="l">
              <a:lnSpc>
                <a:spcPct val="150000"/>
              </a:lnSpc>
            </a:pPr>
            <a:r>
              <a:rPr sz="1450" b="0">
                <a:solidFill>
                  <a:srgbClr val="4A6154"/>
                </a:solidFill>
                <a:latin typeface="Yu Gothic"/>
                <a:ea typeface="Yu Gothic"/>
                <a:cs typeface="Yu Gothic"/>
              </a:rPr>
              <a:t>坂本ら（2002）は J-STAGE で全文（PDF）を確認し、本資料の数値は表2（カテキン類・カフェイン）および表3（遊離アミノ酸）p.49 から直接引用しています。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